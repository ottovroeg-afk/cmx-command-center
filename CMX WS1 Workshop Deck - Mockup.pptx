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A1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CMX Foundations Workshop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EF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Design &amp; Governance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6E"/>
                </a:solidFill>
              </a:rPr>
              <a:t>Nextera Energy — Global Modernization &amp; Transformation Program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286000" cy="36576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E6E"/>
                </a:solidFill>
              </a:rPr>
              <a:t>February 2026  |  Pre-populated with stakeholder intelligence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188720"/>
            <a:ext cx="109728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7320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015"/>
                </a:solidFill>
              </a:rPr>
              <a:t>Confidential — AKT Global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Intelligence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</a:rPr>
              <a:t>Pre-workshop analysis of 12 respondents across 33 questions — computed before today's session.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54864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7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Overall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Readiness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965960" cy="54864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54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Avg Decision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Consensus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965960" cy="54864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3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Risk Signals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Identified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371600"/>
            <a:ext cx="1965960" cy="54864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54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Open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7E6E"/>
                </a:solidFill>
              </a:rPr>
              <a:t>Extracted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Respondent Distribution by 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Executive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3538728"/>
            <a:ext cx="146304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520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13A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8496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Operational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37360" y="3867912"/>
            <a:ext cx="2926080" cy="201168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B5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Technical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4197096"/>
            <a:ext cx="2194560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30" name="Text 28"/>
          <p:cNvSpPr/>
          <p:nvPr/>
        </p:nvSpPr>
        <p:spPr>
          <a:xfrm>
            <a:off x="406908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462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507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Regional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37360" y="4526280"/>
            <a:ext cx="2194560" cy="20116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3" name="Text 31"/>
          <p:cNvSpPr/>
          <p:nvPr/>
        </p:nvSpPr>
        <p:spPr>
          <a:xfrm>
            <a:off x="4069080" y="4507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A0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108960"/>
            <a:ext cx="3840480" cy="1554480"/>
          </a:xfrm>
          <a:prstGeom prst="rect">
            <a:avLst/>
          </a:prstGeom>
          <a:solidFill>
            <a:srgbClr val="FEF0D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13A"/>
                </a:solidFill>
              </a:rPr>
              <a:t>Key Pre-Session Insight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Executive and Regional stakeholders diverge significantly on governance model (Decision 5) — only 55% alignment. This will require dedicated facilitation time. Technical team shows strong consensus on data ownership (Decision 8) at 89%.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Pre-Workshop Risk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</a:rPr>
              <a:t>Risks automatically identified from survey responses. Severity based on AKT's 6-category CMX risk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77724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08760"/>
            <a:ext cx="548640" cy="20116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858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5087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028"/>
                </a:solidFill>
              </a:rPr>
              <a:t>Fatigue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0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Survey fatigue concern elevated (avg 3.8/5)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Respondents flag existing survey load from Glint + annual engagement. Guardrails critical.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1444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A13A"/>
                </a:solidFill>
              </a:rPr>
              <a:t>Decision 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1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40280"/>
            <a:ext cx="73152" cy="77724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77440"/>
            <a:ext cx="548640" cy="201168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71600" y="2377440"/>
            <a:ext cx="6858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3774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028"/>
                </a:solidFill>
              </a:rPr>
              <a:t>Data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286000" y="2313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Data quality concern above threshold (avg 3.7/5)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HRIS extract mechanism undefined. Workday integration timeline unclear. Field worker contacts incomplete.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2313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A13A"/>
                </a:solidFill>
              </a:rPr>
              <a:t>Decision 8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7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246120"/>
            <a:ext cx="548640" cy="201168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371600" y="3246120"/>
            <a:ext cx="6858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028"/>
                </a:solidFill>
              </a:rPr>
              <a:t>Alignment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860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Executive–Regional divergence on governance (55%)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Executives prefer centralized; Regional leads want autonomy. Hub &amp; Spoke model needs clear boundaries.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A13A"/>
                </a:solidFill>
              </a:rPr>
              <a:t>Decision 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7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114800"/>
            <a:ext cx="548640" cy="201168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114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0" y="4114800"/>
            <a:ext cx="685800" cy="201168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41148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3028"/>
                </a:solidFill>
              </a:rPr>
              <a:t>Capacity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286000" y="4050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015"/>
                </a:solidFill>
              </a:rPr>
              <a:t>Regional capacity constraints (avg 2.8/5)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Field operations in FPL territory stretched thin. Manager bandwidth for CMX participation uncertain.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0" y="4050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A13A"/>
                </a:solidFill>
              </a:rPr>
              <a:t>Decision 4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2015"/>
                </a:solidFill>
              </a:rPr>
              <a:t>Facilitator note: Allocate extra time to Decisions 5 and 6 — these have the highest divergence and concern levels. Consider warm-up exercise for D5.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Pre-Workshop Wins &amp; Strong Alignment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6E"/>
                </a:solidFill>
              </a:rPr>
              <a:t>Decisions where stakeholders already align. These can be confirmed quickly, freeing time for contentious topics.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5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777240" cy="548640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727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8540"/>
                </a:solidFill>
              </a:rPr>
              <a:t>consensus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3736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Decision 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Ownership &amp; Quality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Strong technical consensus on Workday HRIS integration and 24-month retention policy. Technical team highly aligned.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914400" cy="22860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Knowledge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5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73152" cy="96012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651760"/>
            <a:ext cx="777240" cy="548640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700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8540"/>
                </a:solidFill>
              </a:rPr>
              <a:t>consensus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3736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Decision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373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 Survey Process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3035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9-stage lifecycle (Intake→Close) widely understood. Operational team drives clarity here. Minor variation on approval routing.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2606040"/>
            <a:ext cx="914400" cy="22860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Ability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5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66160"/>
            <a:ext cx="73152" cy="960120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749040"/>
            <a:ext cx="777240" cy="548640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673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4069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8540"/>
                </a:solidFill>
              </a:rPr>
              <a:t>consensus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737360" y="3657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Decision 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Responsibilities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37360" y="4133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6E"/>
                </a:solidFill>
              </a:rPr>
              <a:t>RACI structure clear in principle. Hub &amp; Spoke model accepted. Some nuance needed on regional escalation authority.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3703320"/>
            <a:ext cx="914400" cy="228600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Awareness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8F5E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8540"/>
                </a:solidFill>
              </a:rPr>
              <a:t>Strategy: Confirm these 3 decisions in the first 20 minutes. This builds momentum and frees 45+ minutes for Decisions 4, 5, and 6 where real debate is needed.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74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13A"/>
                </a:solidFill>
              </a:rPr>
              <a:t>Decision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1371600" cy="502920"/>
          </a:xfrm>
          <a:prstGeom prst="rect">
            <a:avLst/>
          </a:prstGeom>
          <a:solidFill>
            <a:srgbClr val="FFF4E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292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7600"/>
                </a:solidFill>
              </a:rPr>
              <a:t>62% Consensus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502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07600"/>
                </a:solidFill>
              </a:rPr>
              <a:t>Needs Discussion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669280" y="338328"/>
            <a:ext cx="777240" cy="201168"/>
          </a:xfrm>
          <a:prstGeom prst="rect">
            <a:avLst/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338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73B5"/>
                </a:solidFill>
              </a:rPr>
              <a:t>Awareness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537960" y="338328"/>
            <a:ext cx="594360" cy="201168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38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462"/>
                </a:solidFill>
              </a:rPr>
              <a:t>Desire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Response Distribution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Hybrid (Hub &amp; Spoke)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18488"/>
            <a:ext cx="2926080" cy="13716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572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50%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Centralized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029968"/>
            <a:ext cx="1920240" cy="13716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1984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3B5"/>
                </a:solidFill>
              </a:rPr>
              <a:t>33%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Decentralized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41448"/>
            <a:ext cx="1005840" cy="137160"/>
          </a:xfrm>
          <a:prstGeom prst="rect">
            <a:avLst/>
          </a:prstGeom>
          <a:solidFill>
            <a:srgbClr val="8A7E6E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7E6E"/>
                </a:solidFill>
              </a:rPr>
              <a:t>17%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4114800" cy="6858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788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Majority Position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8"/>
                </a:solidFill>
              </a:rPr>
              <a:t>Hybrid governance model: Central team designs frameworks and guardrails; regional teams execute within defined autonomy boundaries.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Role Divergence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417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Executive ↔ Regional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49440" y="1435608"/>
            <a:ext cx="1371600" cy="146304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0" y="1435608"/>
            <a:ext cx="754380" cy="146304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1399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3E1D"/>
                </a:solidFill>
              </a:rPr>
              <a:t>55%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1764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Executive ↔ Operational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3080"/>
            <a:ext cx="1371600" cy="146304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1783080"/>
            <a:ext cx="987552" cy="146304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17465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7600"/>
                </a:solidFill>
              </a:rPr>
              <a:t>72%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112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Operational ↔ Regional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49440" y="2130552"/>
            <a:ext cx="1371600" cy="146304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9440" y="2130552"/>
            <a:ext cx="932688" cy="146304"/>
          </a:xfrm>
          <a:prstGeom prst="rect">
            <a:avLst/>
          </a:prstGeom>
          <a:solidFill>
            <a:srgbClr val="C07600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2093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7600"/>
                </a:solidFill>
              </a:rPr>
              <a:t>68%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2459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Technical ↔ Executive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9440" y="2478024"/>
            <a:ext cx="1371600" cy="146304"/>
          </a:xfrm>
          <a:prstGeom prst="rect">
            <a:avLst/>
          </a:prstGeom>
          <a:solidFill>
            <a:srgbClr val="E0D8CE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440" y="2478024"/>
            <a:ext cx="1069848" cy="146304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2441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540"/>
                </a:solidFill>
              </a:rPr>
              <a:t>78%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4632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015"/>
                </a:solidFill>
              </a:rPr>
              <a:t>Key Stakeholder Input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063240"/>
            <a:ext cx="3840480" cy="59436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45" name="Shape 43"/>
          <p:cNvSpPr/>
          <p:nvPr/>
        </p:nvSpPr>
        <p:spPr>
          <a:xfrm>
            <a:off x="4846320" y="3063240"/>
            <a:ext cx="36576" cy="59436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8"/>
                </a:solidFill>
              </a:rPr>
              <a:t>"We need global standards, but regions must own execution. Don't create a bottleneck."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0" y="34472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E6E"/>
                </a:solidFill>
              </a:rPr>
              <a:t>Patricia Chen (Executive)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46320" y="3749040"/>
            <a:ext cx="3840480" cy="59436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3749040"/>
            <a:ext cx="36576" cy="59436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028"/>
                </a:solidFill>
              </a:rPr>
              <a:t>"FPL territory has unique regulatory constraints. One-size-fits-all governance won't work here."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41330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E6E"/>
                </a:solidFill>
              </a:rPr>
              <a:t>Carlos Vega (Regional)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solidFill>
            <a:srgbClr val="FCE8E4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4988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3E1D"/>
                </a:solidFill>
              </a:rPr>
              <a:t>Risk: Alignment — Executive–Regional divergence at 55%. Facilitator action: Use RACI matrix exercise to surface assumptions before voting.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0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Per-Stakeholder Intelligence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6E"/>
                </a:solidFill>
              </a:rPr>
              <a:t>Key respondents and their positions — prepared for facilitator reference during session.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2D20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Stakeholder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10312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01752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Department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66344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 Concern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223760" y="1298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Alignment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Watch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Patricia Chen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1719072"/>
            <a:ext cx="822960" cy="18288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719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Executive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01752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CTO Office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Scope creep into culture surveys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540"/>
                </a:solidFill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Michael Rothstein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2103120"/>
            <a:ext cx="822960" cy="182880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Executive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01752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Employee Experience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ROI visibility for leadership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540"/>
                </a:solidFill>
              </a:rPr>
              <a:t>High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4140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Sarah Kim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2487168"/>
            <a:ext cx="822960" cy="18288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2487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Operational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1752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HR Operations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2441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Survey fatigue among field staff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2441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7600"/>
                </a:solidFill>
              </a:rPr>
              <a:t>Med</a:t>
            </a:r>
            <a:endParaRPr lang="en-US" sz="9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468880"/>
            <a:ext cx="182880" cy="18288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7200" y="2798064"/>
            <a:ext cx="8229600" cy="347472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2825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David Hartley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103120" y="2871216"/>
            <a:ext cx="822960" cy="182880"/>
          </a:xfrm>
          <a:prstGeom prst="rect">
            <a:avLst/>
          </a:prstGeom>
          <a:solidFill>
            <a:srgbClr val="1A73B5"/>
          </a:solidFill>
          <a:ln/>
        </p:spPr>
      </p:sp>
      <p:sp>
        <p:nvSpPr>
          <p:cNvPr id="37" name="Text 34"/>
          <p:cNvSpPr/>
          <p:nvPr/>
        </p:nvSpPr>
        <p:spPr>
          <a:xfrm>
            <a:off x="2103120" y="2871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Operational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3017520" y="2825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Change Management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63440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Capacity constraints in peak season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223760" y="28254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7600"/>
                </a:solidFill>
              </a:rPr>
              <a:t>Med</a:t>
            </a:r>
            <a:endParaRPr lang="en-US" sz="9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852928"/>
            <a:ext cx="182880" cy="182880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9"/>
          <p:cNvSpPr/>
          <p:nvPr/>
        </p:nvSpPr>
        <p:spPr>
          <a:xfrm>
            <a:off x="45720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Lisa Okafor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2103120" y="3255264"/>
            <a:ext cx="822960" cy="182880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45" name="Text 41"/>
          <p:cNvSpPr/>
          <p:nvPr/>
        </p:nvSpPr>
        <p:spPr>
          <a:xfrm>
            <a:off x="2103120" y="3255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Technical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3017520" y="3209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IT/HRIS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663440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Workday extract mechanism undefined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7223760" y="32095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540"/>
                </a:solidFill>
              </a:rPr>
              <a:t>High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50" name="Text 46"/>
          <p:cNvSpPr/>
          <p:nvPr/>
        </p:nvSpPr>
        <p:spPr>
          <a:xfrm>
            <a:off x="45720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Carlos Vega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2103120" y="3639312"/>
            <a:ext cx="822960" cy="18288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52" name="Text 48"/>
          <p:cNvSpPr/>
          <p:nvPr/>
        </p:nvSpPr>
        <p:spPr>
          <a:xfrm>
            <a:off x="2103120" y="36393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Regional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301752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FPL Operations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66344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Regulatory constraints (NERC CIP)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7223760" y="3593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3E1D"/>
                </a:solidFill>
              </a:rPr>
              <a:t>Low</a:t>
            </a:r>
            <a:endParaRPr lang="en-US" sz="9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621024"/>
            <a:ext cx="182880" cy="182880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3"/>
          <p:cNvSpPr/>
          <p:nvPr/>
        </p:nvSpPr>
        <p:spPr>
          <a:xfrm>
            <a:off x="4572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Maria Santos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2103120" y="4023360"/>
            <a:ext cx="822960" cy="18288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60" name="Text 55"/>
          <p:cNvSpPr/>
          <p:nvPr/>
        </p:nvSpPr>
        <p:spPr>
          <a:xfrm>
            <a:off x="2103120" y="4023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Regional</a:t>
            </a:r>
            <a:endParaRPr lang="en-US" sz="600" dirty="0"/>
          </a:p>
        </p:txBody>
      </p:sp>
      <p:sp>
        <p:nvSpPr>
          <p:cNvPr id="61" name="Text 56"/>
          <p:cNvSpPr/>
          <p:nvPr/>
        </p:nvSpPr>
        <p:spPr>
          <a:xfrm>
            <a:off x="30175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Gulf Power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466344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Field worker access to surveys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722376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7600"/>
                </a:solidFill>
              </a:rPr>
              <a:t>Med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457200" y="4334256"/>
            <a:ext cx="8229600" cy="347472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65" name="Text 60"/>
          <p:cNvSpPr/>
          <p:nvPr/>
        </p:nvSpPr>
        <p:spPr>
          <a:xfrm>
            <a:off x="45720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015"/>
                </a:solidFill>
              </a:rPr>
              <a:t>James Park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2103120" y="4407408"/>
            <a:ext cx="822960" cy="182880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67" name="Text 62"/>
          <p:cNvSpPr/>
          <p:nvPr/>
        </p:nvSpPr>
        <p:spPr>
          <a:xfrm>
            <a:off x="210312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Technical</a:t>
            </a:r>
            <a:endParaRPr lang="en-US" sz="600" dirty="0"/>
          </a:p>
        </p:txBody>
      </p:sp>
      <p:sp>
        <p:nvSpPr>
          <p:cNvPr id="68" name="Text 63"/>
          <p:cNvSpPr/>
          <p:nvPr/>
        </p:nvSpPr>
        <p:spPr>
          <a:xfrm>
            <a:off x="301752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Data &amp; Analytics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4663440" y="4361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028"/>
                </a:solidFill>
              </a:rPr>
              <a:t>Dashboard performance at scale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7223760" y="4361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540"/>
                </a:solidFill>
              </a:rPr>
              <a:t>High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72" name="Text 6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Today's Decisions Mean for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DB"/>
                </a:solidFill>
              </a:rPr>
              <a:t>Every decision made today cascades into downstream workshops. Here's what flows forward.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72768"/>
            <a:ext cx="137160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D1: Roles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4884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13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1572768"/>
            <a:ext cx="822960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WS2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0" y="15361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</a:rPr>
              <a:t>Defines who maps to which impacted group tier and who owns communications per group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95728"/>
            <a:ext cx="137160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95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D5: Governance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488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13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2395728"/>
            <a:ext cx="822960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395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WS2 + WS3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</a:rPr>
              <a:t>Hub &amp; Spoke split determines which survey templates are global vs. regionally adapted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218688"/>
            <a:ext cx="137160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D6: Fatigue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4884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13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0" y="3218688"/>
            <a:ext cx="822960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218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WS3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0" y="3182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</a:rPr>
              <a:t>Quarterly caps and buffer windows become hard constraints for survey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3D30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041648"/>
            <a:ext cx="1371600" cy="201168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015"/>
                </a:solidFill>
              </a:rPr>
              <a:t>D8: 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4884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13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60320" y="4041648"/>
            <a:ext cx="822960" cy="201168"/>
          </a:xfrm>
          <a:prstGeom prst="rect">
            <a:avLst/>
          </a:prstGeom>
          <a:solidFill>
            <a:srgbClr val="006462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4041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WS4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0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0DB"/>
                </a:solidFill>
              </a:rPr>
              <a:t>HRIS fields, SSO config, and retention rules shape entire platform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F9A13A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EF0D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CMX Foundations Workshop 1 — Nextera Energy GMTP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E6E"/>
                </a:solidFill>
              </a:rPr>
              <a:t>Confidential — AKT Global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9A13A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CMX Foundations Workshop 1 — Nextera Energy GMTP</dc:title>
  <dc:subject>PptxGenJS Presentation</dc:subject>
  <dc:creator>AKT Global</dc:creator>
  <cp:lastModifiedBy>AKT Global</cp:lastModifiedBy>
  <cp:revision>1</cp:revision>
  <dcterms:created xsi:type="dcterms:W3CDTF">2026-02-24T03:29:59Z</dcterms:created>
  <dcterms:modified xsi:type="dcterms:W3CDTF">2026-02-24T03:29:59Z</dcterms:modified>
</cp:coreProperties>
</file>