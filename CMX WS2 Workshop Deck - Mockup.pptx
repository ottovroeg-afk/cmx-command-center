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A1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CMX Foundations Workshop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E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Mapping &amp; Communications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</a:rPr>
              <a:t>Nextera Energy — Global Modernization &amp; Transformation Program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286000" cy="36576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E6E"/>
                </a:solidFill>
              </a:rPr>
              <a:t>February 2026  |  Seeded with WS1 decisions + WS2 survey intelligence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188720"/>
            <a:ext cx="1097280" cy="1097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7320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Confidential — AKT Global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WS1 Decision Recap — What Flows Into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</a:rPr>
              <a:t>These governance decisions were confirmed in Workshop 1. They shape today's stakeholder mapping session.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749808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81328"/>
            <a:ext cx="502920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81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25880" y="1481328"/>
            <a:ext cx="731520" cy="201168"/>
          </a:xfrm>
          <a:prstGeom prst="rect">
            <a:avLst/>
          </a:prstGeom>
          <a:solidFill>
            <a:srgbClr val="E8F5E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481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8540"/>
                </a:solidFill>
              </a:rPr>
              <a:t>Confirmed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8600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015"/>
                </a:solidFill>
              </a:rPr>
              <a:t>Roles &amp; Responsibilities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16642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Hub &amp; Spoke RACI confirmed. Central team owns design; regions own execution.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0" y="1874520"/>
            <a:ext cx="4114800" cy="182880"/>
          </a:xfrm>
          <a:prstGeom prst="rect">
            <a:avLst/>
          </a:prstGeom>
          <a:solidFill>
            <a:srgbClr val="E3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874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A73B5"/>
                </a:solidFill>
              </a:rPr>
              <a:t>→ WS2 impact: Defines who maps to each impacted group tier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12848"/>
            <a:ext cx="54864" cy="749808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322576"/>
            <a:ext cx="502920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3225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25880" y="2322576"/>
            <a:ext cx="731520" cy="201168"/>
          </a:xfrm>
          <a:prstGeom prst="rect">
            <a:avLst/>
          </a:prstGeom>
          <a:solidFill>
            <a:srgbClr val="E8F5EB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23225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8540"/>
                </a:solidFill>
              </a:rPr>
              <a:t>Confirmed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86000" y="2258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015"/>
                </a:solidFill>
              </a:rPr>
              <a:t>Global vs Regional Rights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2505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Regional autonomy within guardrails. FPL gets dedicated sub-process for NERC CIP compliance.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0" y="2715768"/>
            <a:ext cx="4114800" cy="182880"/>
          </a:xfrm>
          <a:prstGeom prst="rect">
            <a:avLst/>
          </a:prstGeom>
          <a:solidFill>
            <a:srgbClr val="E3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2715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A73B5"/>
                </a:solidFill>
              </a:rPr>
              <a:t>→ WS2 impact: Determines comms channel split: global vs. regional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3054096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54096"/>
            <a:ext cx="54864" cy="749808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163824"/>
            <a:ext cx="502920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1638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325880" y="3163824"/>
            <a:ext cx="731520" cy="201168"/>
          </a:xfrm>
          <a:prstGeom prst="rect">
            <a:avLst/>
          </a:prstGeom>
          <a:solidFill>
            <a:srgbClr val="E8F5EB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31638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8540"/>
                </a:solidFill>
              </a:rPr>
              <a:t>Confirmed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286000" y="3099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015"/>
                </a:solidFill>
              </a:rPr>
              <a:t>Governance Model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86000" y="33467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Hybrid selected: Global framework + Regional execution. Monthly ops cadence confirmed.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0" y="3557016"/>
            <a:ext cx="4114800" cy="182880"/>
          </a:xfrm>
          <a:prstGeom prst="rect">
            <a:avLst/>
          </a:prstGeom>
          <a:solidFill>
            <a:srgbClr val="E3F0FA"/>
          </a:solidFill>
          <a:ln/>
        </p:spPr>
      </p:sp>
      <p:sp>
        <p:nvSpPr>
          <p:cNvPr id="34" name="Text 32"/>
          <p:cNvSpPr/>
          <p:nvPr/>
        </p:nvSpPr>
        <p:spPr>
          <a:xfrm>
            <a:off x="2377440" y="35570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A73B5"/>
                </a:solidFill>
              </a:rPr>
              <a:t>→ WS2 impact: Sets champion network reporting lines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" y="3895344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895344"/>
            <a:ext cx="54864" cy="749808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" y="4005072"/>
            <a:ext cx="502920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0050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325880" y="4005072"/>
            <a:ext cx="731520" cy="201168"/>
          </a:xfrm>
          <a:prstGeom prst="rect">
            <a:avLst/>
          </a:prstGeom>
          <a:solidFill>
            <a:srgbClr val="E8F5EB"/>
          </a:solidFill>
          <a:ln/>
        </p:spPr>
      </p:sp>
      <p:sp>
        <p:nvSpPr>
          <p:cNvPr id="40" name="Text 38"/>
          <p:cNvSpPr/>
          <p:nvPr/>
        </p:nvSpPr>
        <p:spPr>
          <a:xfrm>
            <a:off x="1325880" y="4005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8540"/>
                </a:solidFill>
              </a:rPr>
              <a:t>Confirmed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286000" y="3941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015"/>
                </a:solidFill>
              </a:rPr>
              <a:t>Fatigue Guardrails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86000" y="4187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Quarterly contact caps. 3-week buffer around Glint survey. 5-7 min completion target.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286000" y="4398264"/>
            <a:ext cx="4114800" cy="182880"/>
          </a:xfrm>
          <a:prstGeom prst="rect">
            <a:avLst/>
          </a:prstGeom>
          <a:solidFill>
            <a:srgbClr val="E3F0FA"/>
          </a:solidFill>
          <a:ln/>
        </p:spPr>
      </p:sp>
      <p:sp>
        <p:nvSpPr>
          <p:cNvPr id="44" name="Text 42"/>
          <p:cNvSpPr/>
          <p:nvPr/>
        </p:nvSpPr>
        <p:spPr>
          <a:xfrm>
            <a:off x="2377440" y="43982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A73B5"/>
                </a:solidFill>
              </a:rPr>
              <a:t>→ WS2 impact: Constrains communication frequency per group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2 — Nextera Energy GMTP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73B5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WS2 Stakeholder Intelligence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6E"/>
                </a:solidFill>
              </a:rPr>
              <a:t>Analysis of 10 respondents across 25 questions — focused on stakeholder mapping, communications, and champion networks.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65960" cy="45720"/>
          </a:xfrm>
          <a:prstGeom prst="rect">
            <a:avLst/>
          </a:prstGeom>
          <a:solidFill>
            <a:srgbClr val="C07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7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Readiness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371600"/>
            <a:ext cx="1965960" cy="4572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Avg Consensus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1965960" cy="4572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9204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Risks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371600"/>
            <a:ext cx="1965960" cy="4572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04088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Open Points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015"/>
                </a:solidFill>
              </a:rPr>
              <a:t>Impacted Group Tiers (from WS2 survey)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8229600" cy="256032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644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Group Tier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60320" y="3264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Est. Size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74720" y="3264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Coverage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89120" y="326440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Primary Concern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3547872"/>
            <a:ext cx="82296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547872"/>
            <a:ext cx="36576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547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Core Team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0320" y="3547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8–10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74720" y="3547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100%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89120" y="35478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Process ownership clarity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767328"/>
            <a:ext cx="8229600" cy="201168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767328"/>
            <a:ext cx="36576" cy="201168"/>
          </a:xfrm>
          <a:prstGeom prst="rect">
            <a:avLst/>
          </a:prstGeom>
          <a:solidFill>
            <a:srgbClr val="E8911A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767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Extended Core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25–30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7472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1A"/>
                </a:solidFill>
              </a:rPr>
              <a:t>85%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89120" y="37673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Workload balance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3986784"/>
            <a:ext cx="82296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3986784"/>
            <a:ext cx="36576" cy="201168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3986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Leaders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60320" y="3986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50–60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0" y="3986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3B5"/>
                </a:solidFill>
              </a:rPr>
              <a:t>70%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89120" y="39867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Dashboard access timing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206240"/>
            <a:ext cx="8229600" cy="201168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4206240"/>
            <a:ext cx="36576" cy="201168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4206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Directly Impacted Mgrs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60320" y="4206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200+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74720" y="4206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462"/>
                </a:solidFill>
              </a:rPr>
              <a:t>45%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89120" y="4206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Manager enablement gap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4425696"/>
            <a:ext cx="82296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457200" y="4425696"/>
            <a:ext cx="36576" cy="201168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" y="4425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Directly Impacted Workers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60320" y="4425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2,000+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474720" y="4425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540"/>
                </a:solidFill>
              </a:rPr>
              <a:t>20%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389120" y="44256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SMS/QR accessibility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58" name="Shape 56"/>
          <p:cNvSpPr/>
          <p:nvPr/>
        </p:nvSpPr>
        <p:spPr>
          <a:xfrm>
            <a:off x="457200" y="4645152"/>
            <a:ext cx="36576" cy="201168"/>
          </a:xfrm>
          <a:prstGeom prst="rect">
            <a:avLst/>
          </a:prstGeom>
          <a:solidFill>
            <a:srgbClr val="8A7E6E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Indirectly Impacted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560320" y="46451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5,000+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474720" y="46451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7E6E"/>
                </a:solidFill>
              </a:rPr>
              <a:t>5%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389120" y="4645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Awareness only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2 — Nextera Energy GMTP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73B5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Channel Preferences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6E"/>
                </a:solidFill>
              </a:rPr>
              <a:t>Survey results: how each stakeholder tier prefers to receive CMX program communications.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1234440"/>
            <a:ext cx="274320" cy="109728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6" name="Text 4"/>
          <p:cNvSpPr/>
          <p:nvPr/>
        </p:nvSpPr>
        <p:spPr>
          <a:xfrm>
            <a:off x="5349240" y="1207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028"/>
                </a:solidFill>
              </a:rPr>
              <a:t>Core/Extended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92240" y="1234440"/>
            <a:ext cx="274320" cy="109728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1207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028"/>
                </a:solidFill>
              </a:rPr>
              <a:t>Leaders/Mgrs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772400" y="1234440"/>
            <a:ext cx="274320" cy="109728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0" name="Text 8"/>
          <p:cNvSpPr/>
          <p:nvPr/>
        </p:nvSpPr>
        <p:spPr>
          <a:xfrm>
            <a:off x="8092440" y="12070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028"/>
                </a:solidFill>
              </a:rPr>
              <a:t>Workers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Email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1618488"/>
            <a:ext cx="4777740" cy="9144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4560" y="1737360"/>
            <a:ext cx="4425696" cy="9144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4560" y="1856232"/>
            <a:ext cx="1508760" cy="9144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5" name="Text 13"/>
          <p:cNvSpPr/>
          <p:nvPr/>
        </p:nvSpPr>
        <p:spPr>
          <a:xfrm>
            <a:off x="7018020" y="158191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D2015"/>
                </a:solidFill>
              </a:rPr>
              <a:t>95%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749040" y="182880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8540"/>
                </a:solidFill>
              </a:rPr>
              <a:t>30%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720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Teams/Slack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2121408"/>
            <a:ext cx="4023360" cy="9144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4560" y="2240280"/>
            <a:ext cx="3268980" cy="9144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2359152"/>
            <a:ext cx="754380" cy="9144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0848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D2015"/>
                </a:solidFill>
              </a:rPr>
              <a:t>80%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994660" y="23317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8540"/>
                </a:solidFill>
              </a:rPr>
              <a:t>15%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Town Hall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94560" y="2624328"/>
            <a:ext cx="3017520" cy="9144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4560" y="2743200"/>
            <a:ext cx="3771900" cy="9144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4560" y="2862072"/>
            <a:ext cx="2263140" cy="9144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258775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D2015"/>
                </a:solidFill>
              </a:rPr>
              <a:t>60%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03420" y="283464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8540"/>
                </a:solidFill>
              </a:rPr>
              <a:t>45%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57200" y="3108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Manager cascade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94560" y="3127248"/>
            <a:ext cx="2011680" cy="9144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4560" y="3246120"/>
            <a:ext cx="2766060" cy="9144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4560" y="3364992"/>
            <a:ext cx="3520440" cy="9144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33" name="Text 31"/>
          <p:cNvSpPr/>
          <p:nvPr/>
        </p:nvSpPr>
        <p:spPr>
          <a:xfrm>
            <a:off x="4251960" y="309067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D2015"/>
                </a:solidFill>
              </a:rPr>
              <a:t>40%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760720" y="33375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8540"/>
                </a:solidFill>
              </a:rPr>
              <a:t>70%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57200" y="3611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SMS/QR code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94560" y="3630168"/>
            <a:ext cx="251460" cy="9144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4560" y="3749040"/>
            <a:ext cx="502920" cy="9144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38" name="Shape 36"/>
          <p:cNvSpPr/>
          <p:nvPr/>
        </p:nvSpPr>
        <p:spPr>
          <a:xfrm>
            <a:off x="2194560" y="3867912"/>
            <a:ext cx="4274820" cy="9144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39" name="Text 37"/>
          <p:cNvSpPr/>
          <p:nvPr/>
        </p:nvSpPr>
        <p:spPr>
          <a:xfrm>
            <a:off x="2491740" y="35935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D2015"/>
                </a:solidFill>
              </a:rPr>
              <a:t>5%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515100" y="384048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8540"/>
                </a:solidFill>
              </a:rPr>
              <a:t>85%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57200" y="4114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Intranet portal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94560" y="4133088"/>
            <a:ext cx="3520440" cy="9144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43" name="Shape 41"/>
          <p:cNvSpPr/>
          <p:nvPr/>
        </p:nvSpPr>
        <p:spPr>
          <a:xfrm>
            <a:off x="2194560" y="4251960"/>
            <a:ext cx="2514600" cy="9144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44" name="Shape 42"/>
          <p:cNvSpPr/>
          <p:nvPr/>
        </p:nvSpPr>
        <p:spPr>
          <a:xfrm>
            <a:off x="2194560" y="4370832"/>
            <a:ext cx="1005840" cy="9144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409651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D2015"/>
                </a:solidFill>
              </a:rPr>
              <a:t>70%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246120" y="434340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8540"/>
                </a:solidFill>
              </a:rPr>
              <a:t>20%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2015"/>
                </a:solidFill>
              </a:rPr>
              <a:t>Key insight: 85% of directly impacted workers prefer SMS/QR — but only 5% of core team does. Communication strategy must be multi-channel. Manager cascade is the bridge.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2 — Nextera Energy GMTP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73B5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 Network — Gaps &amp;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6E"/>
                </a:solidFill>
              </a:rPr>
              <a:t>Survey data reveals where champion coverage is strong and where gaps exist.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015"/>
                </a:solidFill>
              </a:rPr>
              <a:t>Champion Coverage by Region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45720" cy="41148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96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FPL (Florida)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3/5 champions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1920240"/>
            <a:ext cx="1828800" cy="137160"/>
          </a:xfrm>
          <a:prstGeom prst="rect">
            <a:avLst/>
          </a:prstGeom>
          <a:solidFill>
            <a:srgbClr val="E0D8CE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920240"/>
            <a:ext cx="1097280" cy="1371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874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73E1D"/>
                </a:solidFill>
              </a:rPr>
              <a:t>GAP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45720" cy="41148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22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Gulf Power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4963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1/3 champions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0" y="2423160"/>
            <a:ext cx="1828800" cy="137160"/>
          </a:xfrm>
          <a:prstGeom prst="rect">
            <a:avLst/>
          </a:prstGeom>
          <a:solidFill>
            <a:srgbClr val="E0D8CE"/>
          </a:solidFill>
          <a:ln/>
        </p:spPr>
      </p:sp>
      <p:sp>
        <p:nvSpPr>
          <p:cNvPr id="18" name="Shape 16"/>
          <p:cNvSpPr/>
          <p:nvPr/>
        </p:nvSpPr>
        <p:spPr>
          <a:xfrm>
            <a:off x="2560320" y="2423160"/>
            <a:ext cx="609600" cy="1371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3774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73E1D"/>
                </a:solidFill>
              </a:rPr>
              <a:t>GAP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788920"/>
            <a:ext cx="45720" cy="41148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825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NextEra Resources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9992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2/2 champions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0" y="2926080"/>
            <a:ext cx="1828800" cy="137160"/>
          </a:xfrm>
          <a:prstGeom prst="rect">
            <a:avLst/>
          </a:prstGeom>
          <a:solidFill>
            <a:srgbClr val="E0D8CE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2926080"/>
            <a:ext cx="1828800" cy="13716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2880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8540"/>
                </a:solidFill>
              </a:rPr>
              <a:t>OK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91840"/>
            <a:ext cx="45720" cy="41148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328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Corporate HQ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502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4/4 champions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0" y="3429000"/>
            <a:ext cx="1828800" cy="137160"/>
          </a:xfrm>
          <a:prstGeom prst="rect">
            <a:avLst/>
          </a:prstGeom>
          <a:solidFill>
            <a:srgbClr val="E0D8CE"/>
          </a:solidFill>
          <a:ln/>
        </p:spPr>
      </p:sp>
      <p:sp>
        <p:nvSpPr>
          <p:cNvPr id="32" name="Shape 30"/>
          <p:cNvSpPr/>
          <p:nvPr/>
        </p:nvSpPr>
        <p:spPr>
          <a:xfrm>
            <a:off x="2560320" y="3429000"/>
            <a:ext cx="1828800" cy="13716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3383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8540"/>
                </a:solidFill>
              </a:rPr>
              <a:t>OK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4114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794760"/>
            <a:ext cx="45720" cy="41148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313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NEER (Renewables)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0/3 champions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0" y="3931920"/>
            <a:ext cx="1828800" cy="137160"/>
          </a:xfrm>
          <a:prstGeom prst="rect">
            <a:avLst/>
          </a:prstGeom>
          <a:solidFill>
            <a:srgbClr val="E0D8CE"/>
          </a:solidFill>
          <a:ln/>
        </p:spPr>
      </p:sp>
      <p:sp>
        <p:nvSpPr>
          <p:cNvPr id="39" name="Shape 37"/>
          <p:cNvSpPr/>
          <p:nvPr/>
        </p:nvSpPr>
        <p:spPr>
          <a:xfrm>
            <a:off x="2560320" y="3931920"/>
            <a:ext cx="0" cy="1371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40" name="Text 38"/>
          <p:cNvSpPr/>
          <p:nvPr/>
        </p:nvSpPr>
        <p:spPr>
          <a:xfrm>
            <a:off x="4480560" y="3886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73E1D"/>
                </a:solidFill>
              </a:rPr>
              <a:t>GAP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4632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015"/>
                </a:solidFill>
              </a:rPr>
              <a:t>Recommendations from Survey Data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178308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1783080"/>
            <a:ext cx="384048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18928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NEER gap is critical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0" y="21305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Zero champions in renewables division. 800+ field workers with no CMX representation. Nominate regional HR lead as interim champion.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278892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2788920"/>
            <a:ext cx="384048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28986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Gulf Power needs 2 more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0" y="3136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Only 1 champion for 400+ workers. Survey shows manager cascade preference — appoint 2 supervisors with team leads' endorsement.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379476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46320" y="3794760"/>
            <a:ext cx="384048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0" y="39044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FPL — NERC CIP overlay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0" y="41422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FPL champions need security clearance awareness. Partner with compliance team for joint nomination. Carlos Vega recommends union rep inclusion.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2 — Nextera Energy GMTP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73B5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CMX Foundations Workshop 2 — Nextera Energy GMTP</dc:title>
  <dc:subject>PptxGenJS Presentation</dc:subject>
  <dc:creator>AKT Global</dc:creator>
  <cp:lastModifiedBy>AKT Global</cp:lastModifiedBy>
  <cp:revision>1</cp:revision>
  <dcterms:created xsi:type="dcterms:W3CDTF">2026-02-24T03:29:59Z</dcterms:created>
  <dcterms:modified xsi:type="dcterms:W3CDTF">2026-02-24T03:29:59Z</dcterms:modified>
</cp:coreProperties>
</file>