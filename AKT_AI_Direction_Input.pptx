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147483519" r:id="rId3"/>
    <p:sldId id="271" r:id="rId4"/>
    <p:sldId id="257" r:id="rId5"/>
    <p:sldId id="272" r:id="rId6"/>
    <p:sldId id="2147483547" r:id="rId7"/>
    <p:sldId id="260" r:id="rId8"/>
    <p:sldId id="261" r:id="rId9"/>
    <p:sldId id="262" r:id="rId10"/>
    <p:sldId id="265" r:id="rId11"/>
    <p:sldId id="266" r:id="rId12"/>
    <p:sldId id="2147483541" r:id="rId13"/>
    <p:sldId id="264" r:id="rId14"/>
    <p:sldId id="2147483520" r:id="rId15"/>
    <p:sldId id="267" r:id="rId16"/>
    <p:sldId id="259" r:id="rId17"/>
    <p:sldId id="2147483542" r:id="rId18"/>
    <p:sldId id="2147483543" r:id="rId19"/>
    <p:sldId id="258" r:id="rId20"/>
    <p:sldId id="263" r:id="rId21"/>
    <p:sldId id="268" r:id="rId22"/>
    <p:sldId id="269" r:id="rId23"/>
    <p:sldId id="270" r:id="rId24"/>
    <p:sldId id="2147483521" r:id="rId25"/>
    <p:sldId id="2147483538" r:id="rId26"/>
    <p:sldId id="2147483539" r:id="rId27"/>
    <p:sldId id="2147483540" r:id="rId28"/>
    <p:sldId id="2147483537" r:id="rId29"/>
    <p:sldId id="2147483546"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152" d="100"/>
          <a:sy n="152" d="100"/>
        </p:scale>
        <p:origin x="1024" y="488"/>
      </p:cViewPr>
      <p:guideLst/>
    </p:cSldViewPr>
  </p:slideViewPr>
  <p:notesTextViewPr>
    <p:cViewPr>
      <p:scale>
        <a:sx n="1" d="1"/>
        <a:sy n="1" d="1"/>
      </p:scale>
      <p:origin x="0" y="0"/>
    </p:cViewPr>
  </p:notesTextViewPr>
  <p:sorterViewPr>
    <p:cViewPr>
      <p:scale>
        <a:sx n="145" d="100"/>
        <a:sy n="14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112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A7466-77E3-1BC9-E5D3-B9DE4AB90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244F3-752F-4D61-69D9-DAF68961E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ED3E-5166-1B2D-209B-CA0B716989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D82FFA-E632-19AD-989D-EBE0AAA9D01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867209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000"/>
            </a:lvl1pPr>
          </a:lstStyle>
          <a:p>
            <a:r>
              <a:rPr lang="en-US"/>
              <a:t>Click to edit Master title style</a:t>
            </a:r>
            <a:endParaRPr lang="he-IL"/>
          </a:p>
        </p:txBody>
      </p:sp>
    </p:spTree>
    <p:extLst>
      <p:ext uri="{BB962C8B-B14F-4D97-AF65-F5344CB8AC3E}">
        <p14:creationId xmlns:p14="http://schemas.microsoft.com/office/powerpoint/2010/main" val="185070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137160"/>
            <a:ext cx="4572000" cy="548640"/>
          </a:xfrm>
          <a:prstGeom prst="rect">
            <a:avLst/>
          </a:prstGeom>
          <a:noFill/>
          <a:ln/>
        </p:spPr>
        <p:txBody>
          <a:bodyPr wrap="square" lIns="0" tIns="0" rIns="0" bIns="0" rtlCol="0" anchor="ctr"/>
          <a:lstStyle/>
          <a:p>
            <a:pPr marL="0" indent="0">
              <a:buNone/>
            </a:pPr>
            <a:r>
              <a:rPr lang="en-US" sz="3600" b="1" dirty="0">
                <a:solidFill>
                  <a:srgbClr val="F0AC00"/>
                </a:solidFill>
                <a:latin typeface="Calibri" pitchFamily="34" charset="0"/>
                <a:ea typeface="Calibri" pitchFamily="34" charset="-122"/>
                <a:cs typeface="Calibri" pitchFamily="34" charset="-120"/>
              </a:rPr>
              <a:t>AKT</a:t>
            </a:r>
            <a:endParaRPr lang="en-US" sz="3600" dirty="0"/>
          </a:p>
        </p:txBody>
      </p:sp>
      <p:sp>
        <p:nvSpPr>
          <p:cNvPr id="5" name="Text 2"/>
          <p:cNvSpPr/>
          <p:nvPr/>
        </p:nvSpPr>
        <p:spPr>
          <a:xfrm>
            <a:off x="457200" y="731520"/>
            <a:ext cx="4572000" cy="36576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We Orchestrate Success.</a:t>
            </a:r>
            <a:endParaRPr lang="en-US" sz="2000" dirty="0"/>
          </a:p>
        </p:txBody>
      </p:sp>
      <p:sp>
        <p:nvSpPr>
          <p:cNvPr id="6" name="Text 3"/>
          <p:cNvSpPr/>
          <p:nvPr/>
        </p:nvSpPr>
        <p:spPr>
          <a:xfrm>
            <a:off x="457200" y="1371600"/>
            <a:ext cx="4114800" cy="2560320"/>
          </a:xfrm>
          <a:prstGeom prst="rect">
            <a:avLst/>
          </a:prstGeom>
          <a:noFill/>
          <a:ln/>
        </p:spPr>
        <p:txBody>
          <a:bodyPr wrap="square" lIns="0" tIns="0" rIns="0" bIns="0" rtlCol="0" anchor="t"/>
          <a:lstStyle/>
          <a:p>
            <a:pPr marL="0" indent="0">
              <a:buNone/>
            </a:pPr>
            <a:r>
              <a:rPr lang="en-US" sz="2000" b="1" dirty="0">
                <a:solidFill>
                  <a:srgbClr val="000000"/>
                </a:solidFill>
                <a:latin typeface="Calibri" pitchFamily="34" charset="0"/>
                <a:ea typeface="Calibri" pitchFamily="34" charset="-122"/>
                <a:cs typeface="Calibri" pitchFamily="34" charset="-120"/>
              </a:rPr>
              <a:t>AI Workforce Initiative
</a:t>
            </a:r>
            <a:r>
              <a:rPr lang="en-US" sz="1400" b="1" dirty="0">
                <a:solidFill>
                  <a:srgbClr val="333333"/>
                </a:solidFill>
                <a:latin typeface="Calibri" pitchFamily="34" charset="0"/>
                <a:ea typeface="Calibri" pitchFamily="34" charset="-122"/>
                <a:cs typeface="Calibri" pitchFamily="34" charset="-120"/>
              </a:rPr>
              <a:t>Direction Input  </a:t>
            </a:r>
          </a:p>
          <a:p>
            <a:pPr marL="0" indent="0">
              <a:buNone/>
            </a:pPr>
            <a:r>
              <a:rPr lang="en-US" sz="1400" b="1" dirty="0">
                <a:solidFill>
                  <a:srgbClr val="333333"/>
                </a:solidFill>
                <a:latin typeface="Calibri" pitchFamily="34" charset="0"/>
                <a:ea typeface="Calibri" pitchFamily="34" charset="-122"/>
                <a:cs typeface="Calibri" pitchFamily="34" charset="-120"/>
              </a:rPr>
              <a:t>April 2026
</a:t>
            </a:r>
            <a:r>
              <a:rPr lang="en-US" sz="1100" i="1" dirty="0">
                <a:solidFill>
                  <a:srgbClr val="666666"/>
                </a:solidFill>
                <a:latin typeface="Calibri" pitchFamily="34" charset="0"/>
                <a:ea typeface="Calibri" pitchFamily="34" charset="-122"/>
                <a:cs typeface="Calibri" pitchFamily="34" charset="-120"/>
              </a:rPr>
              <a:t>How AI reshapes our Qualtrics partnership,
delivery model, and revenue.
</a:t>
            </a:r>
            <a:r>
              <a:rPr lang="en-US" sz="1000" dirty="0">
                <a:solidFill>
                  <a:srgbClr val="666666"/>
                </a:solidFill>
                <a:latin typeface="Calibri" pitchFamily="34" charset="0"/>
                <a:ea typeface="Calibri" pitchFamily="34" charset="-122"/>
                <a:cs typeface="Calibri" pitchFamily="34" charset="-120"/>
              </a:rPr>
              <a:t>
</a:t>
            </a:r>
            <a:r>
              <a:rPr lang="en-US" sz="1000" i="1" dirty="0">
                <a:solidFill>
                  <a:srgbClr val="666666"/>
                </a:solidFill>
                <a:latin typeface="Calibri" pitchFamily="34" charset="0"/>
                <a:ea typeface="Calibri" pitchFamily="34" charset="-122"/>
                <a:cs typeface="Calibri" pitchFamily="34" charset="-120"/>
              </a:rPr>
              <a:t>A direction-validation conversation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38150" y="200000"/>
            <a:ext cx="8268000" cy="560000"/>
          </a:xfrm>
        </p:spPr>
        <p:txBody>
          <a:bodyPr/>
          <a:lstStyle/>
          <a:p>
            <a:pPr algn="l"/>
            <a:r>
              <a:rPr lang="en-US" b="1" dirty="0">
                <a:solidFill>
                  <a:srgbClr val="000000"/>
                </a:solidFill>
                <a:latin typeface="Calibri" pitchFamily="34" charset="0"/>
                <a:cs typeface="Calibri" pitchFamily="34" charset="-120"/>
              </a:rPr>
              <a:t>RECAP: The deliverables: seven strategic answers</a:t>
            </a:r>
          </a:p>
        </p:txBody>
      </p:sp>
      <p:sp>
        <p:nvSpPr>
          <p:cNvPr id="10" name="D1"/>
          <p:cNvSpPr/>
          <p:nvPr/>
        </p:nvSpPr>
        <p:spPr>
          <a:xfrm>
            <a:off x="438150" y="951642"/>
            <a:ext cx="1920000" cy="1560000"/>
          </a:xfrm>
          <a:prstGeom prst="rect">
            <a:avLst/>
          </a:prstGeom>
          <a:solidFill>
            <a:schemeClr val="accent5">
              <a:lumMod val="50000"/>
            </a:schemeClr>
          </a:solidFill>
          <a:ln>
            <a:noFill/>
          </a:ln>
        </p:spPr>
        <p:txBody>
          <a:bodyPr wrap="square" lIns="140000" tIns="130000" rIns="140000" bIns="100000" anchor="t"/>
          <a:lstStyle/>
          <a:p>
            <a:pPr algn="l">
              <a:spcBef>
                <a:spcPts val="0"/>
              </a:spcBef>
              <a:buNone/>
            </a:pPr>
            <a:r>
              <a:rPr lang="en-US" sz="700" b="1" dirty="0">
                <a:solidFill>
                  <a:srgbClr val="FFAB40"/>
                </a:solidFill>
                <a:latin typeface="Manrope" pitchFamily="2" charset="0"/>
              </a:rPr>
              <a:t>01</a:t>
            </a:r>
          </a:p>
          <a:p>
            <a:pPr algn="l">
              <a:spcBef>
                <a:spcPts val="180"/>
              </a:spcBef>
              <a:buNone/>
            </a:pPr>
            <a:r>
              <a:rPr lang="en-US" sz="1100" b="1" dirty="0">
                <a:solidFill>
                  <a:srgbClr val="FFFFFF"/>
                </a:solidFill>
                <a:latin typeface="Manrope" pitchFamily="2" charset="0"/>
              </a:rPr>
              <a:t>Future scenarios</a:t>
            </a:r>
          </a:p>
          <a:p>
            <a:pPr algn="l">
              <a:spcBef>
                <a:spcPts val="300"/>
              </a:spcBef>
              <a:buNone/>
            </a:pPr>
            <a:r>
              <a:rPr lang="en-US" sz="900" dirty="0">
                <a:solidFill>
                  <a:srgbClr val="9DC3E6"/>
                </a:solidFill>
                <a:latin typeface="Manrope" pitchFamily="2" charset="0"/>
              </a:rPr>
              <a:t>What does XM practice look like in 12-18 months? Qualtrics as back office? Reimagining the practice: what stays, new product lines and how to control the value layer. What is the value we can deliver?</a:t>
            </a:r>
          </a:p>
        </p:txBody>
      </p:sp>
      <p:sp>
        <p:nvSpPr>
          <p:cNvPr id="11" name="D2"/>
          <p:cNvSpPr/>
          <p:nvPr/>
        </p:nvSpPr>
        <p:spPr>
          <a:xfrm>
            <a:off x="2418150" y="951642"/>
            <a:ext cx="2327702" cy="1560000"/>
          </a:xfrm>
          <a:prstGeom prst="rect">
            <a:avLst/>
          </a:prstGeom>
          <a:solidFill>
            <a:schemeClr val="accent5">
              <a:lumMod val="50000"/>
            </a:schemeClr>
          </a:solidFill>
          <a:ln>
            <a:noFill/>
          </a:ln>
        </p:spPr>
        <p:txBody>
          <a:bodyPr wrap="square" lIns="140000" tIns="130000" rIns="140000" bIns="100000" anchor="t"/>
          <a:lstStyle/>
          <a:p>
            <a:pPr algn="l">
              <a:spcBef>
                <a:spcPts val="0"/>
              </a:spcBef>
              <a:buNone/>
            </a:pPr>
            <a:r>
              <a:rPr lang="en-US" sz="700" b="1" dirty="0">
                <a:solidFill>
                  <a:srgbClr val="FFAB40"/>
                </a:solidFill>
                <a:latin typeface="Manrope" pitchFamily="2" charset="0"/>
              </a:rPr>
              <a:t>02</a:t>
            </a:r>
          </a:p>
          <a:p>
            <a:pPr algn="l">
              <a:spcBef>
                <a:spcPts val="180"/>
              </a:spcBef>
              <a:buNone/>
            </a:pPr>
            <a:r>
              <a:rPr lang="en-US" sz="1100" b="1" dirty="0">
                <a:solidFill>
                  <a:srgbClr val="FFFFFF"/>
                </a:solidFill>
                <a:latin typeface="Manrope" pitchFamily="2" charset="0"/>
              </a:rPr>
              <a:t>Use case map</a:t>
            </a:r>
          </a:p>
          <a:p>
            <a:pPr algn="l">
              <a:spcBef>
                <a:spcPts val="300"/>
              </a:spcBef>
              <a:buNone/>
            </a:pPr>
            <a:r>
              <a:rPr lang="nl-NL" sz="900" dirty="0">
                <a:solidFill>
                  <a:srgbClr val="9DC3E6"/>
                </a:solidFill>
                <a:latin typeface="Manrope" pitchFamily="2" charset="0"/>
              </a:rPr>
              <a:t>How </a:t>
            </a:r>
            <a:r>
              <a:rPr lang="nl-NL" sz="900" b="1" dirty="0">
                <a:solidFill>
                  <a:srgbClr val="9DC3E6"/>
                </a:solidFill>
                <a:latin typeface="Manrope" pitchFamily="2" charset="0"/>
              </a:rPr>
              <a:t>Agentic AI, Gen AI and vibe-coding </a:t>
            </a:r>
            <a:r>
              <a:rPr lang="nl-NL" sz="900" dirty="0">
                <a:solidFill>
                  <a:srgbClr val="9DC3E6"/>
                </a:solidFill>
                <a:latin typeface="Manrope" pitchFamily="2" charset="0"/>
              </a:rPr>
              <a:t>work alongside each role in delivery and with clients. Where is human-in–the-loop. Defines what's possible, what we can build and whether it fits XM's growth strategy. Everything else follows from this</a:t>
            </a:r>
            <a:r>
              <a:rPr lang="en-US" sz="900" dirty="0">
                <a:solidFill>
                  <a:srgbClr val="9DC3E6"/>
                </a:solidFill>
                <a:latin typeface="Manrope" pitchFamily="2" charset="0"/>
              </a:rPr>
              <a:t>.</a:t>
            </a:r>
          </a:p>
        </p:txBody>
      </p:sp>
      <p:sp>
        <p:nvSpPr>
          <p:cNvPr id="12" name="D3"/>
          <p:cNvSpPr/>
          <p:nvPr/>
        </p:nvSpPr>
        <p:spPr>
          <a:xfrm>
            <a:off x="4805852" y="951642"/>
            <a:ext cx="1920000" cy="1560000"/>
          </a:xfrm>
          <a:prstGeom prst="rect">
            <a:avLst/>
          </a:prstGeom>
          <a:solidFill>
            <a:schemeClr val="accent5">
              <a:lumMod val="50000"/>
            </a:schemeClr>
          </a:solidFill>
          <a:ln>
            <a:noFill/>
          </a:ln>
        </p:spPr>
        <p:txBody>
          <a:bodyPr wrap="square" lIns="140000" tIns="130000" rIns="140000" bIns="100000" anchor="t"/>
          <a:lstStyle/>
          <a:p>
            <a:pPr algn="l">
              <a:spcBef>
                <a:spcPts val="0"/>
              </a:spcBef>
              <a:buNone/>
            </a:pPr>
            <a:r>
              <a:rPr lang="en-US" sz="700" b="1" dirty="0">
                <a:solidFill>
                  <a:srgbClr val="FFAB40"/>
                </a:solidFill>
                <a:latin typeface="Manrope" pitchFamily="2" charset="0"/>
              </a:rPr>
              <a:t>03</a:t>
            </a:r>
          </a:p>
          <a:p>
            <a:pPr algn="l">
              <a:spcBef>
                <a:spcPts val="180"/>
              </a:spcBef>
              <a:buNone/>
            </a:pPr>
            <a:r>
              <a:rPr lang="en-US" sz="1100" b="1" dirty="0">
                <a:solidFill>
                  <a:srgbClr val="FFFFFF"/>
                </a:solidFill>
                <a:latin typeface="Manrope" pitchFamily="2" charset="0"/>
              </a:rPr>
              <a:t>Guardrail framework</a:t>
            </a:r>
          </a:p>
          <a:p>
            <a:pPr algn="l">
              <a:spcBef>
                <a:spcPts val="300"/>
              </a:spcBef>
              <a:buNone/>
            </a:pPr>
            <a:r>
              <a:rPr lang="en-US" sz="900" dirty="0">
                <a:solidFill>
                  <a:srgbClr val="9DC3E6"/>
                </a:solidFill>
                <a:latin typeface="Manrope" pitchFamily="2" charset="0"/>
              </a:rPr>
              <a:t>Legal implications, data safety, server boundaries and criteria for approving AI into AKT’s corridor. </a:t>
            </a:r>
          </a:p>
        </p:txBody>
      </p:sp>
      <p:sp>
        <p:nvSpPr>
          <p:cNvPr id="13" name="D4"/>
          <p:cNvSpPr/>
          <p:nvPr/>
        </p:nvSpPr>
        <p:spPr>
          <a:xfrm>
            <a:off x="6785852" y="951642"/>
            <a:ext cx="1920000" cy="1560000"/>
          </a:xfrm>
          <a:prstGeom prst="rect">
            <a:avLst/>
          </a:prstGeom>
          <a:solidFill>
            <a:schemeClr val="accent5">
              <a:lumMod val="50000"/>
            </a:schemeClr>
          </a:solidFill>
          <a:ln>
            <a:noFill/>
          </a:ln>
        </p:spPr>
        <p:txBody>
          <a:bodyPr wrap="square" lIns="140000" tIns="130000" rIns="140000" bIns="100000" anchor="t"/>
          <a:lstStyle/>
          <a:p>
            <a:pPr algn="l">
              <a:spcBef>
                <a:spcPts val="0"/>
              </a:spcBef>
              <a:buNone/>
            </a:pPr>
            <a:r>
              <a:rPr lang="en-US" sz="700" b="1" dirty="0">
                <a:solidFill>
                  <a:srgbClr val="FFAB40"/>
                </a:solidFill>
                <a:latin typeface="Manrope" pitchFamily="2" charset="0"/>
              </a:rPr>
              <a:t>04</a:t>
            </a:r>
          </a:p>
          <a:p>
            <a:pPr algn="l">
              <a:spcBef>
                <a:spcPts val="180"/>
              </a:spcBef>
              <a:buNone/>
            </a:pPr>
            <a:r>
              <a:rPr lang="en-US" sz="1100" b="1" dirty="0" err="1">
                <a:solidFill>
                  <a:srgbClr val="FFFFFF"/>
                </a:solidFill>
                <a:latin typeface="Manrope" pitchFamily="2" charset="0"/>
              </a:rPr>
              <a:t>Prioritisation</a:t>
            </a:r>
            <a:r>
              <a:rPr lang="en-US" sz="1100" b="1" dirty="0">
                <a:solidFill>
                  <a:srgbClr val="FFFFFF"/>
                </a:solidFill>
                <a:latin typeface="Manrope" pitchFamily="2" charset="0"/>
              </a:rPr>
              <a:t> &amp; roadmap</a:t>
            </a:r>
          </a:p>
          <a:p>
            <a:pPr algn="l">
              <a:spcBef>
                <a:spcPts val="300"/>
              </a:spcBef>
              <a:buNone/>
            </a:pPr>
            <a:r>
              <a:rPr lang="en-US" sz="900" dirty="0">
                <a:solidFill>
                  <a:srgbClr val="9DC3E6"/>
                </a:solidFill>
                <a:latin typeface="Manrope" pitchFamily="2" charset="0"/>
              </a:rPr>
              <a:t>What we build first. First deployable capability. 3–6–9–12 month sequencing. What success looks like in measurable terms: time, quality, value to client.</a:t>
            </a:r>
          </a:p>
        </p:txBody>
      </p:sp>
      <p:sp>
        <p:nvSpPr>
          <p:cNvPr id="14" name="D5"/>
          <p:cNvSpPr/>
          <p:nvPr/>
        </p:nvSpPr>
        <p:spPr>
          <a:xfrm>
            <a:off x="1398150" y="2591642"/>
            <a:ext cx="1920000" cy="1560000"/>
          </a:xfrm>
          <a:prstGeom prst="rect">
            <a:avLst/>
          </a:prstGeom>
          <a:solidFill>
            <a:srgbClr val="EBF3FA"/>
          </a:solidFill>
          <a:ln>
            <a:noFill/>
          </a:ln>
        </p:spPr>
        <p:txBody>
          <a:bodyPr wrap="square" lIns="140000" tIns="130000" rIns="140000" bIns="100000" anchor="t"/>
          <a:lstStyle/>
          <a:p>
            <a:pPr algn="l">
              <a:spcBef>
                <a:spcPts val="0"/>
              </a:spcBef>
              <a:buNone/>
            </a:pPr>
            <a:r>
              <a:rPr lang="en-US" sz="700" b="1" dirty="0">
                <a:solidFill>
                  <a:schemeClr val="accent1"/>
                </a:solidFill>
                <a:latin typeface="Manrope" pitchFamily="2" charset="0"/>
              </a:rPr>
              <a:t>05</a:t>
            </a:r>
          </a:p>
          <a:p>
            <a:pPr algn="l">
              <a:spcBef>
                <a:spcPts val="180"/>
              </a:spcBef>
              <a:buNone/>
            </a:pPr>
            <a:r>
              <a:rPr lang="en-US" sz="1100" b="1" dirty="0">
                <a:solidFill>
                  <a:srgbClr val="1F4E79"/>
                </a:solidFill>
                <a:latin typeface="Manrope" pitchFamily="2" charset="0"/>
              </a:rPr>
              <a:t>Commercial model</a:t>
            </a:r>
            <a:endParaRPr lang="en-US" sz="1100" b="1" dirty="0">
              <a:solidFill>
                <a:srgbClr val="1F4E79"/>
              </a:solidFill>
              <a:latin typeface="Manrope" pitchFamily="2" charset="0"/>
              <a:ea typeface="Calibri"/>
              <a:cs typeface="Calibri"/>
            </a:endParaRPr>
          </a:p>
          <a:p>
            <a:pPr algn="l">
              <a:spcBef>
                <a:spcPts val="300"/>
              </a:spcBef>
              <a:buNone/>
            </a:pPr>
            <a:r>
              <a:rPr lang="en-US" sz="900" dirty="0">
                <a:solidFill>
                  <a:srgbClr val="444444"/>
                </a:solidFill>
                <a:latin typeface="Manrope" pitchFamily="2" charset="0"/>
              </a:rPr>
              <a:t>When and how to price AI-enabled services. Do we absorb efficiency gains into margin or surface them as a distinct, premium offering clients can see and pay for?</a:t>
            </a:r>
          </a:p>
        </p:txBody>
      </p:sp>
      <p:sp>
        <p:nvSpPr>
          <p:cNvPr id="15" name="D6"/>
          <p:cNvSpPr/>
          <p:nvPr/>
        </p:nvSpPr>
        <p:spPr>
          <a:xfrm>
            <a:off x="3378150" y="2591642"/>
            <a:ext cx="1920000" cy="1560000"/>
          </a:xfrm>
          <a:prstGeom prst="rect">
            <a:avLst/>
          </a:prstGeom>
          <a:solidFill>
            <a:srgbClr val="EBF3FA"/>
          </a:solidFill>
          <a:ln>
            <a:noFill/>
          </a:ln>
        </p:spPr>
        <p:txBody>
          <a:bodyPr wrap="square" lIns="140000" tIns="130000" rIns="140000" bIns="100000" anchor="t"/>
          <a:lstStyle/>
          <a:p>
            <a:pPr algn="l">
              <a:spcBef>
                <a:spcPts val="0"/>
              </a:spcBef>
              <a:buNone/>
            </a:pPr>
            <a:r>
              <a:rPr lang="en-US" sz="700" b="1" dirty="0">
                <a:solidFill>
                  <a:schemeClr val="accent1"/>
                </a:solidFill>
                <a:latin typeface="Manrope" pitchFamily="2" charset="0"/>
              </a:rPr>
              <a:t>06</a:t>
            </a:r>
          </a:p>
          <a:p>
            <a:pPr algn="l">
              <a:spcBef>
                <a:spcPts val="180"/>
              </a:spcBef>
              <a:buNone/>
            </a:pPr>
            <a:r>
              <a:rPr lang="en-US" sz="1100" b="1" dirty="0">
                <a:solidFill>
                  <a:srgbClr val="1F4E79"/>
                </a:solidFill>
                <a:latin typeface="Manrope" pitchFamily="2" charset="0"/>
              </a:rPr>
              <a:t>Adoption &amp; governance</a:t>
            </a:r>
            <a:endParaRPr lang="en-US" sz="1100" b="1" dirty="0">
              <a:solidFill>
                <a:srgbClr val="1F4E79"/>
              </a:solidFill>
              <a:latin typeface="Manrope" pitchFamily="2" charset="0"/>
              <a:ea typeface="Calibri"/>
              <a:cs typeface="Calibri"/>
            </a:endParaRPr>
          </a:p>
          <a:p>
            <a:pPr algn="l">
              <a:spcBef>
                <a:spcPts val="300"/>
              </a:spcBef>
              <a:buNone/>
            </a:pPr>
            <a:r>
              <a:rPr lang="en-US" sz="900" dirty="0">
                <a:solidFill>
                  <a:srgbClr val="444444"/>
                </a:solidFill>
                <a:latin typeface="Manrope" pitchFamily="2" charset="0"/>
              </a:rPr>
              <a:t>Training needs, KPIs, governance model and change management. What it takes to embed AI into how the practice actually works with clients and internally.</a:t>
            </a:r>
          </a:p>
        </p:txBody>
      </p:sp>
      <p:sp>
        <p:nvSpPr>
          <p:cNvPr id="16" name="D7"/>
          <p:cNvSpPr/>
          <p:nvPr/>
        </p:nvSpPr>
        <p:spPr>
          <a:xfrm>
            <a:off x="5358150" y="2591642"/>
            <a:ext cx="1920000" cy="1560000"/>
          </a:xfrm>
          <a:prstGeom prst="rect">
            <a:avLst/>
          </a:prstGeom>
          <a:solidFill>
            <a:srgbClr val="EBF3FA"/>
          </a:solidFill>
          <a:ln>
            <a:noFill/>
          </a:ln>
        </p:spPr>
        <p:txBody>
          <a:bodyPr wrap="square" lIns="140000" tIns="130000" rIns="140000" bIns="100000" anchor="t"/>
          <a:lstStyle/>
          <a:p>
            <a:pPr algn="l">
              <a:spcBef>
                <a:spcPts val="0"/>
              </a:spcBef>
              <a:buNone/>
            </a:pPr>
            <a:r>
              <a:rPr lang="en-US" sz="700" b="1" dirty="0">
                <a:solidFill>
                  <a:schemeClr val="accent1"/>
                </a:solidFill>
                <a:latin typeface="Manrope" pitchFamily="2" charset="0"/>
              </a:rPr>
              <a:t>07</a:t>
            </a:r>
          </a:p>
          <a:p>
            <a:pPr algn="l">
              <a:spcBef>
                <a:spcPts val="180"/>
              </a:spcBef>
              <a:buNone/>
            </a:pPr>
            <a:r>
              <a:rPr lang="en-US" sz="1100" b="1" dirty="0">
                <a:solidFill>
                  <a:srgbClr val="1F4E79"/>
                </a:solidFill>
                <a:latin typeface="Manrope" pitchFamily="2" charset="0"/>
              </a:rPr>
              <a:t>Investment case</a:t>
            </a:r>
            <a:endParaRPr lang="en-US" sz="1100" b="1" dirty="0">
              <a:solidFill>
                <a:srgbClr val="1F4E79"/>
              </a:solidFill>
              <a:latin typeface="Manrope" pitchFamily="2" charset="0"/>
              <a:ea typeface="Calibri"/>
              <a:cs typeface="Calibri"/>
            </a:endParaRPr>
          </a:p>
          <a:p>
            <a:pPr algn="l">
              <a:spcBef>
                <a:spcPts val="300"/>
              </a:spcBef>
              <a:buNone/>
            </a:pPr>
            <a:r>
              <a:rPr lang="en-US" sz="900" dirty="0">
                <a:solidFill>
                  <a:srgbClr val="444444"/>
                </a:solidFill>
                <a:latin typeface="Manrope" pitchFamily="2" charset="0"/>
              </a:rPr>
              <a:t>Enterprise license options, infrastructure cost, dedicated AI role/s, what it costs, what it covers.</a:t>
            </a:r>
          </a:p>
        </p:txBody>
      </p:sp>
      <p:pic>
        <p:nvPicPr>
          <p:cNvPr id="4" name="Image 0" descr="preencoded.png">
            <a:extLst>
              <a:ext uri="{FF2B5EF4-FFF2-40B4-BE49-F238E27FC236}">
                <a16:creationId xmlns:a16="http://schemas.microsoft.com/office/drawing/2014/main" id="{D158251E-6ABA-3AF0-71A8-BAA98F7649EC}"/>
              </a:ext>
            </a:extLst>
          </p:cNvPr>
          <p:cNvPicPr>
            <a:picLocks noChangeAspect="1"/>
          </p:cNvPicPr>
          <p:nvPr/>
        </p:nvPicPr>
        <p:blipFill>
          <a:blip r:embed="rId2"/>
          <a:stretch>
            <a:fillRect/>
          </a:stretch>
        </p:blipFill>
        <p:spPr>
          <a:xfrm>
            <a:off x="8092440" y="4777740"/>
            <a:ext cx="548640" cy="292608"/>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16</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What we built and what we didn’t</a:t>
            </a:r>
            <a:endParaRPr lang="en-US" sz="2000" dirty="0"/>
          </a:p>
        </p:txBody>
      </p:sp>
      <p:sp>
        <p:nvSpPr>
          <p:cNvPr id="5" name="Text 2"/>
          <p:cNvSpPr/>
          <p:nvPr/>
        </p:nvSpPr>
        <p:spPr>
          <a:xfrm>
            <a:off x="457200" y="777240"/>
            <a:ext cx="3977640" cy="201168"/>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Built</a:t>
            </a:r>
            <a:endParaRPr lang="en-US" sz="1000" dirty="0"/>
          </a:p>
        </p:txBody>
      </p:sp>
      <p:sp>
        <p:nvSpPr>
          <p:cNvPr id="6" name="Shape 3"/>
          <p:cNvSpPr/>
          <p:nvPr/>
        </p:nvSpPr>
        <p:spPr>
          <a:xfrm>
            <a:off x="457200" y="978408"/>
            <a:ext cx="3977640" cy="0"/>
          </a:xfrm>
          <a:prstGeom prst="line">
            <a:avLst/>
          </a:prstGeom>
          <a:noFill/>
          <a:ln w="19050">
            <a:solidFill>
              <a:srgbClr val="27AE60"/>
            </a:solidFill>
            <a:prstDash val="solid"/>
          </a:ln>
        </p:spPr>
        <p:txBody>
          <a:bodyPr/>
          <a:lstStyle/>
          <a:p>
            <a:endParaRPr lang="nl-NL"/>
          </a:p>
        </p:txBody>
      </p:sp>
      <p:sp>
        <p:nvSpPr>
          <p:cNvPr id="7" name="Text 4"/>
          <p:cNvSpPr/>
          <p:nvPr/>
        </p:nvSpPr>
        <p:spPr>
          <a:xfrm>
            <a:off x="457200" y="1194173"/>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2×2 scenario model (4 iterations)</a:t>
            </a:r>
            <a:endParaRPr lang="en-US" sz="850" dirty="0"/>
          </a:p>
        </p:txBody>
      </p:sp>
      <p:sp>
        <p:nvSpPr>
          <p:cNvPr id="8" name="Text 5"/>
          <p:cNvSpPr/>
          <p:nvPr/>
        </p:nvSpPr>
        <p:spPr>
          <a:xfrm>
            <a:off x="685800" y="1377053"/>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Speed × ambition axes. Four scenarios, route C→D→B. Drives all deliverables.</a:t>
            </a:r>
            <a:endParaRPr lang="en-US" sz="750" dirty="0"/>
          </a:p>
        </p:txBody>
      </p:sp>
      <p:sp>
        <p:nvSpPr>
          <p:cNvPr id="9" name="Text 6"/>
          <p:cNvSpPr/>
          <p:nvPr/>
        </p:nvSpPr>
        <p:spPr>
          <a:xfrm>
            <a:off x="457200" y="1600200"/>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34-task efficiency analysis (3 iterations)</a:t>
            </a:r>
            <a:endParaRPr lang="en-US" sz="850" dirty="0"/>
          </a:p>
        </p:txBody>
      </p:sp>
      <p:sp>
        <p:nvSpPr>
          <p:cNvPr id="10" name="Text 7"/>
          <p:cNvSpPr/>
          <p:nvPr/>
        </p:nvSpPr>
        <p:spPr>
          <a:xfrm>
            <a:off x="685800" y="1783080"/>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252h→135.5h. Stage-by-stage with AI readiness scores. Hour estimates corrected.</a:t>
            </a:r>
            <a:endParaRPr lang="en-US" sz="750" dirty="0"/>
          </a:p>
        </p:txBody>
      </p:sp>
      <p:sp>
        <p:nvSpPr>
          <p:cNvPr id="11" name="Text 8"/>
          <p:cNvSpPr/>
          <p:nvPr/>
        </p:nvSpPr>
        <p:spPr>
          <a:xfrm>
            <a:off x="457200" y="2411474"/>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Competitive landscape (2 iterations)</a:t>
            </a:r>
            <a:endParaRPr lang="en-US" sz="850" dirty="0"/>
          </a:p>
        </p:txBody>
      </p:sp>
      <p:sp>
        <p:nvSpPr>
          <p:cNvPr id="12" name="Text 9"/>
          <p:cNvSpPr/>
          <p:nvPr/>
        </p:nvSpPr>
        <p:spPr>
          <a:xfrm>
            <a:off x="685800" y="2594354"/>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Accenture, Walker, Ipsos, Kantar. All from public sources and documented.</a:t>
            </a:r>
            <a:endParaRPr lang="en-US" sz="750" dirty="0"/>
          </a:p>
        </p:txBody>
      </p:sp>
      <p:sp>
        <p:nvSpPr>
          <p:cNvPr id="17" name="Text 14"/>
          <p:cNvSpPr/>
          <p:nvPr/>
        </p:nvSpPr>
        <p:spPr>
          <a:xfrm>
            <a:off x="457200" y="2814537"/>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6 new product/service concepts</a:t>
            </a:r>
            <a:endParaRPr lang="en-US" sz="850" dirty="0"/>
          </a:p>
        </p:txBody>
      </p:sp>
      <p:sp>
        <p:nvSpPr>
          <p:cNvPr id="18" name="Text 15"/>
          <p:cNvSpPr/>
          <p:nvPr/>
        </p:nvSpPr>
        <p:spPr>
          <a:xfrm>
            <a:off x="685800" y="2997417"/>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Continuous Intelligence subscription, Automated Value Advisory,  XM command center, AI Governance.</a:t>
            </a:r>
            <a:endParaRPr lang="en-US" sz="750" dirty="0"/>
          </a:p>
        </p:txBody>
      </p:sp>
      <p:sp>
        <p:nvSpPr>
          <p:cNvPr id="19" name="Text 16"/>
          <p:cNvSpPr/>
          <p:nvPr/>
        </p:nvSpPr>
        <p:spPr>
          <a:xfrm>
            <a:off x="4709160" y="777240"/>
            <a:ext cx="3977640"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Gaps </a:t>
            </a:r>
            <a:endParaRPr lang="en-US" sz="1000" dirty="0"/>
          </a:p>
        </p:txBody>
      </p:sp>
      <p:sp>
        <p:nvSpPr>
          <p:cNvPr id="20" name="Shape 17"/>
          <p:cNvSpPr/>
          <p:nvPr/>
        </p:nvSpPr>
        <p:spPr>
          <a:xfrm>
            <a:off x="4709160" y="978408"/>
            <a:ext cx="3977640" cy="0"/>
          </a:xfrm>
          <a:prstGeom prst="line">
            <a:avLst/>
          </a:prstGeom>
          <a:noFill/>
          <a:ln w="19050">
            <a:solidFill>
              <a:srgbClr val="C0392B"/>
            </a:solidFill>
            <a:prstDash val="solid"/>
          </a:ln>
        </p:spPr>
        <p:txBody>
          <a:bodyPr/>
          <a:lstStyle/>
          <a:p>
            <a:endParaRPr lang="nl-NL"/>
          </a:p>
        </p:txBody>
      </p:sp>
      <p:sp>
        <p:nvSpPr>
          <p:cNvPr id="21" name="Text 18"/>
          <p:cNvSpPr/>
          <p:nvPr/>
        </p:nvSpPr>
        <p:spPr>
          <a:xfrm>
            <a:off x="4709160" y="1194173"/>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No client validation</a:t>
            </a:r>
            <a:endParaRPr lang="en-US" sz="850" dirty="0"/>
          </a:p>
        </p:txBody>
      </p:sp>
      <p:sp>
        <p:nvSpPr>
          <p:cNvPr id="22" name="Text 19"/>
          <p:cNvSpPr/>
          <p:nvPr/>
        </p:nvSpPr>
        <p:spPr>
          <a:xfrm>
            <a:off x="4937760" y="1377053"/>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Zero clients asked about willingness to pay for AI-augmented delivery or subscriptions.</a:t>
            </a:r>
            <a:endParaRPr lang="en-US" sz="750" dirty="0"/>
          </a:p>
        </p:txBody>
      </p:sp>
      <p:sp>
        <p:nvSpPr>
          <p:cNvPr id="23" name="Text 20"/>
          <p:cNvSpPr/>
          <p:nvPr/>
        </p:nvSpPr>
        <p:spPr>
          <a:xfrm>
            <a:off x="4709160" y="1600200"/>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Limited internal consultation</a:t>
            </a:r>
            <a:endParaRPr lang="en-US" sz="850" dirty="0"/>
          </a:p>
        </p:txBody>
      </p:sp>
      <p:sp>
        <p:nvSpPr>
          <p:cNvPr id="24" name="Text 21"/>
          <p:cNvSpPr/>
          <p:nvPr/>
        </p:nvSpPr>
        <p:spPr>
          <a:xfrm>
            <a:off x="4937760" y="1783080"/>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Two people involved. No team workshops. Deliberate choice: think first, consult second.</a:t>
            </a:r>
            <a:endParaRPr lang="en-US" sz="750" dirty="0"/>
          </a:p>
        </p:txBody>
      </p:sp>
      <p:sp>
        <p:nvSpPr>
          <p:cNvPr id="25" name="Text 22"/>
          <p:cNvSpPr/>
          <p:nvPr/>
        </p:nvSpPr>
        <p:spPr>
          <a:xfrm>
            <a:off x="4709160" y="2006227"/>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No working prototypes tested</a:t>
            </a:r>
            <a:endParaRPr lang="en-US" sz="850" dirty="0"/>
          </a:p>
        </p:txBody>
      </p:sp>
      <p:sp>
        <p:nvSpPr>
          <p:cNvPr id="26" name="Text 23"/>
          <p:cNvSpPr/>
          <p:nvPr/>
        </p:nvSpPr>
        <p:spPr>
          <a:xfrm>
            <a:off x="4937760" y="2189107"/>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6 concepts, 2 prototypes built. </a:t>
            </a:r>
            <a:endParaRPr lang="en-US" sz="750" dirty="0"/>
          </a:p>
        </p:txBody>
      </p:sp>
      <p:sp>
        <p:nvSpPr>
          <p:cNvPr id="29" name="Text 26"/>
          <p:cNvSpPr/>
          <p:nvPr/>
        </p:nvSpPr>
        <p:spPr>
          <a:xfrm>
            <a:off x="4709160" y="2405350"/>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Desktop research only</a:t>
            </a:r>
            <a:endParaRPr lang="en-US" sz="850" dirty="0"/>
          </a:p>
        </p:txBody>
      </p:sp>
      <p:sp>
        <p:nvSpPr>
          <p:cNvPr id="30" name="Text 27"/>
          <p:cNvSpPr/>
          <p:nvPr/>
        </p:nvSpPr>
        <p:spPr>
          <a:xfrm>
            <a:off x="4937760" y="2588230"/>
            <a:ext cx="3749040" cy="320040"/>
          </a:xfrm>
          <a:prstGeom prst="rect">
            <a:avLst/>
          </a:prstGeom>
          <a:noFill/>
          <a:ln/>
        </p:spPr>
        <p:txBody>
          <a:bodyPr wrap="square" lIns="0" tIns="0" rIns="0" bIns="0" rtlCol="0" anchor="t"/>
          <a:lstStyle/>
          <a:p>
            <a:pPr marL="0" indent="0">
              <a:lnSpc>
                <a:spcPct val="110000"/>
              </a:lnSpc>
              <a:buNone/>
            </a:pPr>
            <a:r>
              <a:rPr lang="en-US" sz="750" dirty="0">
                <a:solidFill>
                  <a:srgbClr val="666666"/>
                </a:solidFill>
                <a:latin typeface="Calibri" pitchFamily="34" charset="0"/>
                <a:ea typeface="Calibri" pitchFamily="34" charset="-122"/>
                <a:cs typeface="Calibri" pitchFamily="34" charset="-120"/>
              </a:rPr>
              <a:t>No interviews with competitors or analysts. Public sources. Directionally sound, not verified.</a:t>
            </a:r>
            <a:endParaRPr lang="en-US" sz="750" dirty="0"/>
          </a:p>
        </p:txBody>
      </p:sp>
      <p:sp>
        <p:nvSpPr>
          <p:cNvPr id="33" name="Text 14">
            <a:extLst>
              <a:ext uri="{FF2B5EF4-FFF2-40B4-BE49-F238E27FC236}">
                <a16:creationId xmlns:a16="http://schemas.microsoft.com/office/drawing/2014/main" id="{F4EC845F-3875-003F-027F-024224CC5576}"/>
              </a:ext>
            </a:extLst>
          </p:cNvPr>
          <p:cNvSpPr/>
          <p:nvPr/>
        </p:nvSpPr>
        <p:spPr>
          <a:xfrm>
            <a:off x="457200" y="1988820"/>
            <a:ext cx="3977640" cy="182880"/>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  5 + 5 Key initiatives </a:t>
            </a:r>
            <a:endParaRPr lang="en-US" sz="850" dirty="0"/>
          </a:p>
        </p:txBody>
      </p:sp>
      <p:sp>
        <p:nvSpPr>
          <p:cNvPr id="34" name="Text 15">
            <a:extLst>
              <a:ext uri="{FF2B5EF4-FFF2-40B4-BE49-F238E27FC236}">
                <a16:creationId xmlns:a16="http://schemas.microsoft.com/office/drawing/2014/main" id="{95F8E77C-2ADE-77B0-78B8-94271A02EC53}"/>
              </a:ext>
            </a:extLst>
          </p:cNvPr>
          <p:cNvSpPr/>
          <p:nvPr/>
        </p:nvSpPr>
        <p:spPr>
          <a:xfrm>
            <a:off x="685800" y="2171700"/>
            <a:ext cx="3749040" cy="320040"/>
          </a:xfrm>
          <a:prstGeom prst="rect">
            <a:avLst/>
          </a:prstGeom>
          <a:noFill/>
          <a:ln/>
        </p:spPr>
        <p:txBody>
          <a:bodyPr wrap="square" lIns="0" tIns="0" rIns="0" bIns="0" rtlCol="0" anchor="t"/>
          <a:lstStyle/>
          <a:p>
            <a:pPr marL="0" indent="0">
              <a:buNone/>
            </a:pPr>
            <a:r>
              <a:rPr lang="en-US" sz="800" dirty="0">
                <a:solidFill>
                  <a:srgbClr val="666666"/>
                </a:solidFill>
                <a:latin typeface="Calibri" pitchFamily="34" charset="0"/>
                <a:ea typeface="Calibri" pitchFamily="34" charset="-122"/>
                <a:cs typeface="Calibri" pitchFamily="34" charset="-120"/>
              </a:rPr>
              <a:t>Foundation. Governance first, then capability, then delivery transformation.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2</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How we want to approach this meeting</a:t>
            </a:r>
            <a:endParaRPr lang="en-US" sz="2000" dirty="0"/>
          </a:p>
        </p:txBody>
      </p:sp>
      <p:sp>
        <p:nvSpPr>
          <p:cNvPr id="5" name="Shape 2"/>
          <p:cNvSpPr/>
          <p:nvPr/>
        </p:nvSpPr>
        <p:spPr>
          <a:xfrm>
            <a:off x="457200" y="777240"/>
            <a:ext cx="8229600" cy="320040"/>
          </a:xfrm>
          <a:prstGeom prst="rect">
            <a:avLst/>
          </a:prstGeom>
          <a:solidFill>
            <a:srgbClr val="FFF8E1"/>
          </a:solidFill>
          <a:ln/>
        </p:spPr>
        <p:txBody>
          <a:bodyPr/>
          <a:lstStyle/>
          <a:p>
            <a:endParaRPr lang="nl-NL"/>
          </a:p>
        </p:txBody>
      </p:sp>
      <p:sp>
        <p:nvSpPr>
          <p:cNvPr id="6" name="Text 3"/>
          <p:cNvSpPr/>
          <p:nvPr/>
        </p:nvSpPr>
        <p:spPr>
          <a:xfrm>
            <a:off x="594360" y="777240"/>
            <a:ext cx="7955280" cy="320040"/>
          </a:xfrm>
          <a:prstGeom prst="rect">
            <a:avLst/>
          </a:prstGeom>
          <a:noFill/>
          <a:ln/>
        </p:spPr>
        <p:txBody>
          <a:bodyPr wrap="square" lIns="0" tIns="0" rIns="0" bIns="0" rtlCol="0" anchor="ctr"/>
          <a:lstStyle/>
          <a:p>
            <a:pPr marL="0" indent="0">
              <a:buNone/>
            </a:pPr>
            <a:r>
              <a:rPr lang="en-US" sz="900" i="1" dirty="0">
                <a:solidFill>
                  <a:srgbClr val="333333"/>
                </a:solidFill>
                <a:latin typeface="Calibri" pitchFamily="34" charset="0"/>
                <a:ea typeface="Calibri" pitchFamily="34" charset="-122"/>
                <a:cs typeface="Calibri" pitchFamily="34" charset="-120"/>
              </a:rPr>
              <a:t>This is a direction-validation session. The goal: align on where we are, what we learned, and the path to presenting the XM + AI point of view to Yoav.</a:t>
            </a:r>
            <a:endParaRPr lang="en-US" sz="900" dirty="0"/>
          </a:p>
        </p:txBody>
      </p:sp>
      <p:sp>
        <p:nvSpPr>
          <p:cNvPr id="7" name="Shape 4"/>
          <p:cNvSpPr/>
          <p:nvPr/>
        </p:nvSpPr>
        <p:spPr>
          <a:xfrm>
            <a:off x="457200" y="1234440"/>
            <a:ext cx="54864" cy="548640"/>
          </a:xfrm>
          <a:prstGeom prst="rect">
            <a:avLst/>
          </a:prstGeom>
          <a:solidFill>
            <a:srgbClr val="F0AC00"/>
          </a:solidFill>
          <a:ln/>
        </p:spPr>
        <p:txBody>
          <a:bodyPr/>
          <a:lstStyle/>
          <a:p>
            <a:endParaRPr lang="nl-NL"/>
          </a:p>
        </p:txBody>
      </p:sp>
      <p:sp>
        <p:nvSpPr>
          <p:cNvPr id="8" name="Text 5"/>
          <p:cNvSpPr/>
          <p:nvPr/>
        </p:nvSpPr>
        <p:spPr>
          <a:xfrm>
            <a:off x="594360" y="1234440"/>
            <a:ext cx="228600" cy="228600"/>
          </a:xfrm>
          <a:prstGeom prst="rect">
            <a:avLst/>
          </a:prstGeom>
          <a:noFill/>
          <a:ln/>
        </p:spPr>
        <p:txBody>
          <a:bodyPr wrap="square" lIns="0" tIns="0" rIns="0" bIns="0" rtlCol="0" anchor="ctr"/>
          <a:lstStyle/>
          <a:p>
            <a:pPr marL="0" indent="0">
              <a:buNone/>
            </a:pPr>
            <a:r>
              <a:rPr lang="en-US" sz="1400" b="1" dirty="0">
                <a:solidFill>
                  <a:srgbClr val="F0AC00"/>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868680" y="1234440"/>
            <a:ext cx="5486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Get on the same page</a:t>
            </a:r>
            <a:endParaRPr lang="en-US" sz="1100" dirty="0"/>
          </a:p>
        </p:txBody>
      </p:sp>
      <p:sp>
        <p:nvSpPr>
          <p:cNvPr id="10" name="Text 7"/>
          <p:cNvSpPr/>
          <p:nvPr/>
        </p:nvSpPr>
        <p:spPr>
          <a:xfrm>
            <a:off x="868680" y="1463040"/>
            <a:ext cx="6858000" cy="292608"/>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Share what we did, how we did it, what sources we used, and what we built. </a:t>
            </a:r>
            <a:endParaRPr lang="en-US" sz="900" dirty="0"/>
          </a:p>
        </p:txBody>
      </p:sp>
      <p:sp>
        <p:nvSpPr>
          <p:cNvPr id="12" name="Shape 9"/>
          <p:cNvSpPr/>
          <p:nvPr/>
        </p:nvSpPr>
        <p:spPr>
          <a:xfrm>
            <a:off x="457200" y="1892808"/>
            <a:ext cx="54864" cy="548640"/>
          </a:xfrm>
          <a:prstGeom prst="rect">
            <a:avLst/>
          </a:prstGeom>
          <a:solidFill>
            <a:srgbClr val="27AE60"/>
          </a:solidFill>
          <a:ln/>
        </p:spPr>
        <p:txBody>
          <a:bodyPr/>
          <a:lstStyle/>
          <a:p>
            <a:endParaRPr lang="nl-NL"/>
          </a:p>
        </p:txBody>
      </p:sp>
      <p:sp>
        <p:nvSpPr>
          <p:cNvPr id="13" name="Text 10"/>
          <p:cNvSpPr/>
          <p:nvPr/>
        </p:nvSpPr>
        <p:spPr>
          <a:xfrm>
            <a:off x="594360" y="1892808"/>
            <a:ext cx="228600" cy="228600"/>
          </a:xfrm>
          <a:prstGeom prst="rect">
            <a:avLst/>
          </a:prstGeom>
          <a:noFill/>
          <a:ln/>
        </p:spPr>
        <p:txBody>
          <a:bodyPr wrap="square" lIns="0" tIns="0" rIns="0" bIns="0" rtlCol="0" anchor="ctr"/>
          <a:lstStyle/>
          <a:p>
            <a:pPr marL="0" indent="0">
              <a:buNone/>
            </a:pPr>
            <a:r>
              <a:rPr lang="en-US" sz="1400" b="1" dirty="0">
                <a:solidFill>
                  <a:srgbClr val="27AE60"/>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868680" y="1892808"/>
            <a:ext cx="5486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Share what we learned</a:t>
            </a:r>
            <a:endParaRPr lang="en-US" sz="1100" dirty="0"/>
          </a:p>
        </p:txBody>
      </p:sp>
      <p:sp>
        <p:nvSpPr>
          <p:cNvPr id="15" name="Text 12"/>
          <p:cNvSpPr/>
          <p:nvPr/>
        </p:nvSpPr>
        <p:spPr>
          <a:xfrm>
            <a:off x="868680" y="2121408"/>
            <a:ext cx="6858000" cy="292608"/>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Ten findings grounded in evidence about the market, the competition, the Qualtrics platform, and our own practice. </a:t>
            </a:r>
            <a:endParaRPr lang="en-US" sz="900" dirty="0"/>
          </a:p>
        </p:txBody>
      </p:sp>
      <p:sp>
        <p:nvSpPr>
          <p:cNvPr id="17" name="Shape 14"/>
          <p:cNvSpPr/>
          <p:nvPr/>
        </p:nvSpPr>
        <p:spPr>
          <a:xfrm>
            <a:off x="457200" y="2551176"/>
            <a:ext cx="54864" cy="548640"/>
          </a:xfrm>
          <a:prstGeom prst="rect">
            <a:avLst/>
          </a:prstGeom>
          <a:solidFill>
            <a:srgbClr val="2980B9"/>
          </a:solidFill>
          <a:ln/>
        </p:spPr>
        <p:txBody>
          <a:bodyPr/>
          <a:lstStyle/>
          <a:p>
            <a:endParaRPr lang="nl-NL"/>
          </a:p>
        </p:txBody>
      </p:sp>
      <p:sp>
        <p:nvSpPr>
          <p:cNvPr id="18" name="Text 15"/>
          <p:cNvSpPr/>
          <p:nvPr/>
        </p:nvSpPr>
        <p:spPr>
          <a:xfrm>
            <a:off x="594360" y="2551176"/>
            <a:ext cx="228600" cy="228600"/>
          </a:xfrm>
          <a:prstGeom prst="rect">
            <a:avLst/>
          </a:prstGeom>
          <a:noFill/>
          <a:ln/>
        </p:spPr>
        <p:txBody>
          <a:bodyPr wrap="square" lIns="0" tIns="0" rIns="0" bIns="0" rtlCol="0" anchor="ctr"/>
          <a:lstStyle/>
          <a:p>
            <a:pPr marL="0" indent="0">
              <a:buNone/>
            </a:pPr>
            <a:r>
              <a:rPr lang="en-US" sz="1400" b="1" dirty="0">
                <a:solidFill>
                  <a:srgbClr val="2980B9"/>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868680" y="2551176"/>
            <a:ext cx="5486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Present the options</a:t>
            </a:r>
            <a:endParaRPr lang="en-US" sz="1100" dirty="0"/>
          </a:p>
        </p:txBody>
      </p:sp>
      <p:sp>
        <p:nvSpPr>
          <p:cNvPr id="20" name="Text 17"/>
          <p:cNvSpPr/>
          <p:nvPr/>
        </p:nvSpPr>
        <p:spPr>
          <a:xfrm>
            <a:off x="868680" y="2779776"/>
            <a:ext cx="6858000" cy="292608"/>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Four scenarios, a recommended route (C→D→B), and two phases of initiatives. </a:t>
            </a:r>
            <a:endParaRPr lang="en-US" sz="900" dirty="0"/>
          </a:p>
        </p:txBody>
      </p:sp>
      <p:sp>
        <p:nvSpPr>
          <p:cNvPr id="27" name="Shape 24"/>
          <p:cNvSpPr/>
          <p:nvPr/>
        </p:nvSpPr>
        <p:spPr>
          <a:xfrm>
            <a:off x="457200" y="3236012"/>
            <a:ext cx="54864" cy="548640"/>
          </a:xfrm>
          <a:prstGeom prst="rect">
            <a:avLst/>
          </a:prstGeom>
          <a:solidFill>
            <a:srgbClr val="8E44AD"/>
          </a:solidFill>
          <a:ln/>
        </p:spPr>
        <p:txBody>
          <a:bodyPr/>
          <a:lstStyle/>
          <a:p>
            <a:endParaRPr lang="nl-NL"/>
          </a:p>
        </p:txBody>
      </p:sp>
      <p:sp>
        <p:nvSpPr>
          <p:cNvPr id="28" name="Text 25"/>
          <p:cNvSpPr/>
          <p:nvPr/>
        </p:nvSpPr>
        <p:spPr>
          <a:xfrm>
            <a:off x="594360" y="3236012"/>
            <a:ext cx="228600" cy="228600"/>
          </a:xfrm>
          <a:prstGeom prst="rect">
            <a:avLst/>
          </a:prstGeom>
          <a:noFill/>
          <a:ln/>
        </p:spPr>
        <p:txBody>
          <a:bodyPr wrap="square" lIns="0" tIns="0" rIns="0" bIns="0" rtlCol="0" anchor="ctr"/>
          <a:lstStyle/>
          <a:p>
            <a:pPr marL="0" indent="0">
              <a:buNone/>
            </a:pPr>
            <a:r>
              <a:rPr lang="en-US" sz="1400" b="1" dirty="0">
                <a:solidFill>
                  <a:srgbClr val="8E44AD"/>
                </a:solidFill>
                <a:latin typeface="Calibri" pitchFamily="34" charset="0"/>
                <a:cs typeface="Calibri" pitchFamily="34" charset="-120"/>
              </a:rPr>
              <a:t>4</a:t>
            </a:r>
            <a:endParaRPr lang="en-US" sz="1400" dirty="0"/>
          </a:p>
        </p:txBody>
      </p:sp>
      <p:sp>
        <p:nvSpPr>
          <p:cNvPr id="29" name="Text 26"/>
          <p:cNvSpPr/>
          <p:nvPr/>
        </p:nvSpPr>
        <p:spPr>
          <a:xfrm>
            <a:off x="868680" y="3236012"/>
            <a:ext cx="5486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Decide the path to Yoav’s input </a:t>
            </a:r>
            <a:endParaRPr lang="en-US" sz="1100" dirty="0"/>
          </a:p>
        </p:txBody>
      </p:sp>
      <p:sp>
        <p:nvSpPr>
          <p:cNvPr id="30" name="Text 27"/>
          <p:cNvSpPr/>
          <p:nvPr/>
        </p:nvSpPr>
        <p:spPr>
          <a:xfrm>
            <a:off x="868680" y="3464612"/>
            <a:ext cx="6858000" cy="292608"/>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Agree on what we present to Yoav, and what we still need to prepare.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4</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Where the value is moving</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The composition of XM programmes is inverting. AI compresses listening; the market pays for action.</a:t>
            </a:r>
            <a:endParaRPr lang="en-US" sz="1100" dirty="0"/>
          </a:p>
        </p:txBody>
      </p:sp>
      <p:sp>
        <p:nvSpPr>
          <p:cNvPr id="6" name="Shape 3"/>
          <p:cNvSpPr/>
          <p:nvPr/>
        </p:nvSpPr>
        <p:spPr>
          <a:xfrm>
            <a:off x="822960" y="1234440"/>
            <a:ext cx="3200400" cy="36576"/>
          </a:xfrm>
          <a:prstGeom prst="rect">
            <a:avLst/>
          </a:prstGeom>
          <a:solidFill>
            <a:srgbClr val="F0AC00"/>
          </a:solidFill>
          <a:ln/>
        </p:spPr>
        <p:txBody>
          <a:bodyPr/>
          <a:lstStyle/>
          <a:p>
            <a:endParaRPr lang="nl-NL"/>
          </a:p>
        </p:txBody>
      </p:sp>
      <p:sp>
        <p:nvSpPr>
          <p:cNvPr id="7" name="Shape 4"/>
          <p:cNvSpPr/>
          <p:nvPr/>
        </p:nvSpPr>
        <p:spPr>
          <a:xfrm>
            <a:off x="868680" y="1325880"/>
            <a:ext cx="3108960" cy="731520"/>
          </a:xfrm>
          <a:prstGeom prst="rect">
            <a:avLst/>
          </a:prstGeom>
          <a:solidFill>
            <a:srgbClr val="FFF3D0"/>
          </a:solidFill>
          <a:ln/>
        </p:spPr>
        <p:txBody>
          <a:bodyPr/>
          <a:lstStyle/>
          <a:p>
            <a:endParaRPr lang="nl-NL"/>
          </a:p>
        </p:txBody>
      </p:sp>
      <p:sp>
        <p:nvSpPr>
          <p:cNvPr id="8" name="Text 5"/>
          <p:cNvSpPr/>
          <p:nvPr/>
        </p:nvSpPr>
        <p:spPr>
          <a:xfrm>
            <a:off x="978408" y="1380744"/>
            <a:ext cx="2889504" cy="201168"/>
          </a:xfrm>
          <a:prstGeom prst="rect">
            <a:avLst/>
          </a:prstGeom>
          <a:noFill/>
          <a:ln/>
        </p:spPr>
        <p:txBody>
          <a:bodyPr wrap="square" lIns="0" tIns="0" rIns="0" bIns="0" rtlCol="0" anchor="ctr"/>
          <a:lstStyle/>
          <a:p>
            <a:pPr marL="0" indent="0">
              <a:buNone/>
            </a:pPr>
            <a:r>
              <a:rPr lang="en-US" sz="1200" b="1" dirty="0">
                <a:solidFill>
                  <a:srgbClr val="F0AC00"/>
                </a:solidFill>
                <a:latin typeface="Calibri" pitchFamily="34" charset="0"/>
                <a:ea typeface="Calibri" pitchFamily="34" charset="-122"/>
                <a:cs typeface="Calibri" pitchFamily="34" charset="-120"/>
              </a:rPr>
              <a:t>Listen</a:t>
            </a:r>
            <a:endParaRPr lang="en-US" sz="1200" dirty="0"/>
          </a:p>
        </p:txBody>
      </p:sp>
      <p:sp>
        <p:nvSpPr>
          <p:cNvPr id="9" name="Text 6"/>
          <p:cNvSpPr/>
          <p:nvPr/>
        </p:nvSpPr>
        <p:spPr>
          <a:xfrm>
            <a:off x="3337560" y="1380744"/>
            <a:ext cx="548640" cy="201168"/>
          </a:xfrm>
          <a:prstGeom prst="rect">
            <a:avLst/>
          </a:prstGeom>
          <a:noFill/>
          <a:ln/>
        </p:spPr>
        <p:txBody>
          <a:bodyPr wrap="square" lIns="0" tIns="0" rIns="0" bIns="0" rtlCol="0" anchor="ctr"/>
          <a:lstStyle/>
          <a:p>
            <a:pPr marL="0" indent="0" algn="r">
              <a:buNone/>
            </a:pPr>
            <a:r>
              <a:rPr lang="en-US" sz="1100" b="1" dirty="0">
                <a:solidFill>
                  <a:srgbClr val="F0AC00"/>
                </a:solidFill>
                <a:latin typeface="Calibri" pitchFamily="34" charset="0"/>
                <a:ea typeface="Calibri" pitchFamily="34" charset="-122"/>
                <a:cs typeface="Calibri" pitchFamily="34" charset="-120"/>
              </a:rPr>
              <a:t>~70%</a:t>
            </a:r>
            <a:endParaRPr lang="en-US" sz="1100" dirty="0"/>
          </a:p>
        </p:txBody>
      </p:sp>
      <p:sp>
        <p:nvSpPr>
          <p:cNvPr id="10" name="Text 7"/>
          <p:cNvSpPr/>
          <p:nvPr/>
        </p:nvSpPr>
        <p:spPr>
          <a:xfrm>
            <a:off x="978408" y="1618488"/>
            <a:ext cx="2889504" cy="384048"/>
          </a:xfrm>
          <a:prstGeom prst="rect">
            <a:avLst/>
          </a:prstGeom>
          <a:noFill/>
          <a:ln/>
        </p:spPr>
        <p:txBody>
          <a:bodyPr wrap="square" lIns="0" tIns="0" rIns="0" bIns="0" rtlCol="0" anchor="t"/>
          <a:lstStyle/>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Survey design, listening architecture,</a:t>
            </a:r>
            <a:endParaRPr lang="en-US" sz="850" dirty="0"/>
          </a:p>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programme configuration</a:t>
            </a:r>
            <a:endParaRPr lang="en-US" sz="850" dirty="0"/>
          </a:p>
        </p:txBody>
      </p:sp>
      <p:sp>
        <p:nvSpPr>
          <p:cNvPr id="11" name="Shape 8"/>
          <p:cNvSpPr/>
          <p:nvPr/>
        </p:nvSpPr>
        <p:spPr>
          <a:xfrm>
            <a:off x="1325880" y="2148840"/>
            <a:ext cx="2194560" cy="731520"/>
          </a:xfrm>
          <a:prstGeom prst="rect">
            <a:avLst/>
          </a:prstGeom>
          <a:solidFill>
            <a:srgbClr val="E8F4FD"/>
          </a:solidFill>
          <a:ln/>
        </p:spPr>
        <p:txBody>
          <a:bodyPr/>
          <a:lstStyle/>
          <a:p>
            <a:endParaRPr lang="nl-NL"/>
          </a:p>
        </p:txBody>
      </p:sp>
      <p:sp>
        <p:nvSpPr>
          <p:cNvPr id="12" name="Text 9"/>
          <p:cNvSpPr/>
          <p:nvPr/>
        </p:nvSpPr>
        <p:spPr>
          <a:xfrm>
            <a:off x="1435608" y="2203704"/>
            <a:ext cx="1975104" cy="201168"/>
          </a:xfrm>
          <a:prstGeom prst="rect">
            <a:avLst/>
          </a:prstGeom>
          <a:noFill/>
          <a:ln/>
        </p:spPr>
        <p:txBody>
          <a:bodyPr wrap="square" lIns="0" tIns="0" rIns="0" bIns="0" rtlCol="0" anchor="ctr"/>
          <a:lstStyle/>
          <a:p>
            <a:pPr marL="0" indent="0">
              <a:buNone/>
            </a:pPr>
            <a:r>
              <a:rPr lang="en-US" sz="1200" b="1" dirty="0">
                <a:solidFill>
                  <a:srgbClr val="2980B9"/>
                </a:solidFill>
                <a:latin typeface="Calibri" pitchFamily="34" charset="0"/>
                <a:ea typeface="Calibri" pitchFamily="34" charset="-122"/>
                <a:cs typeface="Calibri" pitchFamily="34" charset="-120"/>
              </a:rPr>
              <a:t>Understand</a:t>
            </a:r>
            <a:endParaRPr lang="en-US" sz="1200" dirty="0"/>
          </a:p>
        </p:txBody>
      </p:sp>
      <p:sp>
        <p:nvSpPr>
          <p:cNvPr id="13" name="Text 10"/>
          <p:cNvSpPr/>
          <p:nvPr/>
        </p:nvSpPr>
        <p:spPr>
          <a:xfrm>
            <a:off x="2880360" y="2203704"/>
            <a:ext cx="548640" cy="201168"/>
          </a:xfrm>
          <a:prstGeom prst="rect">
            <a:avLst/>
          </a:prstGeom>
          <a:noFill/>
          <a:ln/>
        </p:spPr>
        <p:txBody>
          <a:bodyPr wrap="square" lIns="0" tIns="0" rIns="0" bIns="0" rtlCol="0" anchor="ctr"/>
          <a:lstStyle/>
          <a:p>
            <a:pPr marL="0" indent="0" algn="r">
              <a:buNone/>
            </a:pPr>
            <a:r>
              <a:rPr lang="en-US" sz="1100" b="1" dirty="0">
                <a:solidFill>
                  <a:srgbClr val="2980B9"/>
                </a:solidFill>
                <a:latin typeface="Calibri" pitchFamily="34" charset="0"/>
                <a:ea typeface="Calibri" pitchFamily="34" charset="-122"/>
                <a:cs typeface="Calibri" pitchFamily="34" charset="-120"/>
              </a:rPr>
              <a:t>~20%</a:t>
            </a:r>
            <a:endParaRPr lang="en-US" sz="1100" dirty="0"/>
          </a:p>
        </p:txBody>
      </p:sp>
      <p:sp>
        <p:nvSpPr>
          <p:cNvPr id="14" name="Text 11"/>
          <p:cNvSpPr/>
          <p:nvPr/>
        </p:nvSpPr>
        <p:spPr>
          <a:xfrm>
            <a:off x="1435608" y="2441448"/>
            <a:ext cx="1975104" cy="384048"/>
          </a:xfrm>
          <a:prstGeom prst="rect">
            <a:avLst/>
          </a:prstGeom>
          <a:noFill/>
          <a:ln/>
        </p:spPr>
        <p:txBody>
          <a:bodyPr wrap="square" lIns="0" tIns="0" rIns="0" bIns="0" rtlCol="0" anchor="t"/>
          <a:lstStyle/>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TextIQ, StatsIQ, driver models,</a:t>
            </a:r>
            <a:endParaRPr lang="en-US" sz="850" dirty="0"/>
          </a:p>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analytical suite</a:t>
            </a:r>
            <a:endParaRPr lang="en-US" sz="850" dirty="0"/>
          </a:p>
        </p:txBody>
      </p:sp>
      <p:sp>
        <p:nvSpPr>
          <p:cNvPr id="16" name="Text 13"/>
          <p:cNvSpPr/>
          <p:nvPr/>
        </p:nvSpPr>
        <p:spPr>
          <a:xfrm>
            <a:off x="1892808" y="2935224"/>
            <a:ext cx="1060704" cy="201168"/>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Act</a:t>
            </a:r>
            <a:endParaRPr lang="en-US" sz="1200" dirty="0"/>
          </a:p>
        </p:txBody>
      </p:sp>
      <p:sp>
        <p:nvSpPr>
          <p:cNvPr id="17" name="Text 14"/>
          <p:cNvSpPr/>
          <p:nvPr/>
        </p:nvSpPr>
        <p:spPr>
          <a:xfrm>
            <a:off x="2423160" y="2935224"/>
            <a:ext cx="548640" cy="201168"/>
          </a:xfrm>
          <a:prstGeom prst="rect">
            <a:avLst/>
          </a:prstGeom>
          <a:noFill/>
          <a:ln/>
        </p:spPr>
        <p:txBody>
          <a:bodyPr wrap="square" lIns="0" tIns="0" rIns="0" bIns="0" rtlCol="0" anchor="ctr"/>
          <a:lstStyle/>
          <a:p>
            <a:pPr marL="0" indent="0" algn="r">
              <a:buNone/>
            </a:pPr>
            <a:r>
              <a:rPr lang="en-US" sz="1100" b="1" dirty="0">
                <a:solidFill>
                  <a:srgbClr val="C0392B"/>
                </a:solidFill>
                <a:latin typeface="Calibri" pitchFamily="34" charset="0"/>
                <a:ea typeface="Calibri" pitchFamily="34" charset="-122"/>
                <a:cs typeface="Calibri" pitchFamily="34" charset="-120"/>
              </a:rPr>
              <a:t>~10%</a:t>
            </a:r>
            <a:endParaRPr lang="en-US" sz="1100" dirty="0"/>
          </a:p>
        </p:txBody>
      </p:sp>
      <p:sp>
        <p:nvSpPr>
          <p:cNvPr id="18" name="Text 15"/>
          <p:cNvSpPr/>
          <p:nvPr/>
        </p:nvSpPr>
        <p:spPr>
          <a:xfrm>
            <a:off x="1892808" y="3172968"/>
            <a:ext cx="1060704" cy="384048"/>
          </a:xfrm>
          <a:prstGeom prst="rect">
            <a:avLst/>
          </a:prstGeom>
          <a:noFill/>
          <a:ln/>
        </p:spPr>
        <p:txBody>
          <a:bodyPr wrap="square" lIns="0" tIns="0" rIns="0" bIns="0" rtlCol="0" anchor="t"/>
          <a:lstStyle/>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Dashboards, basic workflows</a:t>
            </a:r>
            <a:endParaRPr lang="en-US" sz="850" dirty="0"/>
          </a:p>
        </p:txBody>
      </p:sp>
      <p:sp>
        <p:nvSpPr>
          <p:cNvPr id="19" name="Text 16"/>
          <p:cNvSpPr/>
          <p:nvPr/>
        </p:nvSpPr>
        <p:spPr>
          <a:xfrm>
            <a:off x="1874520" y="3703320"/>
            <a:ext cx="1097280" cy="228600"/>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Today</a:t>
            </a:r>
            <a:endParaRPr lang="en-US" sz="1300" dirty="0"/>
          </a:p>
        </p:txBody>
      </p:sp>
      <p:sp>
        <p:nvSpPr>
          <p:cNvPr id="20" name="Text 17"/>
          <p:cNvSpPr/>
          <p:nvPr/>
        </p:nvSpPr>
        <p:spPr>
          <a:xfrm>
            <a:off x="1051560" y="3913632"/>
            <a:ext cx="2743200" cy="18288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Budget follows configuration</a:t>
            </a:r>
            <a:endParaRPr lang="en-US" sz="900" dirty="0"/>
          </a:p>
        </p:txBody>
      </p:sp>
      <p:sp>
        <p:nvSpPr>
          <p:cNvPr id="21" name="Text 18"/>
          <p:cNvSpPr/>
          <p:nvPr/>
        </p:nvSpPr>
        <p:spPr>
          <a:xfrm>
            <a:off x="4069080" y="2103120"/>
            <a:ext cx="548640" cy="365760"/>
          </a:xfrm>
          <a:prstGeom prst="rect">
            <a:avLst/>
          </a:prstGeom>
          <a:noFill/>
          <a:ln/>
        </p:spPr>
        <p:txBody>
          <a:bodyPr wrap="square" rtlCol="0" anchor="ctr"/>
          <a:lstStyle/>
          <a:p>
            <a:pPr marL="0" indent="0" algn="ctr">
              <a:buNone/>
            </a:pPr>
            <a:r>
              <a:rPr lang="en-US" sz="2800" b="1" dirty="0">
                <a:solidFill>
                  <a:srgbClr val="F0AC00"/>
                </a:solidFill>
                <a:latin typeface="Calibri" pitchFamily="34" charset="0"/>
                <a:ea typeface="Calibri" pitchFamily="34" charset="-122"/>
                <a:cs typeface="Calibri" pitchFamily="34" charset="-120"/>
              </a:rPr>
              <a:t>→</a:t>
            </a:r>
            <a:endParaRPr lang="en-US" sz="2800" dirty="0"/>
          </a:p>
        </p:txBody>
      </p:sp>
      <p:sp>
        <p:nvSpPr>
          <p:cNvPr id="22" name="Text 19"/>
          <p:cNvSpPr/>
          <p:nvPr/>
        </p:nvSpPr>
        <p:spPr>
          <a:xfrm>
            <a:off x="3840480" y="2468880"/>
            <a:ext cx="1005840" cy="182880"/>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12 months</a:t>
            </a:r>
            <a:endParaRPr lang="en-US" sz="800" dirty="0"/>
          </a:p>
        </p:txBody>
      </p:sp>
      <p:sp>
        <p:nvSpPr>
          <p:cNvPr id="23" name="Shape 20"/>
          <p:cNvSpPr/>
          <p:nvPr/>
        </p:nvSpPr>
        <p:spPr>
          <a:xfrm>
            <a:off x="5029200" y="1234440"/>
            <a:ext cx="3200400" cy="36576"/>
          </a:xfrm>
          <a:prstGeom prst="rect">
            <a:avLst/>
          </a:prstGeom>
          <a:solidFill>
            <a:srgbClr val="F0AC00"/>
          </a:solidFill>
          <a:ln/>
        </p:spPr>
        <p:txBody>
          <a:bodyPr/>
          <a:lstStyle/>
          <a:p>
            <a:endParaRPr lang="nl-NL"/>
          </a:p>
        </p:txBody>
      </p:sp>
      <p:sp>
        <p:nvSpPr>
          <p:cNvPr id="24" name="Shape 21"/>
          <p:cNvSpPr/>
          <p:nvPr/>
        </p:nvSpPr>
        <p:spPr>
          <a:xfrm>
            <a:off x="5074920" y="1325880"/>
            <a:ext cx="3108960" cy="731520"/>
          </a:xfrm>
          <a:prstGeom prst="rect">
            <a:avLst/>
          </a:prstGeom>
          <a:solidFill>
            <a:srgbClr val="FDECEC"/>
          </a:solidFill>
          <a:ln/>
        </p:spPr>
        <p:txBody>
          <a:bodyPr/>
          <a:lstStyle/>
          <a:p>
            <a:endParaRPr lang="nl-NL"/>
          </a:p>
        </p:txBody>
      </p:sp>
      <p:sp>
        <p:nvSpPr>
          <p:cNvPr id="25" name="Text 22"/>
          <p:cNvSpPr/>
          <p:nvPr/>
        </p:nvSpPr>
        <p:spPr>
          <a:xfrm>
            <a:off x="5184648" y="1380744"/>
            <a:ext cx="2889504" cy="201168"/>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Act</a:t>
            </a:r>
            <a:endParaRPr lang="en-US" sz="1200" dirty="0"/>
          </a:p>
        </p:txBody>
      </p:sp>
      <p:sp>
        <p:nvSpPr>
          <p:cNvPr id="26" name="Text 23"/>
          <p:cNvSpPr/>
          <p:nvPr/>
        </p:nvSpPr>
        <p:spPr>
          <a:xfrm>
            <a:off x="7406640" y="1380744"/>
            <a:ext cx="685800" cy="201168"/>
          </a:xfrm>
          <a:prstGeom prst="rect">
            <a:avLst/>
          </a:prstGeom>
          <a:noFill/>
          <a:ln/>
        </p:spPr>
        <p:txBody>
          <a:bodyPr wrap="square" lIns="0" tIns="0" rIns="0" bIns="0" rtlCol="0" anchor="ctr"/>
          <a:lstStyle/>
          <a:p>
            <a:pPr marL="0" indent="0" algn="r">
              <a:buNone/>
            </a:pPr>
            <a:r>
              <a:rPr lang="en-US" sz="1100" b="1" dirty="0">
                <a:solidFill>
                  <a:srgbClr val="C0392B"/>
                </a:solidFill>
                <a:latin typeface="Calibri" pitchFamily="34" charset="0"/>
                <a:ea typeface="Calibri" pitchFamily="34" charset="-122"/>
                <a:cs typeface="Calibri" pitchFamily="34" charset="-120"/>
              </a:rPr>
              <a:t>60 - 70%</a:t>
            </a:r>
            <a:endParaRPr lang="en-US" sz="1100" dirty="0"/>
          </a:p>
        </p:txBody>
      </p:sp>
      <p:sp>
        <p:nvSpPr>
          <p:cNvPr id="27" name="Text 24"/>
          <p:cNvSpPr/>
          <p:nvPr/>
        </p:nvSpPr>
        <p:spPr>
          <a:xfrm>
            <a:off x="5184648" y="1618488"/>
            <a:ext cx="2889504" cy="384048"/>
          </a:xfrm>
          <a:prstGeom prst="rect">
            <a:avLst/>
          </a:prstGeom>
          <a:noFill/>
          <a:ln/>
        </p:spPr>
        <p:txBody>
          <a:bodyPr wrap="square" lIns="0" tIns="0" rIns="0" bIns="0" rtlCol="0" anchor="t"/>
          <a:lstStyle/>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Workflows, ticket routing, on-site team</a:t>
            </a:r>
            <a:endParaRPr lang="en-US" sz="850" dirty="0"/>
          </a:p>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activation, closed-loop action, agents</a:t>
            </a:r>
            <a:endParaRPr lang="en-US" sz="850" dirty="0"/>
          </a:p>
        </p:txBody>
      </p:sp>
      <p:sp>
        <p:nvSpPr>
          <p:cNvPr id="28" name="Shape 25"/>
          <p:cNvSpPr/>
          <p:nvPr/>
        </p:nvSpPr>
        <p:spPr>
          <a:xfrm>
            <a:off x="5532120" y="2148840"/>
            <a:ext cx="2194560" cy="731520"/>
          </a:xfrm>
          <a:prstGeom prst="rect">
            <a:avLst/>
          </a:prstGeom>
          <a:solidFill>
            <a:srgbClr val="E8F4FD"/>
          </a:solidFill>
          <a:ln/>
        </p:spPr>
        <p:txBody>
          <a:bodyPr/>
          <a:lstStyle/>
          <a:p>
            <a:endParaRPr lang="nl-NL"/>
          </a:p>
        </p:txBody>
      </p:sp>
      <p:sp>
        <p:nvSpPr>
          <p:cNvPr id="29" name="Text 26"/>
          <p:cNvSpPr/>
          <p:nvPr/>
        </p:nvSpPr>
        <p:spPr>
          <a:xfrm>
            <a:off x="5641848" y="2203704"/>
            <a:ext cx="1975104" cy="201168"/>
          </a:xfrm>
          <a:prstGeom prst="rect">
            <a:avLst/>
          </a:prstGeom>
          <a:noFill/>
          <a:ln/>
        </p:spPr>
        <p:txBody>
          <a:bodyPr wrap="square" lIns="0" tIns="0" rIns="0" bIns="0" rtlCol="0" anchor="ctr"/>
          <a:lstStyle/>
          <a:p>
            <a:pPr marL="0" indent="0">
              <a:buNone/>
            </a:pPr>
            <a:r>
              <a:rPr lang="en-US" sz="1200" b="1" dirty="0">
                <a:solidFill>
                  <a:srgbClr val="2980B9"/>
                </a:solidFill>
                <a:latin typeface="Calibri" pitchFamily="34" charset="0"/>
                <a:ea typeface="Calibri" pitchFamily="34" charset="-122"/>
                <a:cs typeface="Calibri" pitchFamily="34" charset="-120"/>
              </a:rPr>
              <a:t>Understand</a:t>
            </a:r>
            <a:endParaRPr lang="en-US" sz="1200" dirty="0"/>
          </a:p>
        </p:txBody>
      </p:sp>
      <p:sp>
        <p:nvSpPr>
          <p:cNvPr id="30" name="Text 27"/>
          <p:cNvSpPr/>
          <p:nvPr/>
        </p:nvSpPr>
        <p:spPr>
          <a:xfrm>
            <a:off x="6949440" y="2203704"/>
            <a:ext cx="685800" cy="201168"/>
          </a:xfrm>
          <a:prstGeom prst="rect">
            <a:avLst/>
          </a:prstGeom>
          <a:noFill/>
          <a:ln/>
        </p:spPr>
        <p:txBody>
          <a:bodyPr wrap="square" lIns="0" tIns="0" rIns="0" bIns="0" rtlCol="0" anchor="ctr"/>
          <a:lstStyle/>
          <a:p>
            <a:pPr marL="0" indent="0" algn="r">
              <a:buNone/>
            </a:pPr>
            <a:r>
              <a:rPr lang="en-US" sz="1100" b="1" dirty="0">
                <a:solidFill>
                  <a:srgbClr val="2980B9"/>
                </a:solidFill>
                <a:latin typeface="Calibri" pitchFamily="34" charset="0"/>
                <a:ea typeface="Calibri" pitchFamily="34" charset="-122"/>
                <a:cs typeface="Calibri" pitchFamily="34" charset="-120"/>
              </a:rPr>
              <a:t>20 - 30%</a:t>
            </a:r>
            <a:endParaRPr lang="en-US" sz="1100" dirty="0"/>
          </a:p>
        </p:txBody>
      </p:sp>
      <p:sp>
        <p:nvSpPr>
          <p:cNvPr id="31" name="Text 28"/>
          <p:cNvSpPr/>
          <p:nvPr/>
        </p:nvSpPr>
        <p:spPr>
          <a:xfrm>
            <a:off x="5641848" y="2441448"/>
            <a:ext cx="1975104" cy="384048"/>
          </a:xfrm>
          <a:prstGeom prst="rect">
            <a:avLst/>
          </a:prstGeom>
          <a:noFill/>
          <a:ln/>
        </p:spPr>
        <p:txBody>
          <a:bodyPr wrap="square" lIns="0" tIns="0" rIns="0" bIns="0" rtlCol="0" anchor="t"/>
          <a:lstStyle/>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AI-augmented analysis, predictive</a:t>
            </a:r>
            <a:endParaRPr lang="en-US" sz="850" dirty="0"/>
          </a:p>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models, domain intelligence</a:t>
            </a:r>
            <a:endParaRPr lang="en-US" sz="850" dirty="0"/>
          </a:p>
        </p:txBody>
      </p:sp>
      <p:sp>
        <p:nvSpPr>
          <p:cNvPr id="32" name="Shape 29"/>
          <p:cNvSpPr/>
          <p:nvPr/>
        </p:nvSpPr>
        <p:spPr>
          <a:xfrm>
            <a:off x="5989320" y="2880360"/>
            <a:ext cx="1280160" cy="731520"/>
          </a:xfrm>
          <a:prstGeom prst="rect">
            <a:avLst/>
          </a:prstGeom>
          <a:solidFill>
            <a:srgbClr val="FFF3D0"/>
          </a:solidFill>
          <a:ln/>
        </p:spPr>
        <p:txBody>
          <a:bodyPr/>
          <a:lstStyle/>
          <a:p>
            <a:endParaRPr lang="nl-NL"/>
          </a:p>
        </p:txBody>
      </p:sp>
      <p:sp>
        <p:nvSpPr>
          <p:cNvPr id="33" name="Text 30"/>
          <p:cNvSpPr/>
          <p:nvPr/>
        </p:nvSpPr>
        <p:spPr>
          <a:xfrm>
            <a:off x="6099048" y="2935224"/>
            <a:ext cx="1060704" cy="201168"/>
          </a:xfrm>
          <a:prstGeom prst="rect">
            <a:avLst/>
          </a:prstGeom>
          <a:noFill/>
          <a:ln/>
        </p:spPr>
        <p:txBody>
          <a:bodyPr wrap="square" lIns="0" tIns="0" rIns="0" bIns="0" rtlCol="0" anchor="ctr"/>
          <a:lstStyle/>
          <a:p>
            <a:pPr marL="0" indent="0">
              <a:buNone/>
            </a:pPr>
            <a:r>
              <a:rPr lang="en-US" sz="1200" b="1" dirty="0">
                <a:solidFill>
                  <a:srgbClr val="F0AC00"/>
                </a:solidFill>
                <a:latin typeface="Calibri" pitchFamily="34" charset="0"/>
                <a:ea typeface="Calibri" pitchFamily="34" charset="-122"/>
                <a:cs typeface="Calibri" pitchFamily="34" charset="-120"/>
              </a:rPr>
              <a:t>Listen</a:t>
            </a:r>
            <a:endParaRPr lang="en-US" sz="1200" dirty="0"/>
          </a:p>
        </p:txBody>
      </p:sp>
      <p:sp>
        <p:nvSpPr>
          <p:cNvPr id="34" name="Text 31"/>
          <p:cNvSpPr/>
          <p:nvPr/>
        </p:nvSpPr>
        <p:spPr>
          <a:xfrm>
            <a:off x="6492240" y="2935224"/>
            <a:ext cx="685800" cy="201168"/>
          </a:xfrm>
          <a:prstGeom prst="rect">
            <a:avLst/>
          </a:prstGeom>
          <a:noFill/>
          <a:ln/>
        </p:spPr>
        <p:txBody>
          <a:bodyPr wrap="square" lIns="0" tIns="0" rIns="0" bIns="0" rtlCol="0" anchor="ctr"/>
          <a:lstStyle/>
          <a:p>
            <a:pPr marL="0" indent="0" algn="r">
              <a:buNone/>
            </a:pPr>
            <a:r>
              <a:rPr lang="en-US" sz="1100" b="1" dirty="0">
                <a:solidFill>
                  <a:srgbClr val="F0AC00"/>
                </a:solidFill>
                <a:latin typeface="Calibri" pitchFamily="34" charset="0"/>
                <a:ea typeface="Calibri" pitchFamily="34" charset="-122"/>
                <a:cs typeface="Calibri" pitchFamily="34" charset="-120"/>
              </a:rPr>
              <a:t>~10%</a:t>
            </a:r>
            <a:endParaRPr lang="en-US" sz="1100" dirty="0"/>
          </a:p>
        </p:txBody>
      </p:sp>
      <p:sp>
        <p:nvSpPr>
          <p:cNvPr id="35" name="Text 32"/>
          <p:cNvSpPr/>
          <p:nvPr/>
        </p:nvSpPr>
        <p:spPr>
          <a:xfrm>
            <a:off x="6099048" y="3172968"/>
            <a:ext cx="1152144" cy="384048"/>
          </a:xfrm>
          <a:prstGeom prst="rect">
            <a:avLst/>
          </a:prstGeom>
          <a:noFill/>
          <a:ln/>
        </p:spPr>
        <p:txBody>
          <a:bodyPr wrap="square" lIns="0" tIns="0" rIns="0" bIns="0" rtlCol="0" anchor="t"/>
          <a:lstStyle/>
          <a:p>
            <a:pPr marL="0" indent="0">
              <a:lnSpc>
                <a:spcPct val="120000"/>
              </a:lnSpc>
              <a:buNone/>
            </a:pPr>
            <a:r>
              <a:rPr lang="en-US" sz="850" dirty="0">
                <a:solidFill>
                  <a:srgbClr val="666666"/>
                </a:solidFill>
                <a:latin typeface="Calibri" pitchFamily="34" charset="0"/>
                <a:ea typeface="Calibri" pitchFamily="34" charset="-122"/>
                <a:cs typeface="Calibri" pitchFamily="34" charset="-120"/>
              </a:rPr>
              <a:t>Automated, pre-configured, manual build</a:t>
            </a:r>
            <a:endParaRPr lang="en-US" sz="850" dirty="0"/>
          </a:p>
        </p:txBody>
      </p:sp>
      <p:sp>
        <p:nvSpPr>
          <p:cNvPr id="36" name="Text 33"/>
          <p:cNvSpPr/>
          <p:nvPr/>
        </p:nvSpPr>
        <p:spPr>
          <a:xfrm>
            <a:off x="5715000" y="3703320"/>
            <a:ext cx="1828800" cy="228600"/>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12 months from now</a:t>
            </a:r>
            <a:endParaRPr lang="en-US" sz="1300" dirty="0"/>
          </a:p>
        </p:txBody>
      </p:sp>
      <p:sp>
        <p:nvSpPr>
          <p:cNvPr id="37" name="Text 34"/>
          <p:cNvSpPr/>
          <p:nvPr/>
        </p:nvSpPr>
        <p:spPr>
          <a:xfrm>
            <a:off x="5257800" y="3913632"/>
            <a:ext cx="2743200" cy="18288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Budget follows activation</a:t>
            </a:r>
            <a:endParaRPr lang="en-US" sz="900" dirty="0"/>
          </a:p>
        </p:txBody>
      </p:sp>
      <p:sp>
        <p:nvSpPr>
          <p:cNvPr id="38" name="Shape 35"/>
          <p:cNvSpPr/>
          <p:nvPr/>
        </p:nvSpPr>
        <p:spPr>
          <a:xfrm>
            <a:off x="457200" y="4251960"/>
            <a:ext cx="8229600" cy="27432"/>
          </a:xfrm>
          <a:prstGeom prst="rect">
            <a:avLst/>
          </a:prstGeom>
          <a:solidFill>
            <a:srgbClr val="F0AC00"/>
          </a:solidFill>
          <a:ln/>
        </p:spPr>
        <p:txBody>
          <a:bodyPr/>
          <a:lstStyle/>
          <a:p>
            <a:endParaRPr lang="nl-NL"/>
          </a:p>
        </p:txBody>
      </p:sp>
      <p:sp>
        <p:nvSpPr>
          <p:cNvPr id="39" name="Text 36"/>
          <p:cNvSpPr/>
          <p:nvPr/>
        </p:nvSpPr>
        <p:spPr>
          <a:xfrm>
            <a:off x="457200" y="4315968"/>
            <a:ext cx="8229600" cy="274320"/>
          </a:xfrm>
          <a:prstGeom prst="rect">
            <a:avLst/>
          </a:prstGeom>
          <a:noFill/>
          <a:ln/>
        </p:spPr>
        <p:txBody>
          <a:bodyPr wrap="square" lIns="0" tIns="0" rIns="0" bIns="0" rtlCol="0" anchor="ctr"/>
          <a:lstStyle/>
          <a:p>
            <a:pPr marL="0" indent="0">
              <a:buNone/>
            </a:pPr>
            <a:r>
              <a:rPr lang="en-US" sz="950" b="1" dirty="0">
                <a:solidFill>
                  <a:srgbClr val="333333"/>
                </a:solidFill>
                <a:latin typeface="Calibri" pitchFamily="34" charset="0"/>
                <a:ea typeface="Calibri" pitchFamily="34" charset="-122"/>
                <a:cs typeface="Calibri" pitchFamily="34" charset="-120"/>
              </a:rPr>
              <a:t>AKT's current capability sits almost entirely in Listen. The market is paying for Act. This is the gap AI closes.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C3B35-1CCB-7540-0EA1-95503AD50DC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68F4AC-932C-B258-C845-6B06DB6B181D}"/>
              </a:ext>
            </a:extLst>
          </p:cNvPr>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5</a:t>
            </a:r>
            <a:endParaRPr lang="en-US" sz="700" dirty="0"/>
          </a:p>
        </p:txBody>
      </p:sp>
      <p:pic>
        <p:nvPicPr>
          <p:cNvPr id="3" name="Image 0" descr="preencoded.png">
            <a:extLst>
              <a:ext uri="{FF2B5EF4-FFF2-40B4-BE49-F238E27FC236}">
                <a16:creationId xmlns:a16="http://schemas.microsoft.com/office/drawing/2014/main" id="{67EEF640-F118-DA35-C0D6-4D9A494C17D5}"/>
              </a:ext>
            </a:extLst>
          </p:cNvPr>
          <p:cNvPicPr>
            <a:picLocks noChangeAspect="1"/>
          </p:cNvPicPr>
          <p:nvPr/>
        </p:nvPicPr>
        <p:blipFill>
          <a:blip r:embed="rId3"/>
          <a:stretch>
            <a:fillRect/>
          </a:stretch>
        </p:blipFill>
        <p:spPr>
          <a:xfrm>
            <a:off x="8092440" y="4777740"/>
            <a:ext cx="548640" cy="292608"/>
          </a:xfrm>
          <a:prstGeom prst="rect">
            <a:avLst/>
          </a:prstGeom>
        </p:spPr>
      </p:pic>
      <p:sp>
        <p:nvSpPr>
          <p:cNvPr id="4" name="Text 1">
            <a:extLst>
              <a:ext uri="{FF2B5EF4-FFF2-40B4-BE49-F238E27FC236}">
                <a16:creationId xmlns:a16="http://schemas.microsoft.com/office/drawing/2014/main" id="{D2F34E36-7EC9-60F2-412A-815242E6C458}"/>
              </a:ext>
            </a:extLst>
          </p:cNvPr>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What we learned: three structural threats – all converging on AKT</a:t>
            </a:r>
            <a:endParaRPr lang="en-US" sz="2000" dirty="0"/>
          </a:p>
        </p:txBody>
      </p:sp>
      <p:sp>
        <p:nvSpPr>
          <p:cNvPr id="5" name="Shape 2">
            <a:extLst>
              <a:ext uri="{FF2B5EF4-FFF2-40B4-BE49-F238E27FC236}">
                <a16:creationId xmlns:a16="http://schemas.microsoft.com/office/drawing/2014/main" id="{8E267317-C018-B419-2D8C-CA79662CF7D9}"/>
              </a:ext>
            </a:extLst>
          </p:cNvPr>
          <p:cNvSpPr/>
          <p:nvPr/>
        </p:nvSpPr>
        <p:spPr>
          <a:xfrm>
            <a:off x="457200" y="822960"/>
            <a:ext cx="54864" cy="868680"/>
          </a:xfrm>
          <a:prstGeom prst="rect">
            <a:avLst/>
          </a:prstGeom>
          <a:solidFill>
            <a:srgbClr val="C0392B"/>
          </a:solidFill>
          <a:ln/>
        </p:spPr>
        <p:txBody>
          <a:bodyPr/>
          <a:lstStyle/>
          <a:p>
            <a:endParaRPr lang="nl-NL"/>
          </a:p>
        </p:txBody>
      </p:sp>
      <p:sp>
        <p:nvSpPr>
          <p:cNvPr id="6" name="Text 3">
            <a:extLst>
              <a:ext uri="{FF2B5EF4-FFF2-40B4-BE49-F238E27FC236}">
                <a16:creationId xmlns:a16="http://schemas.microsoft.com/office/drawing/2014/main" id="{F634D9AB-3050-F8F9-8CF4-7AC650B62831}"/>
              </a:ext>
            </a:extLst>
          </p:cNvPr>
          <p:cNvSpPr/>
          <p:nvPr/>
        </p:nvSpPr>
        <p:spPr>
          <a:xfrm>
            <a:off x="594360" y="822960"/>
            <a:ext cx="274320" cy="228600"/>
          </a:xfrm>
          <a:prstGeom prst="rect">
            <a:avLst/>
          </a:prstGeom>
          <a:noFill/>
          <a:ln/>
        </p:spPr>
        <p:txBody>
          <a:bodyPr wrap="square" lIns="0" tIns="0" rIns="0" bIns="0" rtlCol="0" anchor="ctr"/>
          <a:lstStyle/>
          <a:p>
            <a:pPr marL="0" indent="0">
              <a:buNone/>
            </a:pPr>
            <a:r>
              <a:rPr lang="en-US" sz="1400" b="1" dirty="0">
                <a:solidFill>
                  <a:srgbClr val="C0392B"/>
                </a:solidFill>
                <a:latin typeface="Arial" pitchFamily="34" charset="0"/>
                <a:ea typeface="Arial" pitchFamily="34" charset="-122"/>
                <a:cs typeface="Arial" pitchFamily="34" charset="-120"/>
              </a:rPr>
              <a:t>1</a:t>
            </a:r>
            <a:endParaRPr lang="en-US" sz="1400" dirty="0"/>
          </a:p>
        </p:txBody>
      </p:sp>
      <p:sp>
        <p:nvSpPr>
          <p:cNvPr id="7" name="Text 4">
            <a:extLst>
              <a:ext uri="{FF2B5EF4-FFF2-40B4-BE49-F238E27FC236}">
                <a16:creationId xmlns:a16="http://schemas.microsoft.com/office/drawing/2014/main" id="{161B424E-0CB0-AA5E-F316-7C51938D1952}"/>
              </a:ext>
            </a:extLst>
          </p:cNvPr>
          <p:cNvSpPr/>
          <p:nvPr/>
        </p:nvSpPr>
        <p:spPr>
          <a:xfrm>
            <a:off x="914400" y="822960"/>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Platform devaluation from below, advisory capture from within and research automation from above</a:t>
            </a:r>
            <a:endParaRPr lang="en-US" sz="1100" dirty="0"/>
          </a:p>
        </p:txBody>
      </p:sp>
      <p:pic>
        <p:nvPicPr>
          <p:cNvPr id="22" name="Afbeelding 21" descr="Afbeelding met tekst, schermopname, ontwerp&#10;&#10;Automatisch gegenereerde beschrijving">
            <a:extLst>
              <a:ext uri="{FF2B5EF4-FFF2-40B4-BE49-F238E27FC236}">
                <a16:creationId xmlns:a16="http://schemas.microsoft.com/office/drawing/2014/main" id="{C09DFF69-14B7-18D6-D983-1C89D14DF261}"/>
              </a:ext>
            </a:extLst>
          </p:cNvPr>
          <p:cNvPicPr>
            <a:picLocks noChangeAspect="1"/>
          </p:cNvPicPr>
          <p:nvPr/>
        </p:nvPicPr>
        <p:blipFill>
          <a:blip r:embed="rId4"/>
          <a:srcRect t="11215"/>
          <a:stretch/>
        </p:blipFill>
        <p:spPr>
          <a:xfrm>
            <a:off x="1130417" y="1051560"/>
            <a:ext cx="6545510" cy="3844886"/>
          </a:xfrm>
          <a:prstGeom prst="rect">
            <a:avLst/>
          </a:prstGeom>
        </p:spPr>
      </p:pic>
    </p:spTree>
    <p:extLst>
      <p:ext uri="{BB962C8B-B14F-4D97-AF65-F5344CB8AC3E}">
        <p14:creationId xmlns:p14="http://schemas.microsoft.com/office/powerpoint/2010/main" val="1186158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5</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What we learned: the evidence (1/2)</a:t>
            </a:r>
            <a:endParaRPr lang="en-US" sz="2000" dirty="0"/>
          </a:p>
        </p:txBody>
      </p:sp>
      <p:sp>
        <p:nvSpPr>
          <p:cNvPr id="9" name="Shape 6"/>
          <p:cNvSpPr/>
          <p:nvPr/>
        </p:nvSpPr>
        <p:spPr>
          <a:xfrm>
            <a:off x="457200" y="1107346"/>
            <a:ext cx="54864" cy="868680"/>
          </a:xfrm>
          <a:prstGeom prst="rect">
            <a:avLst/>
          </a:prstGeom>
          <a:solidFill>
            <a:srgbClr val="F0AC00"/>
          </a:solidFill>
          <a:ln/>
        </p:spPr>
        <p:txBody>
          <a:bodyPr/>
          <a:lstStyle/>
          <a:p>
            <a:endParaRPr lang="nl-NL"/>
          </a:p>
        </p:txBody>
      </p:sp>
      <p:sp>
        <p:nvSpPr>
          <p:cNvPr id="10" name="Text 7"/>
          <p:cNvSpPr/>
          <p:nvPr/>
        </p:nvSpPr>
        <p:spPr>
          <a:xfrm>
            <a:off x="594360" y="1107346"/>
            <a:ext cx="274320" cy="228600"/>
          </a:xfrm>
          <a:prstGeom prst="rect">
            <a:avLst/>
          </a:prstGeom>
          <a:noFill/>
          <a:ln/>
        </p:spPr>
        <p:txBody>
          <a:bodyPr wrap="square" lIns="0" tIns="0" rIns="0" bIns="0" rtlCol="0" anchor="ctr"/>
          <a:lstStyle/>
          <a:p>
            <a:pPr marL="0" indent="0">
              <a:buNone/>
            </a:pPr>
            <a:r>
              <a:rPr lang="en-US" sz="1400" b="1" dirty="0">
                <a:solidFill>
                  <a:srgbClr val="F0AC00"/>
                </a:solidFill>
                <a:latin typeface="Arial" pitchFamily="34" charset="0"/>
                <a:ea typeface="Arial" pitchFamily="34" charset="-122"/>
                <a:cs typeface="Arial" pitchFamily="34" charset="-120"/>
              </a:rPr>
              <a:t>2</a:t>
            </a:r>
            <a:endParaRPr lang="en-US" sz="1400" dirty="0"/>
          </a:p>
        </p:txBody>
      </p:sp>
      <p:sp>
        <p:nvSpPr>
          <p:cNvPr id="11" name="Text 8"/>
          <p:cNvSpPr/>
          <p:nvPr/>
        </p:nvSpPr>
        <p:spPr>
          <a:xfrm>
            <a:off x="914400" y="1107346"/>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The strategic decision is about speed and ambition not demand or readiness</a:t>
            </a:r>
            <a:endParaRPr lang="en-US" sz="1100" dirty="0"/>
          </a:p>
        </p:txBody>
      </p:sp>
      <p:sp>
        <p:nvSpPr>
          <p:cNvPr id="12" name="Text 9"/>
          <p:cNvSpPr/>
          <p:nvPr/>
        </p:nvSpPr>
        <p:spPr>
          <a:xfrm>
            <a:off x="914400" y="1363378"/>
            <a:ext cx="7772400" cy="59436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Three scenario models tested. Market Demand × Readiness: AKT controls neither axis. Implementation Speed × Business Model Change: the two things leadership can actually decide. Four scenarios: Smarter Practice (C), Quiet Transition (D), New Company (B), Accelerated (A). Route C→D→B: build capability, test market, scale.</a:t>
            </a:r>
            <a:endParaRPr lang="en-US" sz="900" dirty="0"/>
          </a:p>
        </p:txBody>
      </p:sp>
      <p:sp>
        <p:nvSpPr>
          <p:cNvPr id="13" name="Shape 10"/>
          <p:cNvSpPr/>
          <p:nvPr/>
        </p:nvSpPr>
        <p:spPr>
          <a:xfrm>
            <a:off x="457200" y="2113186"/>
            <a:ext cx="54864" cy="868680"/>
          </a:xfrm>
          <a:prstGeom prst="rect">
            <a:avLst/>
          </a:prstGeom>
          <a:solidFill>
            <a:srgbClr val="27AE60"/>
          </a:solidFill>
          <a:ln/>
        </p:spPr>
        <p:txBody>
          <a:bodyPr/>
          <a:lstStyle/>
          <a:p>
            <a:endParaRPr lang="nl-NL"/>
          </a:p>
        </p:txBody>
      </p:sp>
      <p:sp>
        <p:nvSpPr>
          <p:cNvPr id="14" name="Text 11"/>
          <p:cNvSpPr/>
          <p:nvPr/>
        </p:nvSpPr>
        <p:spPr>
          <a:xfrm>
            <a:off x="594360" y="2113186"/>
            <a:ext cx="274320" cy="228600"/>
          </a:xfrm>
          <a:prstGeom prst="rect">
            <a:avLst/>
          </a:prstGeom>
          <a:noFill/>
          <a:ln/>
        </p:spPr>
        <p:txBody>
          <a:bodyPr wrap="square" lIns="0" tIns="0" rIns="0" bIns="0" rtlCol="0" anchor="ctr"/>
          <a:lstStyle/>
          <a:p>
            <a:pPr marL="0" indent="0">
              <a:buNone/>
            </a:pPr>
            <a:r>
              <a:rPr lang="en-US" sz="1400" b="1" dirty="0">
                <a:solidFill>
                  <a:srgbClr val="27AE60"/>
                </a:solidFill>
                <a:latin typeface="Arial" pitchFamily="34" charset="0"/>
                <a:ea typeface="Arial" pitchFamily="34" charset="-122"/>
                <a:cs typeface="Arial" pitchFamily="34" charset="-120"/>
              </a:rPr>
              <a:t>3</a:t>
            </a:r>
            <a:endParaRPr lang="en-US" sz="1400" dirty="0"/>
          </a:p>
        </p:txBody>
      </p:sp>
      <p:sp>
        <p:nvSpPr>
          <p:cNvPr id="15" name="Text 12"/>
          <p:cNvSpPr/>
          <p:nvPr/>
        </p:nvSpPr>
        <p:spPr>
          <a:xfrm>
            <a:off x="914400" y="2113186"/>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46% efficiency is real: gains are in delivery, not relationships</a:t>
            </a:r>
            <a:endParaRPr lang="en-US" sz="1100" dirty="0"/>
          </a:p>
        </p:txBody>
      </p:sp>
      <p:sp>
        <p:nvSpPr>
          <p:cNvPr id="16" name="Text 13"/>
          <p:cNvSpPr/>
          <p:nvPr/>
        </p:nvSpPr>
        <p:spPr>
          <a:xfrm>
            <a:off x="914400" y="2369218"/>
            <a:ext cx="7772400" cy="59436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34 tasks, 7 stages, 252h→135.5h with AI. Build/Configure: 54% compression. Foundational Set-up: only 38% errors cascade. Stakeholder alignment: 33%. Biggest gains in repetitive production. Client relationships, governance remain human. </a:t>
            </a:r>
            <a:endParaRPr lang="en-US" sz="900" dirty="0"/>
          </a:p>
        </p:txBody>
      </p:sp>
      <p:sp>
        <p:nvSpPr>
          <p:cNvPr id="17" name="Shape 14"/>
          <p:cNvSpPr/>
          <p:nvPr/>
        </p:nvSpPr>
        <p:spPr>
          <a:xfrm>
            <a:off x="457200" y="3119026"/>
            <a:ext cx="54864" cy="868680"/>
          </a:xfrm>
          <a:prstGeom prst="rect">
            <a:avLst/>
          </a:prstGeom>
          <a:solidFill>
            <a:srgbClr val="2980B9"/>
          </a:solidFill>
          <a:ln/>
        </p:spPr>
        <p:txBody>
          <a:bodyPr/>
          <a:lstStyle/>
          <a:p>
            <a:endParaRPr lang="nl-NL"/>
          </a:p>
        </p:txBody>
      </p:sp>
      <p:sp>
        <p:nvSpPr>
          <p:cNvPr id="18" name="Text 15"/>
          <p:cNvSpPr/>
          <p:nvPr/>
        </p:nvSpPr>
        <p:spPr>
          <a:xfrm>
            <a:off x="594360" y="3119026"/>
            <a:ext cx="274320" cy="228600"/>
          </a:xfrm>
          <a:prstGeom prst="rect">
            <a:avLst/>
          </a:prstGeom>
          <a:noFill/>
          <a:ln/>
        </p:spPr>
        <p:txBody>
          <a:bodyPr wrap="square" lIns="0" tIns="0" rIns="0" bIns="0" rtlCol="0" anchor="ctr"/>
          <a:lstStyle/>
          <a:p>
            <a:pPr marL="0" indent="0">
              <a:buNone/>
            </a:pPr>
            <a:r>
              <a:rPr lang="en-US" sz="1400" b="1" dirty="0">
                <a:solidFill>
                  <a:srgbClr val="2980B9"/>
                </a:solidFill>
                <a:latin typeface="Arial" pitchFamily="34" charset="0"/>
                <a:ea typeface="Arial" pitchFamily="34" charset="-122"/>
                <a:cs typeface="Arial" pitchFamily="34" charset="-120"/>
              </a:rPr>
              <a:t>4</a:t>
            </a:r>
            <a:endParaRPr lang="en-US" sz="1400" dirty="0"/>
          </a:p>
        </p:txBody>
      </p:sp>
      <p:sp>
        <p:nvSpPr>
          <p:cNvPr id="19" name="Text 16"/>
          <p:cNvSpPr/>
          <p:nvPr/>
        </p:nvSpPr>
        <p:spPr>
          <a:xfrm>
            <a:off x="914400" y="3119026"/>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Efficiency alone is not enough; the real opportunity is value creation</a:t>
            </a:r>
            <a:endParaRPr lang="en-US" sz="1100" dirty="0"/>
          </a:p>
        </p:txBody>
      </p:sp>
      <p:sp>
        <p:nvSpPr>
          <p:cNvPr id="20" name="Text 17"/>
          <p:cNvSpPr/>
          <p:nvPr/>
        </p:nvSpPr>
        <p:spPr>
          <a:xfrm>
            <a:off x="914400" y="3375058"/>
            <a:ext cx="7772400" cy="59436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Doing the same work faster protects margin but does not grow the business. Real opportunity: dashboard mockups from survey specs (1 day output), VBR enrichment through industry / domain AI (deeper intake), client-facing agents producing insight after the project ends (recurring revenue). AI enables services previously uneconomic at AKT's scale.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6</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What we learned: the evidence (2/2)</a:t>
            </a:r>
            <a:endParaRPr lang="en-US" sz="2000" dirty="0"/>
          </a:p>
        </p:txBody>
      </p:sp>
      <p:sp>
        <p:nvSpPr>
          <p:cNvPr id="5" name="Shape 2"/>
          <p:cNvSpPr/>
          <p:nvPr/>
        </p:nvSpPr>
        <p:spPr>
          <a:xfrm>
            <a:off x="457200" y="822960"/>
            <a:ext cx="54864" cy="868680"/>
          </a:xfrm>
          <a:prstGeom prst="rect">
            <a:avLst/>
          </a:prstGeom>
          <a:solidFill>
            <a:srgbClr val="C0392B"/>
          </a:solidFill>
          <a:ln/>
        </p:spPr>
        <p:txBody>
          <a:bodyPr/>
          <a:lstStyle/>
          <a:p>
            <a:endParaRPr lang="nl-NL"/>
          </a:p>
        </p:txBody>
      </p:sp>
      <p:sp>
        <p:nvSpPr>
          <p:cNvPr id="6" name="Text 3"/>
          <p:cNvSpPr/>
          <p:nvPr/>
        </p:nvSpPr>
        <p:spPr>
          <a:xfrm>
            <a:off x="594360" y="822960"/>
            <a:ext cx="274320" cy="228600"/>
          </a:xfrm>
          <a:prstGeom prst="rect">
            <a:avLst/>
          </a:prstGeom>
          <a:noFill/>
          <a:ln/>
        </p:spPr>
        <p:txBody>
          <a:bodyPr wrap="square" lIns="0" tIns="0" rIns="0" bIns="0" rtlCol="0" anchor="ctr"/>
          <a:lstStyle/>
          <a:p>
            <a:pPr marL="0" indent="0">
              <a:buNone/>
            </a:pPr>
            <a:r>
              <a:rPr lang="en-US" sz="1400" b="1" dirty="0">
                <a:solidFill>
                  <a:srgbClr val="C0392B"/>
                </a:solidFill>
                <a:latin typeface="Arial" pitchFamily="34" charset="0"/>
                <a:ea typeface="Arial" pitchFamily="34" charset="-122"/>
                <a:cs typeface="Arial" pitchFamily="34" charset="-120"/>
              </a:rPr>
              <a:t>5</a:t>
            </a:r>
            <a:endParaRPr lang="en-US" sz="1400" dirty="0"/>
          </a:p>
        </p:txBody>
      </p:sp>
      <p:sp>
        <p:nvSpPr>
          <p:cNvPr id="7" name="Text 4"/>
          <p:cNvSpPr/>
          <p:nvPr/>
        </p:nvSpPr>
        <p:spPr>
          <a:xfrm>
            <a:off x="914400" y="822960"/>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87% of enterprise AI projects fail to scale /  the pilot trap is real</a:t>
            </a:r>
            <a:endParaRPr lang="en-US" sz="1100" dirty="0"/>
          </a:p>
        </p:txBody>
      </p:sp>
      <p:sp>
        <p:nvSpPr>
          <p:cNvPr id="8" name="Text 5"/>
          <p:cNvSpPr/>
          <p:nvPr/>
        </p:nvSpPr>
        <p:spPr>
          <a:xfrm>
            <a:off x="914400" y="1078992"/>
            <a:ext cx="7772400" cy="59436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McKinsey/BCG composite. 42% of companies abandoned most AI initiatives in 2025, up from 17% in 2024 (AIM Councils). 95% of gen AI pilots fail (MIT NANDA). Dominant failure: no governance, no gates, no path from experiment to operation. Governance before experimentation. Quality gates before scaling.</a:t>
            </a:r>
            <a:endParaRPr lang="en-US" sz="900" dirty="0"/>
          </a:p>
        </p:txBody>
      </p:sp>
      <p:sp>
        <p:nvSpPr>
          <p:cNvPr id="9" name="Shape 6"/>
          <p:cNvSpPr/>
          <p:nvPr/>
        </p:nvSpPr>
        <p:spPr>
          <a:xfrm>
            <a:off x="457200" y="1828800"/>
            <a:ext cx="54864" cy="868680"/>
          </a:xfrm>
          <a:prstGeom prst="rect">
            <a:avLst/>
          </a:prstGeom>
          <a:solidFill>
            <a:srgbClr val="F0AC00"/>
          </a:solidFill>
          <a:ln/>
        </p:spPr>
        <p:txBody>
          <a:bodyPr/>
          <a:lstStyle/>
          <a:p>
            <a:endParaRPr lang="nl-NL"/>
          </a:p>
        </p:txBody>
      </p:sp>
      <p:sp>
        <p:nvSpPr>
          <p:cNvPr id="10" name="Text 7"/>
          <p:cNvSpPr/>
          <p:nvPr/>
        </p:nvSpPr>
        <p:spPr>
          <a:xfrm>
            <a:off x="594360" y="1828800"/>
            <a:ext cx="274320" cy="228600"/>
          </a:xfrm>
          <a:prstGeom prst="rect">
            <a:avLst/>
          </a:prstGeom>
          <a:noFill/>
          <a:ln/>
        </p:spPr>
        <p:txBody>
          <a:bodyPr wrap="square" lIns="0" tIns="0" rIns="0" bIns="0" rtlCol="0" anchor="ctr"/>
          <a:lstStyle/>
          <a:p>
            <a:pPr marL="0" indent="0">
              <a:buNone/>
            </a:pPr>
            <a:r>
              <a:rPr lang="en-US" sz="1400" b="1" dirty="0">
                <a:solidFill>
                  <a:srgbClr val="F0AC00"/>
                </a:solidFill>
                <a:latin typeface="Arial" pitchFamily="34" charset="0"/>
                <a:ea typeface="Arial" pitchFamily="34" charset="-122"/>
                <a:cs typeface="Arial" pitchFamily="34" charset="-120"/>
              </a:rPr>
              <a:t>6</a:t>
            </a:r>
            <a:endParaRPr lang="en-US" sz="1400" dirty="0"/>
          </a:p>
        </p:txBody>
      </p:sp>
      <p:sp>
        <p:nvSpPr>
          <p:cNvPr id="11" name="Text 8"/>
          <p:cNvSpPr/>
          <p:nvPr/>
        </p:nvSpPr>
        <p:spPr>
          <a:xfrm>
            <a:off x="914400" y="1828800"/>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AI produces findings, not insights and that difference is the moat</a:t>
            </a:r>
            <a:endParaRPr lang="en-US" sz="1100" dirty="0"/>
          </a:p>
        </p:txBody>
      </p:sp>
      <p:sp>
        <p:nvSpPr>
          <p:cNvPr id="12" name="Text 9"/>
          <p:cNvSpPr/>
          <p:nvPr/>
        </p:nvSpPr>
        <p:spPr>
          <a:xfrm>
            <a:off x="914400" y="2084832"/>
            <a:ext cx="7772400" cy="59436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Current AI: CSV in, KPIs and drivers out. The ordering, prioritisation, contextual judgement: that is AKT's brain. No AI does this yet. Defensible but only if we embed it into tools before someone else does.</a:t>
            </a:r>
            <a:endParaRPr lang="en-US" sz="900" dirty="0"/>
          </a:p>
        </p:txBody>
      </p:sp>
      <p:sp>
        <p:nvSpPr>
          <p:cNvPr id="17" name="Shape 14"/>
          <p:cNvSpPr/>
          <p:nvPr/>
        </p:nvSpPr>
        <p:spPr>
          <a:xfrm>
            <a:off x="457200" y="2903220"/>
            <a:ext cx="54864" cy="868680"/>
          </a:xfrm>
          <a:prstGeom prst="rect">
            <a:avLst/>
          </a:prstGeom>
          <a:solidFill>
            <a:srgbClr val="8E44AD"/>
          </a:solidFill>
          <a:ln/>
        </p:spPr>
        <p:txBody>
          <a:bodyPr/>
          <a:lstStyle/>
          <a:p>
            <a:endParaRPr lang="nl-NL"/>
          </a:p>
        </p:txBody>
      </p:sp>
      <p:sp>
        <p:nvSpPr>
          <p:cNvPr id="18" name="Text 15"/>
          <p:cNvSpPr/>
          <p:nvPr/>
        </p:nvSpPr>
        <p:spPr>
          <a:xfrm>
            <a:off x="594360" y="2903220"/>
            <a:ext cx="274320" cy="228600"/>
          </a:xfrm>
          <a:prstGeom prst="rect">
            <a:avLst/>
          </a:prstGeom>
          <a:noFill/>
          <a:ln/>
        </p:spPr>
        <p:txBody>
          <a:bodyPr wrap="square" lIns="0" tIns="0" rIns="0" bIns="0" rtlCol="0" anchor="ctr"/>
          <a:lstStyle/>
          <a:p>
            <a:pPr marL="0" indent="0">
              <a:buNone/>
            </a:pPr>
            <a:r>
              <a:rPr lang="en-US" sz="1400" b="1" dirty="0">
                <a:solidFill>
                  <a:srgbClr val="8E44AD"/>
                </a:solidFill>
                <a:latin typeface="Arial" pitchFamily="34" charset="0"/>
                <a:cs typeface="Arial" pitchFamily="34" charset="-120"/>
              </a:rPr>
              <a:t>7</a:t>
            </a:r>
            <a:endParaRPr lang="en-US" sz="1400" dirty="0"/>
          </a:p>
        </p:txBody>
      </p:sp>
      <p:sp>
        <p:nvSpPr>
          <p:cNvPr id="19" name="Text 16"/>
          <p:cNvSpPr/>
          <p:nvPr/>
        </p:nvSpPr>
        <p:spPr>
          <a:xfrm>
            <a:off x="914400" y="2903220"/>
            <a:ext cx="7772400" cy="228600"/>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AI adoption is very hard and no firm our size has cracked it</a:t>
            </a:r>
            <a:endParaRPr lang="en-US" sz="1100" dirty="0"/>
          </a:p>
        </p:txBody>
      </p:sp>
      <p:sp>
        <p:nvSpPr>
          <p:cNvPr id="20" name="Text 17"/>
          <p:cNvSpPr/>
          <p:nvPr/>
        </p:nvSpPr>
        <p:spPr>
          <a:xfrm>
            <a:off x="914400" y="3159252"/>
            <a:ext cx="7772400" cy="59436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85% of AI failures are strategic, not technical (HBR). 27% of European consultants cite concerns about commoditisation (Consultancy.eu). Over 90% of gen AI experiments failed to capture ROI (Everest Group). No 20-person firm has published how they adopted AI. We are building without precedent. Harder and more valuable.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7</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Four scenarios: one recommended route</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Two axes define the choice: how fast we implement AI, and whether we change the business model or keep it.</a:t>
            </a:r>
            <a:endParaRPr lang="en-US" sz="1100" dirty="0"/>
          </a:p>
        </p:txBody>
      </p:sp>
      <p:sp>
        <p:nvSpPr>
          <p:cNvPr id="6" name="Text 3"/>
          <p:cNvSpPr/>
          <p:nvPr/>
        </p:nvSpPr>
        <p:spPr>
          <a:xfrm rot="16200000">
            <a:off x="-521209" y="1643095"/>
            <a:ext cx="1828800" cy="182880"/>
          </a:xfrm>
          <a:prstGeom prst="rect">
            <a:avLst/>
          </a:prstGeom>
          <a:noFill/>
          <a:ln/>
        </p:spPr>
        <p:txBody>
          <a:bodyPr wrap="square" lIns="0" tIns="0" rIns="0" bIns="0" rtlCol="0" anchor="ctr"/>
          <a:lstStyle/>
          <a:p>
            <a:pPr marL="0" indent="0">
              <a:buNone/>
            </a:pPr>
            <a:r>
              <a:rPr lang="en-US" sz="700" b="1" dirty="0">
                <a:solidFill>
                  <a:srgbClr val="999999"/>
                </a:solidFill>
                <a:latin typeface="Calibri" pitchFamily="34" charset="0"/>
                <a:ea typeface="Calibri" pitchFamily="34" charset="-122"/>
                <a:cs typeface="Calibri" pitchFamily="34" charset="-120"/>
              </a:rPr>
              <a:t>IMPLEMENTATION SPEED</a:t>
            </a:r>
            <a:endParaRPr lang="en-US" sz="700" dirty="0"/>
          </a:p>
        </p:txBody>
      </p:sp>
      <p:sp>
        <p:nvSpPr>
          <p:cNvPr id="7" name="Text 4"/>
          <p:cNvSpPr/>
          <p:nvPr/>
        </p:nvSpPr>
        <p:spPr>
          <a:xfrm rot="16200000">
            <a:off x="219456" y="1468987"/>
            <a:ext cx="731520" cy="164592"/>
          </a:xfrm>
          <a:prstGeom prst="rect">
            <a:avLst/>
          </a:prstGeom>
          <a:noFill/>
          <a:ln/>
        </p:spPr>
        <p:txBody>
          <a:bodyPr wrap="square" lIns="0" tIns="0" rIns="0" bIns="0"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Fast →</a:t>
            </a:r>
            <a:endParaRPr lang="en-US" sz="800" dirty="0"/>
          </a:p>
        </p:txBody>
      </p:sp>
      <p:sp>
        <p:nvSpPr>
          <p:cNvPr id="8" name="Text 5"/>
          <p:cNvSpPr/>
          <p:nvPr/>
        </p:nvSpPr>
        <p:spPr>
          <a:xfrm rot="16200000">
            <a:off x="137160" y="2240280"/>
            <a:ext cx="914400" cy="164592"/>
          </a:xfrm>
          <a:prstGeom prst="rect">
            <a:avLst/>
          </a:prstGeom>
          <a:noFill/>
          <a:ln/>
        </p:spPr>
        <p:txBody>
          <a:bodyPr wrap="square" lIns="0" tIns="0" rIns="0" bIns="0"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 Governed</a:t>
            </a:r>
            <a:endParaRPr lang="en-US" sz="800" dirty="0"/>
          </a:p>
        </p:txBody>
      </p:sp>
      <p:sp>
        <p:nvSpPr>
          <p:cNvPr id="9" name="Text 6"/>
          <p:cNvSpPr/>
          <p:nvPr/>
        </p:nvSpPr>
        <p:spPr>
          <a:xfrm>
            <a:off x="2286000" y="3127248"/>
            <a:ext cx="1645920" cy="164592"/>
          </a:xfrm>
          <a:prstGeom prst="rect">
            <a:avLst/>
          </a:prstGeom>
          <a:noFill/>
          <a:ln/>
        </p:spPr>
        <p:txBody>
          <a:bodyPr wrap="square" lIns="0" tIns="0" rIns="0" bIns="0" rtlCol="0" anchor="ctr"/>
          <a:lstStyle/>
          <a:p>
            <a:pPr marL="0" indent="0" algn="r">
              <a:buNone/>
            </a:pPr>
            <a:r>
              <a:rPr lang="en-US" sz="800" b="1" dirty="0">
                <a:solidFill>
                  <a:srgbClr val="666666"/>
                </a:solidFill>
                <a:latin typeface="Calibri" pitchFamily="34" charset="0"/>
                <a:ea typeface="Calibri" pitchFamily="34" charset="-122"/>
                <a:cs typeface="Calibri" pitchFamily="34" charset="-120"/>
              </a:rPr>
              <a:t>Same model ←</a:t>
            </a:r>
            <a:endParaRPr lang="en-US" sz="800" dirty="0"/>
          </a:p>
        </p:txBody>
      </p:sp>
      <p:sp>
        <p:nvSpPr>
          <p:cNvPr id="10" name="Text 7"/>
          <p:cNvSpPr/>
          <p:nvPr/>
        </p:nvSpPr>
        <p:spPr>
          <a:xfrm>
            <a:off x="3334588" y="3543896"/>
            <a:ext cx="2286000" cy="164592"/>
          </a:xfrm>
          <a:prstGeom prst="rect">
            <a:avLst/>
          </a:prstGeom>
          <a:noFill/>
          <a:ln/>
        </p:spPr>
        <p:txBody>
          <a:bodyPr wrap="square" lIns="0" tIns="0" rIns="0" bIns="0" rtlCol="0" anchor="ctr"/>
          <a:lstStyle/>
          <a:p>
            <a:pPr marL="0" indent="0" algn="ctr">
              <a:buNone/>
            </a:pPr>
            <a:r>
              <a:rPr lang="en-US" sz="700" b="1" dirty="0">
                <a:solidFill>
                  <a:srgbClr val="999999"/>
                </a:solidFill>
                <a:latin typeface="Calibri" pitchFamily="34" charset="0"/>
                <a:ea typeface="Calibri" pitchFamily="34" charset="-122"/>
                <a:cs typeface="Calibri" pitchFamily="34" charset="-120"/>
              </a:rPr>
              <a:t>BUSINESS MODEL CHANGE</a:t>
            </a:r>
            <a:endParaRPr lang="en-US" sz="700" dirty="0"/>
          </a:p>
        </p:txBody>
      </p:sp>
      <p:sp>
        <p:nvSpPr>
          <p:cNvPr id="11" name="Text 8"/>
          <p:cNvSpPr/>
          <p:nvPr/>
        </p:nvSpPr>
        <p:spPr>
          <a:xfrm>
            <a:off x="5120640" y="3127248"/>
            <a:ext cx="1828800" cy="164592"/>
          </a:xfrm>
          <a:prstGeom prst="rect">
            <a:avLst/>
          </a:prstGeom>
          <a:noFill/>
          <a:ln/>
        </p:spPr>
        <p:txBody>
          <a:bodyPr wrap="square" lIns="0" tIns="0" rIns="0" bIns="0"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 Reinvented model</a:t>
            </a:r>
            <a:endParaRPr lang="en-US" sz="800" dirty="0"/>
          </a:p>
        </p:txBody>
      </p:sp>
      <p:sp>
        <p:nvSpPr>
          <p:cNvPr id="12" name="Shape 9"/>
          <p:cNvSpPr/>
          <p:nvPr/>
        </p:nvSpPr>
        <p:spPr>
          <a:xfrm>
            <a:off x="822960" y="1051560"/>
            <a:ext cx="3566160" cy="1051560"/>
          </a:xfrm>
          <a:prstGeom prst="rect">
            <a:avLst/>
          </a:prstGeom>
          <a:solidFill>
            <a:srgbClr val="F5F5F5"/>
          </a:solidFill>
          <a:ln w="6350">
            <a:solidFill>
              <a:srgbClr val="C0392B"/>
            </a:solidFill>
            <a:prstDash val="solid"/>
          </a:ln>
        </p:spPr>
        <p:txBody>
          <a:bodyPr/>
          <a:lstStyle/>
          <a:p>
            <a:endParaRPr lang="nl-NL"/>
          </a:p>
        </p:txBody>
      </p:sp>
      <p:sp>
        <p:nvSpPr>
          <p:cNvPr id="13" name="Text 10"/>
          <p:cNvSpPr/>
          <p:nvPr/>
        </p:nvSpPr>
        <p:spPr>
          <a:xfrm>
            <a:off x="932688" y="1106424"/>
            <a:ext cx="3017520" cy="201168"/>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A: Accelerated Practice</a:t>
            </a:r>
            <a:endParaRPr lang="en-US" sz="1200" dirty="0"/>
          </a:p>
        </p:txBody>
      </p:sp>
      <p:sp>
        <p:nvSpPr>
          <p:cNvPr id="14" name="Text 11"/>
          <p:cNvSpPr/>
          <p:nvPr/>
        </p:nvSpPr>
        <p:spPr>
          <a:xfrm>
            <a:off x="932688" y="1307592"/>
            <a:ext cx="3346704" cy="146304"/>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Fast implementation, unchanged business model</a:t>
            </a:r>
            <a:endParaRPr lang="en-US" sz="900" dirty="0"/>
          </a:p>
        </p:txBody>
      </p:sp>
      <p:sp>
        <p:nvSpPr>
          <p:cNvPr id="15" name="Text 12"/>
          <p:cNvSpPr/>
          <p:nvPr/>
        </p:nvSpPr>
        <p:spPr>
          <a:xfrm>
            <a:off x="932688" y="1490472"/>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Speed doubles but hourly billing stays and price compression follows.</a:t>
            </a:r>
            <a:endParaRPr lang="en-US" sz="900" dirty="0"/>
          </a:p>
        </p:txBody>
      </p:sp>
      <p:sp>
        <p:nvSpPr>
          <p:cNvPr id="16" name="Text 13"/>
          <p:cNvSpPr/>
          <p:nvPr/>
        </p:nvSpPr>
        <p:spPr>
          <a:xfrm>
            <a:off x="932688" y="1691640"/>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No new client value. Still a project factory, just faster.</a:t>
            </a:r>
            <a:endParaRPr lang="en-US" sz="900" dirty="0"/>
          </a:p>
        </p:txBody>
      </p:sp>
      <p:sp>
        <p:nvSpPr>
          <p:cNvPr id="17" name="Text 14"/>
          <p:cNvSpPr/>
          <p:nvPr/>
        </p:nvSpPr>
        <p:spPr>
          <a:xfrm>
            <a:off x="932688" y="1892808"/>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Positioning erodes as speed becomes table stakes within 12 months.</a:t>
            </a:r>
            <a:endParaRPr lang="en-US" sz="900" dirty="0"/>
          </a:p>
        </p:txBody>
      </p:sp>
      <p:sp>
        <p:nvSpPr>
          <p:cNvPr id="18" name="Shape 15"/>
          <p:cNvSpPr/>
          <p:nvPr/>
        </p:nvSpPr>
        <p:spPr>
          <a:xfrm>
            <a:off x="4663440" y="1051560"/>
            <a:ext cx="3566160" cy="1051560"/>
          </a:xfrm>
          <a:prstGeom prst="rect">
            <a:avLst/>
          </a:prstGeom>
          <a:solidFill>
            <a:srgbClr val="F5F5F5"/>
          </a:solidFill>
          <a:ln w="6350">
            <a:solidFill>
              <a:srgbClr val="27AE60"/>
            </a:solidFill>
            <a:prstDash val="solid"/>
          </a:ln>
        </p:spPr>
        <p:txBody>
          <a:bodyPr/>
          <a:lstStyle/>
          <a:p>
            <a:endParaRPr lang="nl-NL"/>
          </a:p>
        </p:txBody>
      </p:sp>
      <p:sp>
        <p:nvSpPr>
          <p:cNvPr id="19" name="Text 16"/>
          <p:cNvSpPr/>
          <p:nvPr/>
        </p:nvSpPr>
        <p:spPr>
          <a:xfrm>
            <a:off x="4773168" y="1106424"/>
            <a:ext cx="3017520" cy="201168"/>
          </a:xfrm>
          <a:prstGeom prst="rect">
            <a:avLst/>
          </a:prstGeom>
          <a:noFill/>
          <a:ln/>
        </p:spPr>
        <p:txBody>
          <a:bodyPr wrap="square" lIns="0" tIns="0" rIns="0" bIns="0"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B: New Company</a:t>
            </a:r>
            <a:endParaRPr lang="en-US" sz="1200" dirty="0"/>
          </a:p>
        </p:txBody>
      </p:sp>
      <p:sp>
        <p:nvSpPr>
          <p:cNvPr id="20" name="Text 17"/>
          <p:cNvSpPr/>
          <p:nvPr/>
        </p:nvSpPr>
        <p:spPr>
          <a:xfrm>
            <a:off x="4773168" y="1307592"/>
            <a:ext cx="3346704" cy="146304"/>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Fast implementation, reinvented business model</a:t>
            </a:r>
            <a:endParaRPr lang="en-US" sz="900" dirty="0"/>
          </a:p>
        </p:txBody>
      </p:sp>
      <p:sp>
        <p:nvSpPr>
          <p:cNvPr id="21" name="Text 18"/>
          <p:cNvSpPr/>
          <p:nvPr/>
        </p:nvSpPr>
        <p:spPr>
          <a:xfrm>
            <a:off x="4773168" y="1490472"/>
            <a:ext cx="3730752"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Full task restructuring. New pricing and product subscriptions.</a:t>
            </a:r>
            <a:endParaRPr lang="en-US" sz="900" dirty="0"/>
          </a:p>
        </p:txBody>
      </p:sp>
      <p:sp>
        <p:nvSpPr>
          <p:cNvPr id="22" name="Text 19"/>
          <p:cNvSpPr/>
          <p:nvPr/>
        </p:nvSpPr>
        <p:spPr>
          <a:xfrm>
            <a:off x="4773168" y="1691640"/>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Highest reward, highest risk. Requires dual execution capacity.</a:t>
            </a:r>
            <a:endParaRPr lang="en-US" sz="900" dirty="0"/>
          </a:p>
        </p:txBody>
      </p:sp>
      <p:sp>
        <p:nvSpPr>
          <p:cNvPr id="23" name="Text 20"/>
          <p:cNvSpPr/>
          <p:nvPr/>
        </p:nvSpPr>
        <p:spPr>
          <a:xfrm>
            <a:off x="4773168" y="1892808"/>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Only viable after C + D succeed and evidence supports the leap.</a:t>
            </a:r>
            <a:endParaRPr lang="en-US" sz="900" dirty="0"/>
          </a:p>
        </p:txBody>
      </p:sp>
      <p:sp>
        <p:nvSpPr>
          <p:cNvPr id="24" name="Shape 21"/>
          <p:cNvSpPr/>
          <p:nvPr/>
        </p:nvSpPr>
        <p:spPr>
          <a:xfrm>
            <a:off x="822960" y="2240280"/>
            <a:ext cx="3566160" cy="1193292"/>
          </a:xfrm>
          <a:prstGeom prst="rect">
            <a:avLst/>
          </a:prstGeom>
          <a:solidFill>
            <a:srgbClr val="F5F5F5"/>
          </a:solidFill>
          <a:ln w="25400">
            <a:solidFill>
              <a:srgbClr val="E67E22"/>
            </a:solidFill>
            <a:prstDash val="solid"/>
          </a:ln>
        </p:spPr>
        <p:txBody>
          <a:bodyPr/>
          <a:lstStyle/>
          <a:p>
            <a:endParaRPr lang="nl-NL"/>
          </a:p>
        </p:txBody>
      </p:sp>
      <p:sp>
        <p:nvSpPr>
          <p:cNvPr id="25" name="Text 22"/>
          <p:cNvSpPr/>
          <p:nvPr/>
        </p:nvSpPr>
        <p:spPr>
          <a:xfrm>
            <a:off x="932688" y="2295144"/>
            <a:ext cx="3017520" cy="201168"/>
          </a:xfrm>
          <a:prstGeom prst="rect">
            <a:avLst/>
          </a:prstGeom>
          <a:noFill/>
          <a:ln/>
        </p:spPr>
        <p:txBody>
          <a:bodyPr wrap="square" lIns="0" tIns="0" rIns="0" bIns="0" rtlCol="0" anchor="ctr"/>
          <a:lstStyle/>
          <a:p>
            <a:pPr marL="0" indent="0">
              <a:buNone/>
            </a:pPr>
            <a:r>
              <a:rPr lang="en-US" sz="1200" b="1" dirty="0">
                <a:solidFill>
                  <a:srgbClr val="E67E22"/>
                </a:solidFill>
                <a:latin typeface="Calibri" pitchFamily="34" charset="0"/>
                <a:ea typeface="Calibri" pitchFamily="34" charset="-122"/>
                <a:cs typeface="Calibri" pitchFamily="34" charset="-120"/>
              </a:rPr>
              <a:t>C: Smarter Practice</a:t>
            </a:r>
            <a:endParaRPr lang="en-US" sz="1200" dirty="0"/>
          </a:p>
        </p:txBody>
      </p:sp>
      <p:sp>
        <p:nvSpPr>
          <p:cNvPr id="26" name="Text 23"/>
          <p:cNvSpPr/>
          <p:nvPr/>
        </p:nvSpPr>
        <p:spPr>
          <a:xfrm>
            <a:off x="4023360" y="2276856"/>
            <a:ext cx="274320" cy="201168"/>
          </a:xfrm>
          <a:prstGeom prst="rect">
            <a:avLst/>
          </a:prstGeom>
          <a:noFill/>
          <a:ln/>
        </p:spPr>
        <p:txBody>
          <a:bodyPr wrap="square" rtlCol="0" anchor="ctr"/>
          <a:lstStyle/>
          <a:p>
            <a:pPr marL="0" indent="0" algn="ctr">
              <a:buNone/>
            </a:pPr>
            <a:r>
              <a:rPr lang="en-US" sz="1300" dirty="0">
                <a:solidFill>
                  <a:srgbClr val="E67E22"/>
                </a:solidFill>
                <a:latin typeface="Calibri" pitchFamily="34" charset="0"/>
                <a:ea typeface="Calibri" pitchFamily="34" charset="-122"/>
                <a:cs typeface="Calibri" pitchFamily="34" charset="-120"/>
              </a:rPr>
              <a:t>★</a:t>
            </a:r>
            <a:endParaRPr lang="en-US" sz="1300" dirty="0"/>
          </a:p>
        </p:txBody>
      </p:sp>
      <p:sp>
        <p:nvSpPr>
          <p:cNvPr id="27" name="Text 24"/>
          <p:cNvSpPr/>
          <p:nvPr/>
        </p:nvSpPr>
        <p:spPr>
          <a:xfrm>
            <a:off x="932688" y="2496312"/>
            <a:ext cx="3346704" cy="146304"/>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Governed implementation, efficiency focus</a:t>
            </a:r>
            <a:endParaRPr lang="en-US" sz="900" dirty="0"/>
          </a:p>
        </p:txBody>
      </p:sp>
      <p:sp>
        <p:nvSpPr>
          <p:cNvPr id="28" name="Text 25"/>
          <p:cNvSpPr/>
          <p:nvPr/>
        </p:nvSpPr>
        <p:spPr>
          <a:xfrm>
            <a:off x="932688" y="2679192"/>
            <a:ext cx="3730752"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Phased rollout with quality gates. Structured training, psychological safety.</a:t>
            </a:r>
            <a:endParaRPr lang="en-US" sz="900" dirty="0"/>
          </a:p>
        </p:txBody>
      </p:sp>
      <p:sp>
        <p:nvSpPr>
          <p:cNvPr id="29" name="Text 26"/>
          <p:cNvSpPr/>
          <p:nvPr/>
        </p:nvSpPr>
        <p:spPr>
          <a:xfrm>
            <a:off x="932688" y="2880360"/>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Significant delivery compression reinvested into margin or capacity.</a:t>
            </a:r>
            <a:endParaRPr lang="en-US" sz="900" dirty="0"/>
          </a:p>
        </p:txBody>
      </p:sp>
      <p:sp>
        <p:nvSpPr>
          <p:cNvPr id="30" name="Text 27"/>
          <p:cNvSpPr/>
          <p:nvPr/>
        </p:nvSpPr>
        <p:spPr>
          <a:xfrm>
            <a:off x="932688" y="3081528"/>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Foundation for everything but stays a project factory without next step.</a:t>
            </a:r>
            <a:endParaRPr lang="en-US" sz="900" dirty="0"/>
          </a:p>
        </p:txBody>
      </p:sp>
      <p:sp>
        <p:nvSpPr>
          <p:cNvPr id="31" name="Shape 28"/>
          <p:cNvSpPr/>
          <p:nvPr/>
        </p:nvSpPr>
        <p:spPr>
          <a:xfrm>
            <a:off x="4663440" y="2240280"/>
            <a:ext cx="3566160" cy="1193292"/>
          </a:xfrm>
          <a:prstGeom prst="rect">
            <a:avLst/>
          </a:prstGeom>
          <a:solidFill>
            <a:srgbClr val="F5F5F5"/>
          </a:solidFill>
          <a:ln w="25400">
            <a:solidFill>
              <a:srgbClr val="2980B9"/>
            </a:solidFill>
            <a:prstDash val="solid"/>
          </a:ln>
        </p:spPr>
        <p:txBody>
          <a:bodyPr/>
          <a:lstStyle/>
          <a:p>
            <a:endParaRPr lang="nl-NL"/>
          </a:p>
        </p:txBody>
      </p:sp>
      <p:sp>
        <p:nvSpPr>
          <p:cNvPr id="32" name="Text 29"/>
          <p:cNvSpPr/>
          <p:nvPr/>
        </p:nvSpPr>
        <p:spPr>
          <a:xfrm>
            <a:off x="4773168" y="2295144"/>
            <a:ext cx="3017520" cy="201168"/>
          </a:xfrm>
          <a:prstGeom prst="rect">
            <a:avLst/>
          </a:prstGeom>
          <a:noFill/>
          <a:ln/>
        </p:spPr>
        <p:txBody>
          <a:bodyPr wrap="square" lIns="0" tIns="0" rIns="0" bIns="0" rtlCol="0" anchor="ctr"/>
          <a:lstStyle/>
          <a:p>
            <a:pPr marL="0" indent="0">
              <a:buNone/>
            </a:pPr>
            <a:r>
              <a:rPr lang="en-US" sz="1200" b="1" dirty="0">
                <a:solidFill>
                  <a:srgbClr val="2980B9"/>
                </a:solidFill>
                <a:latin typeface="Calibri" pitchFamily="34" charset="0"/>
                <a:ea typeface="Calibri" pitchFamily="34" charset="-122"/>
                <a:cs typeface="Calibri" pitchFamily="34" charset="-120"/>
              </a:rPr>
              <a:t>D: Quiet Transition</a:t>
            </a:r>
            <a:endParaRPr lang="en-US" sz="1200" dirty="0"/>
          </a:p>
        </p:txBody>
      </p:sp>
      <p:sp>
        <p:nvSpPr>
          <p:cNvPr id="33" name="Text 30"/>
          <p:cNvSpPr/>
          <p:nvPr/>
        </p:nvSpPr>
        <p:spPr>
          <a:xfrm>
            <a:off x="7863840" y="2276856"/>
            <a:ext cx="274320" cy="201168"/>
          </a:xfrm>
          <a:prstGeom prst="rect">
            <a:avLst/>
          </a:prstGeom>
          <a:noFill/>
          <a:ln/>
        </p:spPr>
        <p:txBody>
          <a:bodyPr wrap="square" rtlCol="0" anchor="ctr"/>
          <a:lstStyle/>
          <a:p>
            <a:pPr marL="0" indent="0" algn="ctr">
              <a:buNone/>
            </a:pPr>
            <a:r>
              <a:rPr lang="en-US" sz="1300" dirty="0">
                <a:solidFill>
                  <a:srgbClr val="2980B9"/>
                </a:solidFill>
                <a:latin typeface="Calibri" pitchFamily="34" charset="0"/>
                <a:ea typeface="Calibri" pitchFamily="34" charset="-122"/>
                <a:cs typeface="Calibri" pitchFamily="34" charset="-120"/>
              </a:rPr>
              <a:t>★</a:t>
            </a:r>
            <a:endParaRPr lang="en-US" sz="1300" dirty="0"/>
          </a:p>
        </p:txBody>
      </p:sp>
      <p:sp>
        <p:nvSpPr>
          <p:cNvPr id="34" name="Text 31"/>
          <p:cNvSpPr/>
          <p:nvPr/>
        </p:nvSpPr>
        <p:spPr>
          <a:xfrm>
            <a:off x="4773168" y="2496312"/>
            <a:ext cx="3346704" cy="146304"/>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Governed implementation, commercial experimentation</a:t>
            </a:r>
            <a:endParaRPr lang="en-US" sz="900" dirty="0"/>
          </a:p>
        </p:txBody>
      </p:sp>
      <p:sp>
        <p:nvSpPr>
          <p:cNvPr id="35" name="Text 32"/>
          <p:cNvSpPr/>
          <p:nvPr/>
        </p:nvSpPr>
        <p:spPr>
          <a:xfrm>
            <a:off x="4773168" y="2679192"/>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Same governance as C plus one outcome-based pricing pilot.</a:t>
            </a:r>
            <a:endParaRPr lang="en-US" sz="900" dirty="0"/>
          </a:p>
        </p:txBody>
      </p:sp>
      <p:sp>
        <p:nvSpPr>
          <p:cNvPr id="36" name="Text 33"/>
          <p:cNvSpPr/>
          <p:nvPr/>
        </p:nvSpPr>
        <p:spPr>
          <a:xfrm>
            <a:off x="4773168" y="2880360"/>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Proves the activation model and recurring revenue at low risk.</a:t>
            </a:r>
            <a:endParaRPr lang="en-US" sz="900" dirty="0"/>
          </a:p>
        </p:txBody>
      </p:sp>
      <p:sp>
        <p:nvSpPr>
          <p:cNvPr id="37" name="Text 34"/>
          <p:cNvSpPr/>
          <p:nvPr/>
        </p:nvSpPr>
        <p:spPr>
          <a:xfrm>
            <a:off x="4773168" y="3081528"/>
            <a:ext cx="3346704" cy="201168"/>
          </a:xfrm>
          <a:prstGeom prst="rect">
            <a:avLst/>
          </a:prstGeom>
          <a:noFill/>
          <a:ln/>
        </p:spPr>
        <p:txBody>
          <a:bodyPr wrap="square" lIns="0" tIns="0" rIns="0" bIns="0" rtlCol="0" anchor="t"/>
          <a:lstStyle/>
          <a:p>
            <a:pPr marL="0" indent="0">
              <a:buNone/>
            </a:pPr>
            <a:r>
              <a:rPr lang="en-US" sz="900" dirty="0">
                <a:solidFill>
                  <a:srgbClr val="333333"/>
                </a:solidFill>
                <a:latin typeface="Calibri" pitchFamily="34" charset="0"/>
                <a:ea typeface="Calibri" pitchFamily="34" charset="-122"/>
                <a:cs typeface="Calibri" pitchFamily="34" charset="-120"/>
              </a:rPr>
              <a:t>•  If it works: clear path to B. If not: stay in C, no damage done.</a:t>
            </a:r>
            <a:endParaRPr lang="en-US" sz="900" dirty="0"/>
          </a:p>
        </p:txBody>
      </p:sp>
      <p:sp>
        <p:nvSpPr>
          <p:cNvPr id="38" name="Text 35"/>
          <p:cNvSpPr/>
          <p:nvPr/>
        </p:nvSpPr>
        <p:spPr>
          <a:xfrm>
            <a:off x="457200" y="3731495"/>
            <a:ext cx="2286000" cy="201168"/>
          </a:xfrm>
          <a:prstGeom prst="rect">
            <a:avLst/>
          </a:prstGeom>
          <a:noFill/>
          <a:ln/>
        </p:spPr>
        <p:txBody>
          <a:bodyPr wrap="square" lIns="0" tIns="0" rIns="0" bIns="0"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Recommended route</a:t>
            </a:r>
            <a:endParaRPr lang="en-US" sz="1100" dirty="0"/>
          </a:p>
        </p:txBody>
      </p:sp>
      <p:sp>
        <p:nvSpPr>
          <p:cNvPr id="39" name="Shape 36"/>
          <p:cNvSpPr/>
          <p:nvPr/>
        </p:nvSpPr>
        <p:spPr>
          <a:xfrm>
            <a:off x="457200" y="4005815"/>
            <a:ext cx="2468880" cy="800100"/>
          </a:xfrm>
          <a:prstGeom prst="rect">
            <a:avLst/>
          </a:prstGeom>
          <a:solidFill>
            <a:srgbClr val="F5F5F5"/>
          </a:solidFill>
          <a:ln w="12700">
            <a:noFill/>
            <a:prstDash val="solid"/>
          </a:ln>
        </p:spPr>
        <p:txBody>
          <a:bodyPr/>
          <a:lstStyle/>
          <a:p>
            <a:endParaRPr lang="nl-NL"/>
          </a:p>
        </p:txBody>
      </p:sp>
      <p:sp>
        <p:nvSpPr>
          <p:cNvPr id="40" name="Text 37"/>
          <p:cNvSpPr/>
          <p:nvPr/>
        </p:nvSpPr>
        <p:spPr>
          <a:xfrm>
            <a:off x="548640" y="4024103"/>
            <a:ext cx="2286000" cy="146304"/>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Start C</a:t>
            </a:r>
            <a:endParaRPr lang="en-US" sz="1000" dirty="0"/>
          </a:p>
        </p:txBody>
      </p:sp>
      <p:sp>
        <p:nvSpPr>
          <p:cNvPr id="41" name="Text 38"/>
          <p:cNvSpPr/>
          <p:nvPr/>
        </p:nvSpPr>
        <p:spPr>
          <a:xfrm>
            <a:off x="548640" y="4188695"/>
            <a:ext cx="2286000" cy="301752"/>
          </a:xfrm>
          <a:prstGeom prst="rect">
            <a:avLst/>
          </a:prstGeom>
          <a:noFill/>
          <a:ln/>
        </p:spPr>
        <p:txBody>
          <a:bodyPr wrap="square" lIns="0" tIns="0" rIns="0" bIns="0" rtlCol="0" anchor="t"/>
          <a:lstStyle/>
          <a:p>
            <a:pPr marL="0" indent="0">
              <a:lnSpc>
                <a:spcPct val="112000"/>
              </a:lnSpc>
              <a:buNone/>
            </a:pPr>
            <a:r>
              <a:rPr lang="en-US" sz="850" dirty="0">
                <a:solidFill>
                  <a:srgbClr val="333333"/>
                </a:solidFill>
                <a:latin typeface="Calibri" pitchFamily="34" charset="0"/>
                <a:ea typeface="Calibri" pitchFamily="34" charset="-122"/>
                <a:cs typeface="Calibri" pitchFamily="34" charset="-120"/>
              </a:rPr>
              <a:t>Govern AI rollout. Quick wins in 6 weeks. Reskill the team. Build governance that becomes a sellable offering.</a:t>
            </a:r>
            <a:endParaRPr lang="en-US" sz="850" dirty="0"/>
          </a:p>
        </p:txBody>
      </p:sp>
      <p:sp>
        <p:nvSpPr>
          <p:cNvPr id="42" name="Text 39"/>
          <p:cNvSpPr/>
          <p:nvPr/>
        </p:nvSpPr>
        <p:spPr>
          <a:xfrm>
            <a:off x="2926080" y="4069823"/>
            <a:ext cx="320040" cy="274320"/>
          </a:xfrm>
          <a:prstGeom prst="rect">
            <a:avLst/>
          </a:prstGeom>
          <a:noFill/>
          <a:ln/>
        </p:spPr>
        <p:txBody>
          <a:bodyPr wrap="square" rtlCol="0" anchor="ctr"/>
          <a:lstStyle/>
          <a:p>
            <a:pPr marL="0" indent="0" algn="ctr">
              <a:buNone/>
            </a:pPr>
            <a:r>
              <a:rPr lang="en-US" sz="1800" b="1" dirty="0">
                <a:solidFill>
                  <a:srgbClr val="F0AC00"/>
                </a:solidFill>
                <a:latin typeface="Calibri" pitchFamily="34" charset="0"/>
                <a:ea typeface="Calibri" pitchFamily="34" charset="-122"/>
                <a:cs typeface="Calibri" pitchFamily="34" charset="-120"/>
              </a:rPr>
              <a:t>→</a:t>
            </a:r>
            <a:endParaRPr lang="en-US" sz="1800" dirty="0"/>
          </a:p>
        </p:txBody>
      </p:sp>
      <p:sp>
        <p:nvSpPr>
          <p:cNvPr id="43" name="Shape 40"/>
          <p:cNvSpPr/>
          <p:nvPr/>
        </p:nvSpPr>
        <p:spPr>
          <a:xfrm>
            <a:off x="3337560" y="4005815"/>
            <a:ext cx="2468880" cy="800100"/>
          </a:xfrm>
          <a:prstGeom prst="rect">
            <a:avLst/>
          </a:prstGeom>
          <a:solidFill>
            <a:srgbClr val="F5F5F5"/>
          </a:solidFill>
          <a:ln w="12700">
            <a:noFill/>
            <a:prstDash val="solid"/>
          </a:ln>
        </p:spPr>
        <p:txBody>
          <a:bodyPr/>
          <a:lstStyle/>
          <a:p>
            <a:endParaRPr lang="nl-NL"/>
          </a:p>
        </p:txBody>
      </p:sp>
      <p:sp>
        <p:nvSpPr>
          <p:cNvPr id="44" name="Text 41"/>
          <p:cNvSpPr/>
          <p:nvPr/>
        </p:nvSpPr>
        <p:spPr>
          <a:xfrm>
            <a:off x="3429000" y="4024103"/>
            <a:ext cx="2286000" cy="146304"/>
          </a:xfrm>
          <a:prstGeom prst="rect">
            <a:avLst/>
          </a:prstGeom>
          <a:noFill/>
          <a:ln/>
        </p:spPr>
        <p:txBody>
          <a:bodyPr wrap="square" lIns="0" tIns="0" rIns="0" bIns="0" rtlCol="0" anchor="ctr"/>
          <a:lstStyle/>
          <a:p>
            <a:pPr marL="0" indent="0">
              <a:buNone/>
            </a:pPr>
            <a:r>
              <a:rPr lang="en-US" sz="1000" b="1" dirty="0">
                <a:solidFill>
                  <a:srgbClr val="2980B9"/>
                </a:solidFill>
                <a:latin typeface="Calibri" pitchFamily="34" charset="0"/>
                <a:ea typeface="Calibri" pitchFamily="34" charset="-122"/>
                <a:cs typeface="Calibri" pitchFamily="34" charset="-120"/>
              </a:rPr>
              <a:t>Pilot D</a:t>
            </a:r>
            <a:endParaRPr lang="en-US" sz="1000" dirty="0"/>
          </a:p>
        </p:txBody>
      </p:sp>
      <p:sp>
        <p:nvSpPr>
          <p:cNvPr id="45" name="Text 42"/>
          <p:cNvSpPr/>
          <p:nvPr/>
        </p:nvSpPr>
        <p:spPr>
          <a:xfrm>
            <a:off x="3429000" y="4188695"/>
            <a:ext cx="2286000" cy="301752"/>
          </a:xfrm>
          <a:prstGeom prst="rect">
            <a:avLst/>
          </a:prstGeom>
          <a:noFill/>
          <a:ln/>
        </p:spPr>
        <p:txBody>
          <a:bodyPr wrap="square" lIns="0" tIns="0" rIns="0" bIns="0" rtlCol="0" anchor="t"/>
          <a:lstStyle/>
          <a:p>
            <a:pPr marL="0" indent="0">
              <a:lnSpc>
                <a:spcPct val="112000"/>
              </a:lnSpc>
              <a:buNone/>
            </a:pPr>
            <a:r>
              <a:rPr lang="en-US" sz="850" dirty="0">
                <a:solidFill>
                  <a:srgbClr val="333333"/>
                </a:solidFill>
                <a:latin typeface="Calibri" pitchFamily="34" charset="0"/>
                <a:ea typeface="Calibri" pitchFamily="34" charset="-122"/>
                <a:cs typeface="Calibri" pitchFamily="34" charset="-120"/>
              </a:rPr>
              <a:t>One outcome-based client. One product MVP. Prove the activation model works before scaling it.</a:t>
            </a:r>
            <a:endParaRPr lang="en-US" sz="850" dirty="0"/>
          </a:p>
        </p:txBody>
      </p:sp>
      <p:sp>
        <p:nvSpPr>
          <p:cNvPr id="46" name="Text 43"/>
          <p:cNvSpPr/>
          <p:nvPr/>
        </p:nvSpPr>
        <p:spPr>
          <a:xfrm>
            <a:off x="5806440" y="4069823"/>
            <a:ext cx="320040" cy="274320"/>
          </a:xfrm>
          <a:prstGeom prst="rect">
            <a:avLst/>
          </a:prstGeom>
          <a:noFill/>
          <a:ln/>
        </p:spPr>
        <p:txBody>
          <a:bodyPr wrap="square" rtlCol="0" anchor="ctr"/>
          <a:lstStyle/>
          <a:p>
            <a:pPr marL="0" indent="0" algn="ctr">
              <a:buNone/>
            </a:pPr>
            <a:r>
              <a:rPr lang="en-US" sz="1800" b="1" dirty="0">
                <a:solidFill>
                  <a:srgbClr val="F0AC00"/>
                </a:solidFill>
                <a:latin typeface="Calibri" pitchFamily="34" charset="0"/>
                <a:ea typeface="Calibri" pitchFamily="34" charset="-122"/>
                <a:cs typeface="Calibri" pitchFamily="34" charset="-120"/>
              </a:rPr>
              <a:t>→</a:t>
            </a:r>
            <a:endParaRPr lang="en-US" sz="1800" dirty="0"/>
          </a:p>
        </p:txBody>
      </p:sp>
      <p:sp>
        <p:nvSpPr>
          <p:cNvPr id="47" name="Shape 44"/>
          <p:cNvSpPr/>
          <p:nvPr/>
        </p:nvSpPr>
        <p:spPr>
          <a:xfrm>
            <a:off x="6217920" y="4005815"/>
            <a:ext cx="2468880" cy="800100"/>
          </a:xfrm>
          <a:prstGeom prst="rect">
            <a:avLst/>
          </a:prstGeom>
          <a:solidFill>
            <a:srgbClr val="F5F5F5"/>
          </a:solidFill>
          <a:ln w="12700">
            <a:noFill/>
            <a:prstDash val="solid"/>
          </a:ln>
        </p:spPr>
        <p:txBody>
          <a:bodyPr/>
          <a:lstStyle/>
          <a:p>
            <a:endParaRPr lang="nl-NL"/>
          </a:p>
        </p:txBody>
      </p:sp>
      <p:sp>
        <p:nvSpPr>
          <p:cNvPr id="48" name="Text 45"/>
          <p:cNvSpPr/>
          <p:nvPr/>
        </p:nvSpPr>
        <p:spPr>
          <a:xfrm>
            <a:off x="6309360" y="4024103"/>
            <a:ext cx="2286000" cy="14630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Option B</a:t>
            </a:r>
            <a:endParaRPr lang="en-US" sz="1000" dirty="0"/>
          </a:p>
        </p:txBody>
      </p:sp>
      <p:sp>
        <p:nvSpPr>
          <p:cNvPr id="49" name="Text 46"/>
          <p:cNvSpPr/>
          <p:nvPr/>
        </p:nvSpPr>
        <p:spPr>
          <a:xfrm>
            <a:off x="6309360" y="4188695"/>
            <a:ext cx="2286000" cy="301752"/>
          </a:xfrm>
          <a:prstGeom prst="rect">
            <a:avLst/>
          </a:prstGeom>
          <a:noFill/>
          <a:ln/>
        </p:spPr>
        <p:txBody>
          <a:bodyPr wrap="square" lIns="0" tIns="0" rIns="0" bIns="0" rtlCol="0" anchor="t"/>
          <a:lstStyle/>
          <a:p>
            <a:pPr marL="0" indent="0">
              <a:lnSpc>
                <a:spcPct val="112000"/>
              </a:lnSpc>
              <a:buNone/>
            </a:pPr>
            <a:r>
              <a:rPr lang="en-US" sz="850" dirty="0">
                <a:solidFill>
                  <a:srgbClr val="333333"/>
                </a:solidFill>
                <a:latin typeface="Calibri" pitchFamily="34" charset="0"/>
                <a:ea typeface="Calibri" pitchFamily="34" charset="-122"/>
                <a:cs typeface="Calibri" pitchFamily="34" charset="-120"/>
              </a:rPr>
              <a:t>If activation pilot succeeds: accelerate to full transformation. If not: stay in C with lessons learned, no damage.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10</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Short-term initiatives: now → 6 months</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Foundation. Governance first, then capability, then delivery transformation.</a:t>
            </a:r>
            <a:endParaRPr lang="en-US" sz="1100" dirty="0"/>
          </a:p>
        </p:txBody>
      </p:sp>
      <p:sp>
        <p:nvSpPr>
          <p:cNvPr id="6" name="Shape 3"/>
          <p:cNvSpPr/>
          <p:nvPr/>
        </p:nvSpPr>
        <p:spPr>
          <a:xfrm>
            <a:off x="457200" y="960120"/>
            <a:ext cx="54864" cy="548640"/>
          </a:xfrm>
          <a:prstGeom prst="rect">
            <a:avLst/>
          </a:prstGeom>
          <a:solidFill>
            <a:srgbClr val="C0392B"/>
          </a:solidFill>
          <a:ln/>
        </p:spPr>
        <p:txBody>
          <a:bodyPr/>
          <a:lstStyle/>
          <a:p>
            <a:endParaRPr lang="nl-NL"/>
          </a:p>
        </p:txBody>
      </p:sp>
      <p:sp>
        <p:nvSpPr>
          <p:cNvPr id="7" name="Text 4"/>
          <p:cNvSpPr/>
          <p:nvPr/>
        </p:nvSpPr>
        <p:spPr>
          <a:xfrm>
            <a:off x="594360" y="960120"/>
            <a:ext cx="201168" cy="228600"/>
          </a:xfrm>
          <a:prstGeom prst="rect">
            <a:avLst/>
          </a:prstGeom>
          <a:noFill/>
          <a:ln/>
        </p:spPr>
        <p:txBody>
          <a:bodyPr wrap="square" lIns="0" tIns="0" rIns="0" bIns="0" rtlCol="0" anchor="ctr"/>
          <a:lstStyle/>
          <a:p>
            <a:pPr marL="0" indent="0">
              <a:buNone/>
            </a:pPr>
            <a:r>
              <a:rPr lang="en-US" sz="1400" b="1" dirty="0">
                <a:solidFill>
                  <a:srgbClr val="C0392B"/>
                </a:solidFill>
                <a:latin typeface="Arial" pitchFamily="34" charset="0"/>
                <a:ea typeface="Arial" pitchFamily="34" charset="-122"/>
                <a:cs typeface="Arial" pitchFamily="34" charset="-120"/>
              </a:rPr>
              <a:t>1</a:t>
            </a:r>
            <a:endParaRPr lang="en-US" sz="1400" dirty="0"/>
          </a:p>
        </p:txBody>
      </p:sp>
      <p:sp>
        <p:nvSpPr>
          <p:cNvPr id="8" name="Text 5"/>
          <p:cNvSpPr/>
          <p:nvPr/>
        </p:nvSpPr>
        <p:spPr>
          <a:xfrm>
            <a:off x="868680" y="960120"/>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AI Governance Framework</a:t>
            </a:r>
            <a:endParaRPr lang="en-US" sz="1000" dirty="0"/>
          </a:p>
        </p:txBody>
      </p:sp>
      <p:sp>
        <p:nvSpPr>
          <p:cNvPr id="9" name="Text 6"/>
          <p:cNvSpPr/>
          <p:nvPr/>
        </p:nvSpPr>
        <p:spPr>
          <a:xfrm>
            <a:off x="868680" y="1188720"/>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CoE corridor: Assess → Pilot → Approve → Adopt. RED/AMBER/GREEN data classification. EU AI Act compliance. Day 1 priority: people on personal AI accounts is the single biggest operational risk.</a:t>
            </a:r>
            <a:endParaRPr lang="en-US" sz="850" dirty="0"/>
          </a:p>
        </p:txBody>
      </p:sp>
      <p:sp>
        <p:nvSpPr>
          <p:cNvPr id="10" name="Text 7"/>
          <p:cNvSpPr/>
          <p:nvPr/>
        </p:nvSpPr>
        <p:spPr>
          <a:xfrm>
            <a:off x="4846320" y="1188720"/>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Data classification policy. Vendor vetting checklist. AI use guidelines per role.</a:t>
            </a:r>
            <a:endParaRPr lang="en-US" sz="850" dirty="0"/>
          </a:p>
        </p:txBody>
      </p:sp>
      <p:sp>
        <p:nvSpPr>
          <p:cNvPr id="11" name="Shape 8"/>
          <p:cNvSpPr/>
          <p:nvPr/>
        </p:nvSpPr>
        <p:spPr>
          <a:xfrm>
            <a:off x="457200" y="1618488"/>
            <a:ext cx="54864" cy="548640"/>
          </a:xfrm>
          <a:prstGeom prst="rect">
            <a:avLst/>
          </a:prstGeom>
          <a:solidFill>
            <a:srgbClr val="F0AC00"/>
          </a:solidFill>
          <a:ln/>
        </p:spPr>
        <p:txBody>
          <a:bodyPr/>
          <a:lstStyle/>
          <a:p>
            <a:endParaRPr lang="nl-NL"/>
          </a:p>
        </p:txBody>
      </p:sp>
      <p:sp>
        <p:nvSpPr>
          <p:cNvPr id="12" name="Text 9"/>
          <p:cNvSpPr/>
          <p:nvPr/>
        </p:nvSpPr>
        <p:spPr>
          <a:xfrm>
            <a:off x="594360" y="1618488"/>
            <a:ext cx="201168" cy="228600"/>
          </a:xfrm>
          <a:prstGeom prst="rect">
            <a:avLst/>
          </a:prstGeom>
          <a:noFill/>
          <a:ln/>
        </p:spPr>
        <p:txBody>
          <a:bodyPr wrap="square" lIns="0" tIns="0" rIns="0" bIns="0" rtlCol="0" anchor="ctr"/>
          <a:lstStyle/>
          <a:p>
            <a:pPr marL="0" indent="0">
              <a:buNone/>
            </a:pPr>
            <a:r>
              <a:rPr lang="en-US" sz="1400" b="1" dirty="0">
                <a:solidFill>
                  <a:srgbClr val="F0AC00"/>
                </a:solidFill>
                <a:latin typeface="Arial" pitchFamily="34" charset="0"/>
                <a:ea typeface="Arial" pitchFamily="34" charset="-122"/>
                <a:cs typeface="Arial" pitchFamily="34" charset="-120"/>
              </a:rPr>
              <a:t>2</a:t>
            </a:r>
            <a:endParaRPr lang="en-US" sz="1400" dirty="0"/>
          </a:p>
        </p:txBody>
      </p:sp>
      <p:sp>
        <p:nvSpPr>
          <p:cNvPr id="13" name="Text 10"/>
          <p:cNvSpPr/>
          <p:nvPr/>
        </p:nvSpPr>
        <p:spPr>
          <a:xfrm>
            <a:off x="868680" y="1618488"/>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Team Upskilling</a:t>
            </a:r>
            <a:endParaRPr lang="en-US" sz="1000" dirty="0"/>
          </a:p>
        </p:txBody>
      </p:sp>
      <p:sp>
        <p:nvSpPr>
          <p:cNvPr id="14" name="Text 11"/>
          <p:cNvSpPr/>
          <p:nvPr/>
        </p:nvSpPr>
        <p:spPr>
          <a:xfrm>
            <a:off x="868680" y="1847088"/>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7 role-specific programmes. Champions model with peer coaching. Target: 80% adoption by Month 6. Every person builds something with AI in their own role within 4 weeks.</a:t>
            </a:r>
            <a:endParaRPr lang="en-US" sz="850" dirty="0"/>
          </a:p>
        </p:txBody>
      </p:sp>
      <p:sp>
        <p:nvSpPr>
          <p:cNvPr id="15" name="Text 12"/>
          <p:cNvSpPr/>
          <p:nvPr/>
        </p:nvSpPr>
        <p:spPr>
          <a:xfrm>
            <a:off x="4846320" y="1847088"/>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Hands-on workshops, not slide decks. Measured by output quality, not attendance.</a:t>
            </a:r>
            <a:endParaRPr lang="en-US" sz="850" dirty="0"/>
          </a:p>
        </p:txBody>
      </p:sp>
      <p:sp>
        <p:nvSpPr>
          <p:cNvPr id="16" name="Shape 13"/>
          <p:cNvSpPr/>
          <p:nvPr/>
        </p:nvSpPr>
        <p:spPr>
          <a:xfrm>
            <a:off x="457200" y="2276856"/>
            <a:ext cx="54864" cy="548640"/>
          </a:xfrm>
          <a:prstGeom prst="rect">
            <a:avLst/>
          </a:prstGeom>
          <a:solidFill>
            <a:srgbClr val="2980B9"/>
          </a:solidFill>
          <a:ln/>
        </p:spPr>
        <p:txBody>
          <a:bodyPr/>
          <a:lstStyle/>
          <a:p>
            <a:endParaRPr lang="nl-NL"/>
          </a:p>
        </p:txBody>
      </p:sp>
      <p:sp>
        <p:nvSpPr>
          <p:cNvPr id="17" name="Text 14"/>
          <p:cNvSpPr/>
          <p:nvPr/>
        </p:nvSpPr>
        <p:spPr>
          <a:xfrm>
            <a:off x="594360" y="2276856"/>
            <a:ext cx="201168" cy="228600"/>
          </a:xfrm>
          <a:prstGeom prst="rect">
            <a:avLst/>
          </a:prstGeom>
          <a:noFill/>
          <a:ln/>
        </p:spPr>
        <p:txBody>
          <a:bodyPr wrap="square" lIns="0" tIns="0" rIns="0" bIns="0" rtlCol="0" anchor="ctr"/>
          <a:lstStyle/>
          <a:p>
            <a:pPr marL="0" indent="0">
              <a:buNone/>
            </a:pPr>
            <a:r>
              <a:rPr lang="en-US" sz="1400" b="1" dirty="0">
                <a:solidFill>
                  <a:srgbClr val="2980B9"/>
                </a:solidFill>
                <a:latin typeface="Arial" pitchFamily="34" charset="0"/>
                <a:ea typeface="Arial" pitchFamily="34" charset="-122"/>
                <a:cs typeface="Arial" pitchFamily="34" charset="-120"/>
              </a:rPr>
              <a:t>3</a:t>
            </a:r>
            <a:endParaRPr lang="en-US" sz="1400" dirty="0"/>
          </a:p>
        </p:txBody>
      </p:sp>
      <p:sp>
        <p:nvSpPr>
          <p:cNvPr id="18" name="Text 15"/>
          <p:cNvSpPr/>
          <p:nvPr/>
        </p:nvSpPr>
        <p:spPr>
          <a:xfrm>
            <a:off x="868680" y="2276856"/>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AI-Augmented Proposals &amp; Reports</a:t>
            </a:r>
            <a:endParaRPr lang="en-US" sz="1000" dirty="0"/>
          </a:p>
        </p:txBody>
      </p:sp>
      <p:sp>
        <p:nvSpPr>
          <p:cNvPr id="19" name="Text 16"/>
          <p:cNvSpPr/>
          <p:nvPr/>
        </p:nvSpPr>
        <p:spPr>
          <a:xfrm>
            <a:off x="868680" y="2505456"/>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Sales + Advisor roles first. VBR dossiers auto-compiled. Proposals personalised per stakeholder agenda. Quickest visible win: immediate time savings, low risk.</a:t>
            </a:r>
            <a:endParaRPr lang="en-US" sz="850" dirty="0"/>
          </a:p>
        </p:txBody>
      </p:sp>
      <p:sp>
        <p:nvSpPr>
          <p:cNvPr id="20" name="Text 17"/>
          <p:cNvSpPr/>
          <p:nvPr/>
        </p:nvSpPr>
        <p:spPr>
          <a:xfrm>
            <a:off x="4846320" y="2505456"/>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Template library + AI generation pipeline. Before/after quality comparison.</a:t>
            </a:r>
            <a:endParaRPr lang="en-US" sz="850" dirty="0"/>
          </a:p>
        </p:txBody>
      </p:sp>
      <p:sp>
        <p:nvSpPr>
          <p:cNvPr id="21" name="Shape 18"/>
          <p:cNvSpPr/>
          <p:nvPr/>
        </p:nvSpPr>
        <p:spPr>
          <a:xfrm>
            <a:off x="457200" y="2935224"/>
            <a:ext cx="54864" cy="548640"/>
          </a:xfrm>
          <a:prstGeom prst="rect">
            <a:avLst/>
          </a:prstGeom>
          <a:solidFill>
            <a:srgbClr val="27AE60"/>
          </a:solidFill>
          <a:ln/>
        </p:spPr>
        <p:txBody>
          <a:bodyPr/>
          <a:lstStyle/>
          <a:p>
            <a:endParaRPr lang="nl-NL"/>
          </a:p>
        </p:txBody>
      </p:sp>
      <p:sp>
        <p:nvSpPr>
          <p:cNvPr id="22" name="Text 19"/>
          <p:cNvSpPr/>
          <p:nvPr/>
        </p:nvSpPr>
        <p:spPr>
          <a:xfrm>
            <a:off x="594360" y="2935224"/>
            <a:ext cx="201168" cy="228600"/>
          </a:xfrm>
          <a:prstGeom prst="rect">
            <a:avLst/>
          </a:prstGeom>
          <a:noFill/>
          <a:ln/>
        </p:spPr>
        <p:txBody>
          <a:bodyPr wrap="square" lIns="0" tIns="0" rIns="0" bIns="0" rtlCol="0" anchor="ctr"/>
          <a:lstStyle/>
          <a:p>
            <a:pPr marL="0" indent="0">
              <a:buNone/>
            </a:pPr>
            <a:r>
              <a:rPr lang="en-US" sz="1400" b="1" dirty="0">
                <a:solidFill>
                  <a:srgbClr val="27AE60"/>
                </a:solidFill>
                <a:latin typeface="Arial" pitchFamily="34" charset="0"/>
                <a:ea typeface="Arial" pitchFamily="34" charset="-122"/>
                <a:cs typeface="Arial" pitchFamily="34" charset="-120"/>
              </a:rPr>
              <a:t>4</a:t>
            </a:r>
            <a:endParaRPr lang="en-US" sz="1400" dirty="0"/>
          </a:p>
        </p:txBody>
      </p:sp>
      <p:sp>
        <p:nvSpPr>
          <p:cNvPr id="23" name="Text 20"/>
          <p:cNvSpPr/>
          <p:nvPr/>
        </p:nvSpPr>
        <p:spPr>
          <a:xfrm>
            <a:off x="868680" y="2935224"/>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Internal Knowledge Management</a:t>
            </a:r>
            <a:endParaRPr lang="en-US" sz="1000" dirty="0"/>
          </a:p>
        </p:txBody>
      </p:sp>
      <p:sp>
        <p:nvSpPr>
          <p:cNvPr id="24" name="Text 21"/>
          <p:cNvSpPr/>
          <p:nvPr/>
        </p:nvSpPr>
        <p:spPr>
          <a:xfrm>
            <a:off x="868680" y="3163824"/>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200+ programme insights made AI-accessible. The firm's collective intelligence available to every consultant. Becomes the basis for productisation.</a:t>
            </a:r>
            <a:endParaRPr lang="en-US" sz="850" dirty="0"/>
          </a:p>
        </p:txBody>
      </p:sp>
      <p:sp>
        <p:nvSpPr>
          <p:cNvPr id="25" name="Text 22"/>
          <p:cNvSpPr/>
          <p:nvPr/>
        </p:nvSpPr>
        <p:spPr>
          <a:xfrm>
            <a:off x="4846320" y="3163824"/>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Structured knowledge base. Searchable by role, stage, and client type.</a:t>
            </a:r>
            <a:endParaRPr lang="en-US" sz="850" dirty="0"/>
          </a:p>
        </p:txBody>
      </p:sp>
      <p:sp>
        <p:nvSpPr>
          <p:cNvPr id="26" name="Shape 23"/>
          <p:cNvSpPr/>
          <p:nvPr/>
        </p:nvSpPr>
        <p:spPr>
          <a:xfrm>
            <a:off x="457200" y="3593592"/>
            <a:ext cx="54864" cy="548640"/>
          </a:xfrm>
          <a:prstGeom prst="rect">
            <a:avLst/>
          </a:prstGeom>
          <a:solidFill>
            <a:srgbClr val="8E44AD"/>
          </a:solidFill>
          <a:ln/>
        </p:spPr>
        <p:txBody>
          <a:bodyPr/>
          <a:lstStyle/>
          <a:p>
            <a:endParaRPr lang="nl-NL"/>
          </a:p>
        </p:txBody>
      </p:sp>
      <p:sp>
        <p:nvSpPr>
          <p:cNvPr id="27" name="Text 24"/>
          <p:cNvSpPr/>
          <p:nvPr/>
        </p:nvSpPr>
        <p:spPr>
          <a:xfrm>
            <a:off x="594360" y="3593592"/>
            <a:ext cx="201168" cy="228600"/>
          </a:xfrm>
          <a:prstGeom prst="rect">
            <a:avLst/>
          </a:prstGeom>
          <a:noFill/>
          <a:ln/>
        </p:spPr>
        <p:txBody>
          <a:bodyPr wrap="square" lIns="0" tIns="0" rIns="0" bIns="0" rtlCol="0" anchor="ctr"/>
          <a:lstStyle/>
          <a:p>
            <a:pPr marL="0" indent="0">
              <a:buNone/>
            </a:pPr>
            <a:r>
              <a:rPr lang="en-US" sz="1400" b="1" dirty="0">
                <a:solidFill>
                  <a:srgbClr val="8E44AD"/>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868680" y="3593592"/>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Marketing Repositioning</a:t>
            </a:r>
            <a:endParaRPr lang="en-US" sz="1000" dirty="0"/>
          </a:p>
        </p:txBody>
      </p:sp>
      <p:sp>
        <p:nvSpPr>
          <p:cNvPr id="29" name="Text 26"/>
          <p:cNvSpPr/>
          <p:nvPr/>
        </p:nvSpPr>
        <p:spPr>
          <a:xfrm>
            <a:off x="868680" y="3822192"/>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AKT positioned as AI-augmented XM partner. Not 'we plan to use AI’ - 'we already do.' Internal AI tools as proof point. Website, thought leadership, case studies.</a:t>
            </a:r>
            <a:endParaRPr lang="en-US" sz="850" dirty="0"/>
          </a:p>
        </p:txBody>
      </p:sp>
      <p:sp>
        <p:nvSpPr>
          <p:cNvPr id="30" name="Text 27"/>
          <p:cNvSpPr/>
          <p:nvPr/>
        </p:nvSpPr>
        <p:spPr>
          <a:xfrm>
            <a:off x="4846320" y="3822192"/>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New narrative. Updated SOW language. Client-facing AI capability statements.</a:t>
            </a:r>
            <a:endParaRPr lang="en-US" sz="850" dirty="0"/>
          </a:p>
        </p:txBody>
      </p:sp>
      <p:sp>
        <p:nvSpPr>
          <p:cNvPr id="31" name="Shape 8">
            <a:extLst>
              <a:ext uri="{FF2B5EF4-FFF2-40B4-BE49-F238E27FC236}">
                <a16:creationId xmlns:a16="http://schemas.microsoft.com/office/drawing/2014/main" id="{575CD1D1-F86D-0513-58A1-37B9B7C24650}"/>
              </a:ext>
            </a:extLst>
          </p:cNvPr>
          <p:cNvSpPr/>
          <p:nvPr/>
        </p:nvSpPr>
        <p:spPr>
          <a:xfrm>
            <a:off x="4709160" y="1188720"/>
            <a:ext cx="0" cy="320040"/>
          </a:xfrm>
          <a:prstGeom prst="line">
            <a:avLst/>
          </a:prstGeom>
          <a:noFill/>
          <a:ln w="6350">
            <a:solidFill>
              <a:srgbClr val="E0E0E0"/>
            </a:solidFill>
            <a:prstDash val="solid"/>
          </a:ln>
        </p:spPr>
        <p:txBody>
          <a:bodyPr/>
          <a:lstStyle/>
          <a:p>
            <a:endParaRPr lang="nl-NL"/>
          </a:p>
        </p:txBody>
      </p:sp>
      <p:sp>
        <p:nvSpPr>
          <p:cNvPr id="32" name="Shape 14">
            <a:extLst>
              <a:ext uri="{FF2B5EF4-FFF2-40B4-BE49-F238E27FC236}">
                <a16:creationId xmlns:a16="http://schemas.microsoft.com/office/drawing/2014/main" id="{CB8EC99B-C225-C64D-2F26-6434551F2772}"/>
              </a:ext>
            </a:extLst>
          </p:cNvPr>
          <p:cNvSpPr/>
          <p:nvPr/>
        </p:nvSpPr>
        <p:spPr>
          <a:xfrm>
            <a:off x="4709160" y="1847088"/>
            <a:ext cx="0" cy="320040"/>
          </a:xfrm>
          <a:prstGeom prst="line">
            <a:avLst/>
          </a:prstGeom>
          <a:noFill/>
          <a:ln w="6350">
            <a:solidFill>
              <a:srgbClr val="E0E0E0"/>
            </a:solidFill>
            <a:prstDash val="solid"/>
          </a:ln>
        </p:spPr>
        <p:txBody>
          <a:bodyPr/>
          <a:lstStyle/>
          <a:p>
            <a:endParaRPr lang="nl-NL"/>
          </a:p>
        </p:txBody>
      </p:sp>
      <p:sp>
        <p:nvSpPr>
          <p:cNvPr id="33" name="Shape 20">
            <a:extLst>
              <a:ext uri="{FF2B5EF4-FFF2-40B4-BE49-F238E27FC236}">
                <a16:creationId xmlns:a16="http://schemas.microsoft.com/office/drawing/2014/main" id="{F9E5C49F-05F9-45D4-705C-98450D654AE3}"/>
              </a:ext>
            </a:extLst>
          </p:cNvPr>
          <p:cNvSpPr/>
          <p:nvPr/>
        </p:nvSpPr>
        <p:spPr>
          <a:xfrm>
            <a:off x="4709160" y="2505456"/>
            <a:ext cx="0" cy="320040"/>
          </a:xfrm>
          <a:prstGeom prst="line">
            <a:avLst/>
          </a:prstGeom>
          <a:noFill/>
          <a:ln w="6350">
            <a:solidFill>
              <a:srgbClr val="E0E0E0"/>
            </a:solidFill>
            <a:prstDash val="solid"/>
          </a:ln>
        </p:spPr>
        <p:txBody>
          <a:bodyPr/>
          <a:lstStyle/>
          <a:p>
            <a:endParaRPr lang="nl-NL"/>
          </a:p>
        </p:txBody>
      </p:sp>
      <p:sp>
        <p:nvSpPr>
          <p:cNvPr id="34" name="Shape 26">
            <a:extLst>
              <a:ext uri="{FF2B5EF4-FFF2-40B4-BE49-F238E27FC236}">
                <a16:creationId xmlns:a16="http://schemas.microsoft.com/office/drawing/2014/main" id="{1F1626E2-BFBA-2CB9-ECF1-EE1A8140B62F}"/>
              </a:ext>
            </a:extLst>
          </p:cNvPr>
          <p:cNvSpPr/>
          <p:nvPr/>
        </p:nvSpPr>
        <p:spPr>
          <a:xfrm>
            <a:off x="4709160" y="3163824"/>
            <a:ext cx="0" cy="320040"/>
          </a:xfrm>
          <a:prstGeom prst="line">
            <a:avLst/>
          </a:prstGeom>
          <a:noFill/>
          <a:ln w="6350">
            <a:solidFill>
              <a:srgbClr val="E0E0E0"/>
            </a:solidFill>
            <a:prstDash val="solid"/>
          </a:ln>
        </p:spPr>
        <p:txBody>
          <a:bodyPr/>
          <a:lstStyle/>
          <a:p>
            <a:endParaRPr lang="nl-NL"/>
          </a:p>
        </p:txBody>
      </p:sp>
      <p:sp>
        <p:nvSpPr>
          <p:cNvPr id="35" name="Shape 32">
            <a:extLst>
              <a:ext uri="{FF2B5EF4-FFF2-40B4-BE49-F238E27FC236}">
                <a16:creationId xmlns:a16="http://schemas.microsoft.com/office/drawing/2014/main" id="{3DE056CD-D9C5-A02C-1AE9-1EAE71872214}"/>
              </a:ext>
            </a:extLst>
          </p:cNvPr>
          <p:cNvSpPr/>
          <p:nvPr/>
        </p:nvSpPr>
        <p:spPr>
          <a:xfrm>
            <a:off x="4709160" y="3822192"/>
            <a:ext cx="0" cy="320040"/>
          </a:xfrm>
          <a:prstGeom prst="line">
            <a:avLst/>
          </a:prstGeom>
          <a:noFill/>
          <a:ln w="6350">
            <a:solidFill>
              <a:srgbClr val="E0E0E0"/>
            </a:solidFill>
            <a:prstDash val="solid"/>
          </a:ln>
        </p:spPr>
        <p:txBody>
          <a:bodyPr/>
          <a:lstStyle/>
          <a:p>
            <a:endParaRPr lang="nl-N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11</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Mid-to-long-term initiatives: 6 → 12+ months</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Only if Phase 1 foundations are solid. Each initiative has a gate decision.</a:t>
            </a:r>
            <a:endParaRPr lang="en-US" sz="1100" dirty="0"/>
          </a:p>
        </p:txBody>
      </p:sp>
      <p:sp>
        <p:nvSpPr>
          <p:cNvPr id="6" name="Shape 3"/>
          <p:cNvSpPr/>
          <p:nvPr/>
        </p:nvSpPr>
        <p:spPr>
          <a:xfrm>
            <a:off x="457200" y="960120"/>
            <a:ext cx="54864" cy="548640"/>
          </a:xfrm>
          <a:prstGeom prst="rect">
            <a:avLst/>
          </a:prstGeom>
          <a:solidFill>
            <a:srgbClr val="1ABC9C"/>
          </a:solidFill>
          <a:ln/>
        </p:spPr>
        <p:txBody>
          <a:bodyPr/>
          <a:lstStyle/>
          <a:p>
            <a:endParaRPr lang="nl-NL"/>
          </a:p>
        </p:txBody>
      </p:sp>
      <p:sp>
        <p:nvSpPr>
          <p:cNvPr id="7" name="Text 4"/>
          <p:cNvSpPr/>
          <p:nvPr/>
        </p:nvSpPr>
        <p:spPr>
          <a:xfrm>
            <a:off x="594360" y="960120"/>
            <a:ext cx="201168" cy="228600"/>
          </a:xfrm>
          <a:prstGeom prst="rect">
            <a:avLst/>
          </a:prstGeom>
          <a:noFill/>
          <a:ln/>
        </p:spPr>
        <p:txBody>
          <a:bodyPr wrap="square" lIns="0" tIns="0" rIns="0" bIns="0" rtlCol="0" anchor="ctr"/>
          <a:lstStyle/>
          <a:p>
            <a:pPr marL="0" indent="0">
              <a:buNone/>
            </a:pPr>
            <a:r>
              <a:rPr lang="en-US" sz="1400" b="1" dirty="0">
                <a:solidFill>
                  <a:srgbClr val="1ABC9C"/>
                </a:solidFill>
                <a:latin typeface="Arial" pitchFamily="34" charset="0"/>
                <a:ea typeface="Arial" pitchFamily="34" charset="-122"/>
                <a:cs typeface="Arial" pitchFamily="34" charset="-120"/>
              </a:rPr>
              <a:t>1</a:t>
            </a:r>
            <a:endParaRPr lang="en-US" sz="1400" dirty="0"/>
          </a:p>
        </p:txBody>
      </p:sp>
      <p:sp>
        <p:nvSpPr>
          <p:cNvPr id="8" name="Text 5"/>
          <p:cNvSpPr/>
          <p:nvPr/>
        </p:nvSpPr>
        <p:spPr>
          <a:xfrm>
            <a:off x="868680" y="960120"/>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Programme Intelligence Product</a:t>
            </a:r>
            <a:endParaRPr lang="en-US" sz="1000" dirty="0"/>
          </a:p>
        </p:txBody>
      </p:sp>
      <p:sp>
        <p:nvSpPr>
          <p:cNvPr id="9" name="Text 6"/>
          <p:cNvSpPr/>
          <p:nvPr/>
        </p:nvSpPr>
        <p:spPr>
          <a:xfrm>
            <a:off x="868680" y="1188720"/>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First proprietary AI capability to market. Agentic monitoring of live programmes. Subscription pricing. Proof point for Scenario D.</a:t>
            </a:r>
            <a:endParaRPr lang="en-US" sz="850" dirty="0"/>
          </a:p>
        </p:txBody>
      </p:sp>
      <p:sp>
        <p:nvSpPr>
          <p:cNvPr id="10" name="Text 7"/>
          <p:cNvSpPr/>
          <p:nvPr/>
        </p:nvSpPr>
        <p:spPr>
          <a:xfrm>
            <a:off x="4846320" y="1188720"/>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Agentic AI monitors client Qualtrics programmes. Monthly retainer. First 3 clients from short-term pilots.</a:t>
            </a:r>
            <a:endParaRPr lang="en-US" sz="850" dirty="0"/>
          </a:p>
        </p:txBody>
      </p:sp>
      <p:sp>
        <p:nvSpPr>
          <p:cNvPr id="11" name="Shape 8"/>
          <p:cNvSpPr/>
          <p:nvPr/>
        </p:nvSpPr>
        <p:spPr>
          <a:xfrm>
            <a:off x="4709160" y="1188720"/>
            <a:ext cx="0" cy="320040"/>
          </a:xfrm>
          <a:prstGeom prst="line">
            <a:avLst/>
          </a:prstGeom>
          <a:noFill/>
          <a:ln w="6350">
            <a:solidFill>
              <a:srgbClr val="E0E0E0"/>
            </a:solidFill>
            <a:prstDash val="solid"/>
          </a:ln>
        </p:spPr>
        <p:txBody>
          <a:bodyPr/>
          <a:lstStyle/>
          <a:p>
            <a:endParaRPr lang="nl-NL"/>
          </a:p>
        </p:txBody>
      </p:sp>
      <p:sp>
        <p:nvSpPr>
          <p:cNvPr id="12" name="Shape 9"/>
          <p:cNvSpPr/>
          <p:nvPr/>
        </p:nvSpPr>
        <p:spPr>
          <a:xfrm>
            <a:off x="457200" y="1618488"/>
            <a:ext cx="54864" cy="548640"/>
          </a:xfrm>
          <a:prstGeom prst="rect">
            <a:avLst/>
          </a:prstGeom>
          <a:solidFill>
            <a:srgbClr val="F0AC00"/>
          </a:solidFill>
          <a:ln/>
        </p:spPr>
        <p:txBody>
          <a:bodyPr/>
          <a:lstStyle/>
          <a:p>
            <a:endParaRPr lang="nl-NL"/>
          </a:p>
        </p:txBody>
      </p:sp>
      <p:sp>
        <p:nvSpPr>
          <p:cNvPr id="13" name="Text 10"/>
          <p:cNvSpPr/>
          <p:nvPr/>
        </p:nvSpPr>
        <p:spPr>
          <a:xfrm>
            <a:off x="594360" y="1618488"/>
            <a:ext cx="201168" cy="228600"/>
          </a:xfrm>
          <a:prstGeom prst="rect">
            <a:avLst/>
          </a:prstGeom>
          <a:noFill/>
          <a:ln/>
        </p:spPr>
        <p:txBody>
          <a:bodyPr wrap="square" lIns="0" tIns="0" rIns="0" bIns="0" rtlCol="0" anchor="ctr"/>
          <a:lstStyle/>
          <a:p>
            <a:pPr marL="0" indent="0">
              <a:buNone/>
            </a:pPr>
            <a:r>
              <a:rPr lang="en-US" sz="1400" b="1" dirty="0">
                <a:solidFill>
                  <a:srgbClr val="F0AC00"/>
                </a:solidFill>
                <a:latin typeface="Arial" pitchFamily="34" charset="0"/>
                <a:ea typeface="Arial" pitchFamily="34" charset="-122"/>
                <a:cs typeface="Arial" pitchFamily="34" charset="-120"/>
              </a:rPr>
              <a:t>2</a:t>
            </a:r>
            <a:endParaRPr lang="en-US" sz="1400" dirty="0"/>
          </a:p>
        </p:txBody>
      </p:sp>
      <p:sp>
        <p:nvSpPr>
          <p:cNvPr id="14" name="Text 11"/>
          <p:cNvSpPr/>
          <p:nvPr/>
        </p:nvSpPr>
        <p:spPr>
          <a:xfrm>
            <a:off x="868680" y="1618488"/>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Subscription Client Pilot</a:t>
            </a:r>
            <a:endParaRPr lang="en-US" sz="1000" dirty="0"/>
          </a:p>
        </p:txBody>
      </p:sp>
      <p:sp>
        <p:nvSpPr>
          <p:cNvPr id="15" name="Text 12"/>
          <p:cNvSpPr/>
          <p:nvPr/>
        </p:nvSpPr>
        <p:spPr>
          <a:xfrm>
            <a:off x="868680" y="1847088"/>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One strategic client. Continuous intelligence, not project-based. If this works, it proves recurring revenue for Scenario B.</a:t>
            </a:r>
            <a:endParaRPr lang="en-US" sz="850" dirty="0"/>
          </a:p>
        </p:txBody>
      </p:sp>
      <p:sp>
        <p:nvSpPr>
          <p:cNvPr id="16" name="Text 13"/>
          <p:cNvSpPr/>
          <p:nvPr/>
        </p:nvSpPr>
        <p:spPr>
          <a:xfrm>
            <a:off x="4846320" y="1847088"/>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One outcome-based client. One product MVP. Prove the model works before scaling.</a:t>
            </a:r>
            <a:endParaRPr lang="en-US" sz="850" dirty="0"/>
          </a:p>
        </p:txBody>
      </p:sp>
      <p:sp>
        <p:nvSpPr>
          <p:cNvPr id="17" name="Shape 14"/>
          <p:cNvSpPr/>
          <p:nvPr/>
        </p:nvSpPr>
        <p:spPr>
          <a:xfrm>
            <a:off x="4709160" y="1847088"/>
            <a:ext cx="0" cy="320040"/>
          </a:xfrm>
          <a:prstGeom prst="line">
            <a:avLst/>
          </a:prstGeom>
          <a:noFill/>
          <a:ln w="6350">
            <a:solidFill>
              <a:srgbClr val="E0E0E0"/>
            </a:solidFill>
            <a:prstDash val="solid"/>
          </a:ln>
        </p:spPr>
        <p:txBody>
          <a:bodyPr/>
          <a:lstStyle/>
          <a:p>
            <a:endParaRPr lang="nl-NL"/>
          </a:p>
        </p:txBody>
      </p:sp>
      <p:sp>
        <p:nvSpPr>
          <p:cNvPr id="18" name="Shape 15"/>
          <p:cNvSpPr/>
          <p:nvPr/>
        </p:nvSpPr>
        <p:spPr>
          <a:xfrm>
            <a:off x="457200" y="2276856"/>
            <a:ext cx="54864" cy="548640"/>
          </a:xfrm>
          <a:prstGeom prst="rect">
            <a:avLst/>
          </a:prstGeom>
          <a:solidFill>
            <a:srgbClr val="8E44AD"/>
          </a:solidFill>
          <a:ln/>
        </p:spPr>
        <p:txBody>
          <a:bodyPr/>
          <a:lstStyle/>
          <a:p>
            <a:endParaRPr lang="nl-NL"/>
          </a:p>
        </p:txBody>
      </p:sp>
      <p:sp>
        <p:nvSpPr>
          <p:cNvPr id="19" name="Text 16"/>
          <p:cNvSpPr/>
          <p:nvPr/>
        </p:nvSpPr>
        <p:spPr>
          <a:xfrm>
            <a:off x="594360" y="2276856"/>
            <a:ext cx="201168" cy="228600"/>
          </a:xfrm>
          <a:prstGeom prst="rect">
            <a:avLst/>
          </a:prstGeom>
          <a:noFill/>
          <a:ln/>
        </p:spPr>
        <p:txBody>
          <a:bodyPr wrap="square" lIns="0" tIns="0" rIns="0" bIns="0" rtlCol="0" anchor="ctr"/>
          <a:lstStyle/>
          <a:p>
            <a:pPr marL="0" indent="0">
              <a:buNone/>
            </a:pPr>
            <a:r>
              <a:rPr lang="en-US" sz="1400" b="1" dirty="0">
                <a:solidFill>
                  <a:srgbClr val="8E44AD"/>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68680" y="2276856"/>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AI Governance as Client Offering</a:t>
            </a:r>
            <a:endParaRPr lang="en-US" sz="1000" dirty="0"/>
          </a:p>
        </p:txBody>
      </p:sp>
      <p:sp>
        <p:nvSpPr>
          <p:cNvPr id="21" name="Text 18"/>
          <p:cNvSpPr/>
          <p:nvPr/>
        </p:nvSpPr>
        <p:spPr>
          <a:xfrm>
            <a:off x="868680" y="2505456"/>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87% of enterprise AI projects fail. Clients need what AKT built internally: a governed approach to AI in XM.</a:t>
            </a:r>
            <a:endParaRPr lang="en-US" sz="850" dirty="0"/>
          </a:p>
        </p:txBody>
      </p:sp>
      <p:sp>
        <p:nvSpPr>
          <p:cNvPr id="22" name="Text 19"/>
          <p:cNvSpPr/>
          <p:nvPr/>
        </p:nvSpPr>
        <p:spPr>
          <a:xfrm>
            <a:off x="4846320" y="2505456"/>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Sell the framework as a structured advisory engagement. Turn internal investment into external revenue.</a:t>
            </a:r>
            <a:endParaRPr lang="en-US" sz="850" dirty="0"/>
          </a:p>
        </p:txBody>
      </p:sp>
      <p:sp>
        <p:nvSpPr>
          <p:cNvPr id="23" name="Shape 20"/>
          <p:cNvSpPr/>
          <p:nvPr/>
        </p:nvSpPr>
        <p:spPr>
          <a:xfrm>
            <a:off x="4709160" y="2505456"/>
            <a:ext cx="0" cy="320040"/>
          </a:xfrm>
          <a:prstGeom prst="line">
            <a:avLst/>
          </a:prstGeom>
          <a:noFill/>
          <a:ln w="6350">
            <a:solidFill>
              <a:srgbClr val="E0E0E0"/>
            </a:solidFill>
            <a:prstDash val="solid"/>
          </a:ln>
        </p:spPr>
        <p:txBody>
          <a:bodyPr/>
          <a:lstStyle/>
          <a:p>
            <a:endParaRPr lang="nl-NL"/>
          </a:p>
        </p:txBody>
      </p:sp>
      <p:sp>
        <p:nvSpPr>
          <p:cNvPr id="24" name="Shape 21"/>
          <p:cNvSpPr/>
          <p:nvPr/>
        </p:nvSpPr>
        <p:spPr>
          <a:xfrm>
            <a:off x="457200" y="2935224"/>
            <a:ext cx="54864" cy="548640"/>
          </a:xfrm>
          <a:prstGeom prst="rect">
            <a:avLst/>
          </a:prstGeom>
          <a:solidFill>
            <a:srgbClr val="2980B9"/>
          </a:solidFill>
          <a:ln/>
        </p:spPr>
        <p:txBody>
          <a:bodyPr/>
          <a:lstStyle/>
          <a:p>
            <a:endParaRPr lang="nl-NL"/>
          </a:p>
        </p:txBody>
      </p:sp>
      <p:sp>
        <p:nvSpPr>
          <p:cNvPr id="25" name="Text 22"/>
          <p:cNvSpPr/>
          <p:nvPr/>
        </p:nvSpPr>
        <p:spPr>
          <a:xfrm>
            <a:off x="594360" y="2935224"/>
            <a:ext cx="201168" cy="228600"/>
          </a:xfrm>
          <a:prstGeom prst="rect">
            <a:avLst/>
          </a:prstGeom>
          <a:noFill/>
          <a:ln/>
        </p:spPr>
        <p:txBody>
          <a:bodyPr wrap="square" lIns="0" tIns="0" rIns="0" bIns="0" rtlCol="0" anchor="ctr"/>
          <a:lstStyle/>
          <a:p>
            <a:pPr marL="0" indent="0">
              <a:buNone/>
            </a:pPr>
            <a:r>
              <a:rPr lang="en-US" sz="1400" b="1" dirty="0">
                <a:solidFill>
                  <a:srgbClr val="2980B9"/>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868680" y="2935224"/>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Qualtrics Dual-Track Partner Status</a:t>
            </a:r>
            <a:endParaRPr lang="en-US" sz="1000" dirty="0"/>
          </a:p>
        </p:txBody>
      </p:sp>
      <p:sp>
        <p:nvSpPr>
          <p:cNvPr id="27" name="Text 24"/>
          <p:cNvSpPr/>
          <p:nvPr/>
        </p:nvSpPr>
        <p:spPr>
          <a:xfrm>
            <a:off x="868680" y="3163824"/>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No Platinum partner occupies both Consulting and Platform tracks. First-mover advantage on QPN Platform Track.</a:t>
            </a:r>
            <a:endParaRPr lang="en-US" sz="850" dirty="0"/>
          </a:p>
        </p:txBody>
      </p:sp>
      <p:sp>
        <p:nvSpPr>
          <p:cNvPr id="28" name="Text 25"/>
          <p:cNvSpPr/>
          <p:nvPr/>
        </p:nvSpPr>
        <p:spPr>
          <a:xfrm>
            <a:off x="4846320" y="3163824"/>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Build application case with AI orchestration capability. Window: Q4 2026.</a:t>
            </a:r>
            <a:endParaRPr lang="en-US" sz="850" dirty="0"/>
          </a:p>
        </p:txBody>
      </p:sp>
      <p:sp>
        <p:nvSpPr>
          <p:cNvPr id="29" name="Shape 26"/>
          <p:cNvSpPr/>
          <p:nvPr/>
        </p:nvSpPr>
        <p:spPr>
          <a:xfrm>
            <a:off x="4709160" y="3163824"/>
            <a:ext cx="0" cy="320040"/>
          </a:xfrm>
          <a:prstGeom prst="line">
            <a:avLst/>
          </a:prstGeom>
          <a:noFill/>
          <a:ln w="6350">
            <a:solidFill>
              <a:srgbClr val="E0E0E0"/>
            </a:solidFill>
            <a:prstDash val="solid"/>
          </a:ln>
        </p:spPr>
        <p:txBody>
          <a:bodyPr/>
          <a:lstStyle/>
          <a:p>
            <a:endParaRPr lang="nl-NL"/>
          </a:p>
        </p:txBody>
      </p:sp>
      <p:sp>
        <p:nvSpPr>
          <p:cNvPr id="30" name="Shape 27"/>
          <p:cNvSpPr/>
          <p:nvPr/>
        </p:nvSpPr>
        <p:spPr>
          <a:xfrm>
            <a:off x="457200" y="3593592"/>
            <a:ext cx="54864" cy="548640"/>
          </a:xfrm>
          <a:prstGeom prst="rect">
            <a:avLst/>
          </a:prstGeom>
          <a:solidFill>
            <a:srgbClr val="27AE60"/>
          </a:solidFill>
          <a:ln/>
        </p:spPr>
        <p:txBody>
          <a:bodyPr/>
          <a:lstStyle/>
          <a:p>
            <a:endParaRPr lang="nl-NL"/>
          </a:p>
        </p:txBody>
      </p:sp>
      <p:sp>
        <p:nvSpPr>
          <p:cNvPr id="31" name="Text 28"/>
          <p:cNvSpPr/>
          <p:nvPr/>
        </p:nvSpPr>
        <p:spPr>
          <a:xfrm>
            <a:off x="594360" y="3593592"/>
            <a:ext cx="201168" cy="228600"/>
          </a:xfrm>
          <a:prstGeom prst="rect">
            <a:avLst/>
          </a:prstGeom>
          <a:noFill/>
          <a:ln/>
        </p:spPr>
        <p:txBody>
          <a:bodyPr wrap="square" lIns="0" tIns="0" rIns="0" bIns="0" rtlCol="0" anchor="ctr"/>
          <a:lstStyle/>
          <a:p>
            <a:pPr marL="0" indent="0">
              <a:buNone/>
            </a:pPr>
            <a:r>
              <a:rPr lang="en-US" sz="1400" b="1" dirty="0">
                <a:solidFill>
                  <a:srgbClr val="27AE60"/>
                </a:solidFill>
                <a:latin typeface="Arial" pitchFamily="34" charset="0"/>
                <a:ea typeface="Arial" pitchFamily="34" charset="-122"/>
                <a:cs typeface="Arial" pitchFamily="34" charset="-120"/>
              </a:rPr>
              <a:t>5</a:t>
            </a:r>
            <a:endParaRPr lang="en-US" sz="1400" dirty="0"/>
          </a:p>
        </p:txBody>
      </p:sp>
      <p:sp>
        <p:nvSpPr>
          <p:cNvPr id="32" name="Text 29"/>
          <p:cNvSpPr/>
          <p:nvPr/>
        </p:nvSpPr>
        <p:spPr>
          <a:xfrm>
            <a:off x="868680" y="3593592"/>
            <a:ext cx="7315200" cy="22860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XM Benchmark Programme</a:t>
            </a:r>
            <a:endParaRPr lang="en-US" sz="1000" dirty="0"/>
          </a:p>
        </p:txBody>
      </p:sp>
      <p:sp>
        <p:nvSpPr>
          <p:cNvPr id="33" name="Text 30"/>
          <p:cNvSpPr/>
          <p:nvPr/>
        </p:nvSpPr>
        <p:spPr>
          <a:xfrm>
            <a:off x="868680" y="3822192"/>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Cross-client data no single organisation can produce. Anonymised benchmarks position AKT as the XM community hub.</a:t>
            </a:r>
            <a:endParaRPr lang="en-US" sz="850" dirty="0"/>
          </a:p>
        </p:txBody>
      </p:sp>
      <p:sp>
        <p:nvSpPr>
          <p:cNvPr id="34" name="Text 31"/>
          <p:cNvSpPr/>
          <p:nvPr/>
        </p:nvSpPr>
        <p:spPr>
          <a:xfrm>
            <a:off x="4846320" y="3822192"/>
            <a:ext cx="3840480" cy="320040"/>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Calibri" pitchFamily="34" charset="0"/>
                <a:ea typeface="Calibri" pitchFamily="34" charset="-122"/>
                <a:cs typeface="Calibri" pitchFamily="34" charset="-120"/>
              </a:rPr>
              <a:t>Annual membership: round tables, cohort learning, benchmark reports. Network effects.</a:t>
            </a:r>
            <a:endParaRPr lang="en-US" sz="850" dirty="0"/>
          </a:p>
        </p:txBody>
      </p:sp>
      <p:sp>
        <p:nvSpPr>
          <p:cNvPr id="35" name="Shape 32"/>
          <p:cNvSpPr/>
          <p:nvPr/>
        </p:nvSpPr>
        <p:spPr>
          <a:xfrm>
            <a:off x="4709160" y="3822192"/>
            <a:ext cx="0" cy="320040"/>
          </a:xfrm>
          <a:prstGeom prst="line">
            <a:avLst/>
          </a:prstGeom>
          <a:noFill/>
          <a:ln w="6350">
            <a:solidFill>
              <a:srgbClr val="E0E0E0"/>
            </a:solidFill>
            <a:prstDash val="solid"/>
          </a:ln>
        </p:spPr>
        <p:txBody>
          <a:bodyPr/>
          <a:lstStyle/>
          <a:p>
            <a:endParaRPr lang="nl-N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Our AI-powered XM service portfolio (draft)</a:t>
            </a:r>
          </a:p>
        </p:txBody>
      </p:sp>
      <p:sp>
        <p:nvSpPr>
          <p:cNvPr id="3" name="Text 1"/>
          <p:cNvSpPr/>
          <p:nvPr/>
        </p:nvSpPr>
        <p:spPr>
          <a:xfrm>
            <a:off x="457200" y="731845"/>
            <a:ext cx="8229600" cy="274320"/>
          </a:xfrm>
          <a:prstGeom prst="rect">
            <a:avLst/>
          </a:prstGeom>
          <a:noFill/>
          <a:ln/>
        </p:spPr>
        <p:txBody>
          <a:bodyPr wrap="square" rtlCol="0" anchor="ctr"/>
          <a:lstStyle/>
          <a:p>
            <a:pPr marL="0" indent="0" algn="l">
              <a:buNone/>
            </a:pPr>
            <a:r>
              <a:rPr lang="en-US" sz="1100" i="1" dirty="0">
                <a:solidFill>
                  <a:srgbClr val="666666"/>
                </a:solidFill>
                <a:latin typeface="Calibri" panose="020F0502020204030204" pitchFamily="34" charset="0"/>
                <a:ea typeface="Arial" pitchFamily="34" charset="-122"/>
                <a:cs typeface="Calibri" panose="020F0502020204030204" pitchFamily="34" charset="0"/>
              </a:rPr>
              <a:t>Five services across the XM engagement lifecycle. Same work AKT does today but faster, deeper, and connected by AI.</a:t>
            </a:r>
            <a:endParaRPr lang="en-US" sz="1100" dirty="0">
              <a:latin typeface="Calibri" panose="020F0502020204030204" pitchFamily="34" charset="0"/>
              <a:cs typeface="Calibri" panose="020F0502020204030204" pitchFamily="34" charset="0"/>
            </a:endParaRPr>
          </a:p>
        </p:txBody>
      </p:sp>
      <p:sp>
        <p:nvSpPr>
          <p:cNvPr id="5" name="Shape 3"/>
          <p:cNvSpPr/>
          <p:nvPr/>
        </p:nvSpPr>
        <p:spPr>
          <a:xfrm>
            <a:off x="457200" y="1051560"/>
            <a:ext cx="54864" cy="640080"/>
          </a:xfrm>
          <a:prstGeom prst="rect">
            <a:avLst/>
          </a:prstGeom>
          <a:solidFill>
            <a:srgbClr val="27AE60"/>
          </a:solidFill>
          <a:ln/>
        </p:spPr>
        <p:txBody>
          <a:bodyPr/>
          <a:lstStyle/>
          <a:p>
            <a:endParaRPr lang="nl-NL"/>
          </a:p>
        </p:txBody>
      </p:sp>
      <p:sp>
        <p:nvSpPr>
          <p:cNvPr id="6" name="Text 4"/>
          <p:cNvSpPr/>
          <p:nvPr/>
        </p:nvSpPr>
        <p:spPr>
          <a:xfrm>
            <a:off x="594360" y="1150324"/>
            <a:ext cx="1097280" cy="228600"/>
          </a:xfrm>
          <a:prstGeom prst="rect">
            <a:avLst/>
          </a:prstGeom>
          <a:noFill/>
          <a:ln/>
        </p:spPr>
        <p:txBody>
          <a:bodyPr wrap="square" rtlCol="0" anchor="ctr"/>
          <a:lstStyle/>
          <a:p>
            <a:pPr marL="0" indent="0" algn="l">
              <a:buNone/>
            </a:pPr>
            <a:r>
              <a:rPr lang="en-US" sz="1200" b="1" dirty="0">
                <a:solidFill>
                  <a:srgbClr val="27AE60"/>
                </a:solidFill>
                <a:latin typeface="Calibri Light" panose="020F0302020204030204" pitchFamily="34" charset="0"/>
                <a:ea typeface="Arial" pitchFamily="34" charset="-122"/>
                <a:cs typeface="Calibri Light" panose="020F0302020204030204" pitchFamily="34" charset="0"/>
              </a:rPr>
              <a:t>SPOTLIGHT</a:t>
            </a:r>
            <a:endParaRPr lang="en-US" sz="1200" b="1" dirty="0">
              <a:latin typeface="Calibri Light" panose="020F0302020204030204" pitchFamily="34" charset="0"/>
              <a:cs typeface="Calibri Light" panose="020F0302020204030204" pitchFamily="34" charset="0"/>
            </a:endParaRPr>
          </a:p>
        </p:txBody>
      </p:sp>
      <p:sp>
        <p:nvSpPr>
          <p:cNvPr id="7" name="Text 5"/>
          <p:cNvSpPr/>
          <p:nvPr/>
        </p:nvSpPr>
        <p:spPr>
          <a:xfrm>
            <a:off x="594360" y="1390727"/>
            <a:ext cx="1097280" cy="164592"/>
          </a:xfrm>
          <a:prstGeom prst="rect">
            <a:avLst/>
          </a:prstGeom>
          <a:noFill/>
          <a:ln/>
        </p:spPr>
        <p:txBody>
          <a:bodyPr wrap="square" rtlCol="0" anchor="ctr"/>
          <a:lstStyle/>
          <a:p>
            <a:pPr marL="0" indent="0" algn="l">
              <a:buNone/>
            </a:pPr>
            <a:r>
              <a:rPr lang="en-US" sz="1000" dirty="0">
                <a:solidFill>
                  <a:srgbClr val="666666"/>
                </a:solidFill>
                <a:latin typeface="Calibri Light" panose="020F0302020204030204" pitchFamily="34" charset="0"/>
                <a:ea typeface="Arial" pitchFamily="34" charset="-122"/>
                <a:cs typeface="Calibri Light" panose="020F0302020204030204" pitchFamily="34" charset="0"/>
              </a:rPr>
              <a:t>Client Discovery</a:t>
            </a:r>
            <a:endParaRPr lang="en-US" sz="1000" dirty="0">
              <a:latin typeface="Calibri Light" panose="020F0302020204030204" pitchFamily="34" charset="0"/>
              <a:cs typeface="Calibri Light" panose="020F0302020204030204" pitchFamily="34" charset="0"/>
            </a:endParaRPr>
          </a:p>
        </p:txBody>
      </p:sp>
      <p:sp>
        <p:nvSpPr>
          <p:cNvPr id="8" name="Text 6"/>
          <p:cNvSpPr/>
          <p:nvPr/>
        </p:nvSpPr>
        <p:spPr>
          <a:xfrm>
            <a:off x="1828800" y="1051560"/>
            <a:ext cx="2743200" cy="640080"/>
          </a:xfrm>
          <a:prstGeom prst="rect">
            <a:avLst/>
          </a:prstGeom>
          <a:noFill/>
          <a:ln/>
        </p:spPr>
        <p:txBody>
          <a:bodyPr wrap="square" rtlCol="0" anchor="ctr"/>
          <a:lstStyle/>
          <a:p>
            <a:pPr marL="0" indent="0" algn="l">
              <a:buNone/>
            </a:pPr>
            <a:r>
              <a:rPr lang="en-US" sz="1000" b="1" dirty="0">
                <a:solidFill>
                  <a:srgbClr val="000000"/>
                </a:solidFill>
                <a:latin typeface="Calibri" panose="020F0502020204030204" pitchFamily="34" charset="0"/>
                <a:ea typeface="Arial" pitchFamily="34" charset="-122"/>
                <a:cs typeface="Calibri" panose="020F0502020204030204" pitchFamily="34" charset="0"/>
              </a:rPr>
              <a:t>Before we touch the platform, we understand the terrain.</a:t>
            </a:r>
            <a:endParaRPr lang="en-US" sz="1000" dirty="0">
              <a:latin typeface="Calibri" panose="020F0502020204030204" pitchFamily="34" charset="0"/>
              <a:cs typeface="Calibri" panose="020F0502020204030204" pitchFamily="34" charset="0"/>
            </a:endParaRPr>
          </a:p>
        </p:txBody>
      </p:sp>
      <p:sp>
        <p:nvSpPr>
          <p:cNvPr id="9" name="Text 7"/>
          <p:cNvSpPr/>
          <p:nvPr/>
        </p:nvSpPr>
        <p:spPr>
          <a:xfrm>
            <a:off x="4754880" y="1051560"/>
            <a:ext cx="3931920" cy="640080"/>
          </a:xfrm>
          <a:prstGeom prst="rect">
            <a:avLst/>
          </a:prstGeom>
          <a:noFill/>
          <a:ln/>
        </p:spPr>
        <p:txBody>
          <a:bodyPr wrap="square" rtlCol="0" anchor="ctr"/>
          <a:lstStyle/>
          <a:p>
            <a:pPr marL="0" indent="0" algn="l">
              <a:buNone/>
            </a:pPr>
            <a:r>
              <a:rPr lang="en-US" sz="900" dirty="0">
                <a:solidFill>
                  <a:srgbClr val="000000"/>
                </a:solidFill>
                <a:latin typeface="Calibri" panose="020F0502020204030204" pitchFamily="34" charset="0"/>
                <a:cs typeface="Calibri" panose="020F0502020204030204" pitchFamily="34" charset="0"/>
              </a:rPr>
              <a:t>AI-powered client intelligence: stakeholder mapping, XM maturity, competitive positioning, north star alignment, CMX status</a:t>
            </a:r>
            <a:r>
              <a:rPr lang="en-US" sz="900" dirty="0">
                <a:solidFill>
                  <a:srgbClr val="333333"/>
                </a:solidFill>
                <a:latin typeface="Calibri" panose="020F0502020204030204" pitchFamily="34" charset="0"/>
                <a:ea typeface="Arial" pitchFamily="34" charset="-122"/>
                <a:cs typeface="Calibri" panose="020F0502020204030204" pitchFamily="34" charset="0"/>
              </a:rPr>
              <a:t>. </a:t>
            </a:r>
            <a:endParaRPr lang="en-US" sz="900" dirty="0">
              <a:latin typeface="Calibri" panose="020F0502020204030204" pitchFamily="34" charset="0"/>
              <a:cs typeface="Calibri" panose="020F0502020204030204" pitchFamily="34" charset="0"/>
            </a:endParaRPr>
          </a:p>
        </p:txBody>
      </p:sp>
      <p:sp>
        <p:nvSpPr>
          <p:cNvPr id="10" name="Shape 8"/>
          <p:cNvSpPr/>
          <p:nvPr/>
        </p:nvSpPr>
        <p:spPr>
          <a:xfrm>
            <a:off x="457200" y="1737360"/>
            <a:ext cx="54864" cy="640080"/>
          </a:xfrm>
          <a:prstGeom prst="rect">
            <a:avLst/>
          </a:prstGeom>
          <a:solidFill>
            <a:srgbClr val="2980B9"/>
          </a:solidFill>
          <a:ln/>
        </p:spPr>
        <p:txBody>
          <a:bodyPr/>
          <a:lstStyle/>
          <a:p>
            <a:endParaRPr lang="nl-NL"/>
          </a:p>
        </p:txBody>
      </p:sp>
      <p:sp>
        <p:nvSpPr>
          <p:cNvPr id="11" name="Text 9"/>
          <p:cNvSpPr/>
          <p:nvPr/>
        </p:nvSpPr>
        <p:spPr>
          <a:xfrm>
            <a:off x="594360" y="1743845"/>
            <a:ext cx="1097280" cy="228600"/>
          </a:xfrm>
          <a:prstGeom prst="rect">
            <a:avLst/>
          </a:prstGeom>
          <a:noFill/>
          <a:ln/>
        </p:spPr>
        <p:txBody>
          <a:bodyPr wrap="square" rtlCol="0" anchor="ctr"/>
          <a:lstStyle/>
          <a:p>
            <a:pPr marL="0" indent="0" algn="l">
              <a:buNone/>
            </a:pPr>
            <a:r>
              <a:rPr lang="en-US" sz="1200" b="1" dirty="0">
                <a:solidFill>
                  <a:srgbClr val="2980B9"/>
                </a:solidFill>
                <a:latin typeface="Calibri Light" panose="020F0302020204030204" pitchFamily="34" charset="0"/>
                <a:ea typeface="Arial" pitchFamily="34" charset="-122"/>
                <a:cs typeface="Calibri Light" panose="020F0302020204030204" pitchFamily="34" charset="0"/>
              </a:rPr>
              <a:t>BLUEPRINT</a:t>
            </a:r>
            <a:endParaRPr lang="en-US" sz="1200" b="1" dirty="0">
              <a:latin typeface="Calibri Light" panose="020F0302020204030204" pitchFamily="34" charset="0"/>
              <a:cs typeface="Calibri Light" panose="020F0302020204030204" pitchFamily="34" charset="0"/>
            </a:endParaRPr>
          </a:p>
        </p:txBody>
      </p:sp>
      <p:sp>
        <p:nvSpPr>
          <p:cNvPr id="12" name="Text 10"/>
          <p:cNvSpPr/>
          <p:nvPr/>
        </p:nvSpPr>
        <p:spPr>
          <a:xfrm>
            <a:off x="594360" y="1984248"/>
            <a:ext cx="1097280" cy="164592"/>
          </a:xfrm>
          <a:prstGeom prst="rect">
            <a:avLst/>
          </a:prstGeom>
          <a:noFill/>
          <a:ln/>
        </p:spPr>
        <p:txBody>
          <a:bodyPr wrap="square" rtlCol="0" anchor="ctr"/>
          <a:lstStyle/>
          <a:p>
            <a:pPr marL="0" indent="0" algn="l">
              <a:buNone/>
            </a:pPr>
            <a:r>
              <a:rPr lang="en-US" sz="1000" dirty="0">
                <a:solidFill>
                  <a:srgbClr val="666666"/>
                </a:solidFill>
                <a:latin typeface="Calibri Light" panose="020F0302020204030204" pitchFamily="34" charset="0"/>
                <a:ea typeface="Arial" pitchFamily="34" charset="-122"/>
                <a:cs typeface="Calibri Light" panose="020F0302020204030204" pitchFamily="34" charset="0"/>
              </a:rPr>
              <a:t>Programme Design</a:t>
            </a:r>
            <a:endParaRPr lang="en-US" sz="1000" dirty="0">
              <a:latin typeface="Calibri Light" panose="020F0302020204030204" pitchFamily="34" charset="0"/>
              <a:cs typeface="Calibri Light" panose="020F0302020204030204" pitchFamily="34" charset="0"/>
            </a:endParaRPr>
          </a:p>
        </p:txBody>
      </p:sp>
      <p:sp>
        <p:nvSpPr>
          <p:cNvPr id="13" name="Text 11"/>
          <p:cNvSpPr/>
          <p:nvPr/>
        </p:nvSpPr>
        <p:spPr>
          <a:xfrm>
            <a:off x="1828800" y="1737360"/>
            <a:ext cx="2743200" cy="640080"/>
          </a:xfrm>
          <a:prstGeom prst="rect">
            <a:avLst/>
          </a:prstGeom>
          <a:noFill/>
          <a:ln/>
        </p:spPr>
        <p:txBody>
          <a:bodyPr wrap="square" rtlCol="0" anchor="ctr"/>
          <a:lstStyle/>
          <a:p>
            <a:pPr marL="0" indent="0" algn="l">
              <a:buNone/>
            </a:pPr>
            <a:r>
              <a:rPr lang="en-US" sz="1000" b="1" dirty="0">
                <a:solidFill>
                  <a:srgbClr val="000000"/>
                </a:solidFill>
                <a:latin typeface="Calibri" panose="020F0502020204030204" pitchFamily="34" charset="0"/>
                <a:ea typeface="Arial" pitchFamily="34" charset="-122"/>
                <a:cs typeface="Calibri" panose="020F0502020204030204" pitchFamily="34" charset="0"/>
              </a:rPr>
              <a:t>More options. Sharper trade-offs. Aligned before the first build.</a:t>
            </a:r>
            <a:endParaRPr lang="en-US" sz="1000" dirty="0">
              <a:latin typeface="Calibri" panose="020F0502020204030204" pitchFamily="34" charset="0"/>
              <a:cs typeface="Calibri" panose="020F0502020204030204" pitchFamily="34" charset="0"/>
            </a:endParaRPr>
          </a:p>
        </p:txBody>
      </p:sp>
      <p:sp>
        <p:nvSpPr>
          <p:cNvPr id="14" name="Text 12"/>
          <p:cNvSpPr/>
          <p:nvPr/>
        </p:nvSpPr>
        <p:spPr>
          <a:xfrm>
            <a:off x="4754880" y="1737360"/>
            <a:ext cx="3931920" cy="640080"/>
          </a:xfrm>
          <a:prstGeom prst="rect">
            <a:avLst/>
          </a:prstGeom>
          <a:noFill/>
          <a:ln/>
        </p:spPr>
        <p:txBody>
          <a:bodyPr wrap="square" rtlCol="0" anchor="ctr"/>
          <a:lstStyle/>
          <a:p>
            <a:pPr marL="0" indent="0" algn="l">
              <a:buNone/>
            </a:pPr>
            <a:r>
              <a:rPr lang="en-US" sz="900" dirty="0">
                <a:solidFill>
                  <a:srgbClr val="333333"/>
                </a:solidFill>
                <a:latin typeface="Calibri" panose="020F0502020204030204" pitchFamily="34" charset="0"/>
                <a:ea typeface="Arial" pitchFamily="34" charset="-122"/>
                <a:cs typeface="Calibri" panose="020F0502020204030204" pitchFamily="34" charset="0"/>
              </a:rPr>
              <a:t>XM Command center connects vision, value, execution and technology. AI-generated design alternatives for CX/EX journeys, personas, measurement frameworks. Multiple architectures with clear trade-offs, pressure-tested against stakeholders.</a:t>
            </a:r>
            <a:endParaRPr lang="en-US" sz="900" dirty="0">
              <a:latin typeface="Calibri" panose="020F0502020204030204" pitchFamily="34" charset="0"/>
              <a:cs typeface="Calibri" panose="020F0502020204030204" pitchFamily="34" charset="0"/>
            </a:endParaRPr>
          </a:p>
        </p:txBody>
      </p:sp>
      <p:sp>
        <p:nvSpPr>
          <p:cNvPr id="15" name="Shape 13"/>
          <p:cNvSpPr/>
          <p:nvPr/>
        </p:nvSpPr>
        <p:spPr>
          <a:xfrm>
            <a:off x="457200" y="2423160"/>
            <a:ext cx="54864" cy="640080"/>
          </a:xfrm>
          <a:prstGeom prst="rect">
            <a:avLst/>
          </a:prstGeom>
          <a:solidFill>
            <a:srgbClr val="1ABC9C"/>
          </a:solidFill>
          <a:ln/>
        </p:spPr>
        <p:txBody>
          <a:bodyPr/>
          <a:lstStyle/>
          <a:p>
            <a:endParaRPr lang="nl-NL"/>
          </a:p>
        </p:txBody>
      </p:sp>
      <p:sp>
        <p:nvSpPr>
          <p:cNvPr id="16" name="Text 14"/>
          <p:cNvSpPr/>
          <p:nvPr/>
        </p:nvSpPr>
        <p:spPr>
          <a:xfrm>
            <a:off x="594360" y="2429645"/>
            <a:ext cx="1097280" cy="228600"/>
          </a:xfrm>
          <a:prstGeom prst="rect">
            <a:avLst/>
          </a:prstGeom>
          <a:noFill/>
          <a:ln/>
        </p:spPr>
        <p:txBody>
          <a:bodyPr wrap="square" rtlCol="0" anchor="ctr"/>
          <a:lstStyle/>
          <a:p>
            <a:pPr marL="0" indent="0" algn="l">
              <a:buNone/>
            </a:pPr>
            <a:r>
              <a:rPr lang="en-US" sz="1200" b="1" dirty="0">
                <a:solidFill>
                  <a:srgbClr val="1ABC9C"/>
                </a:solidFill>
                <a:latin typeface="Calibri Light" panose="020F0302020204030204" pitchFamily="34" charset="0"/>
                <a:ea typeface="Arial" pitchFamily="34" charset="-122"/>
                <a:cs typeface="Calibri Light" panose="020F0302020204030204" pitchFamily="34" charset="0"/>
              </a:rPr>
              <a:t>PULSE</a:t>
            </a:r>
            <a:endParaRPr lang="en-US" sz="1200" b="1" dirty="0">
              <a:latin typeface="Calibri Light" panose="020F0302020204030204" pitchFamily="34" charset="0"/>
              <a:cs typeface="Calibri Light" panose="020F0302020204030204" pitchFamily="34" charset="0"/>
            </a:endParaRPr>
          </a:p>
        </p:txBody>
      </p:sp>
      <p:sp>
        <p:nvSpPr>
          <p:cNvPr id="17" name="Text 15"/>
          <p:cNvSpPr/>
          <p:nvPr/>
        </p:nvSpPr>
        <p:spPr>
          <a:xfrm>
            <a:off x="594360" y="2670048"/>
            <a:ext cx="1097280" cy="164592"/>
          </a:xfrm>
          <a:prstGeom prst="rect">
            <a:avLst/>
          </a:prstGeom>
          <a:noFill/>
          <a:ln/>
        </p:spPr>
        <p:txBody>
          <a:bodyPr wrap="square" rtlCol="0" anchor="ctr"/>
          <a:lstStyle/>
          <a:p>
            <a:pPr marL="0" indent="0" algn="l">
              <a:buNone/>
            </a:pPr>
            <a:r>
              <a:rPr lang="en-US" sz="1000" dirty="0">
                <a:solidFill>
                  <a:srgbClr val="666666"/>
                </a:solidFill>
                <a:latin typeface="Calibri Light" panose="020F0302020204030204" pitchFamily="34" charset="0"/>
                <a:ea typeface="Arial" pitchFamily="34" charset="-122"/>
                <a:cs typeface="Calibri Light" panose="020F0302020204030204" pitchFamily="34" charset="0"/>
              </a:rPr>
              <a:t>Continuous Intelligence</a:t>
            </a:r>
            <a:endParaRPr lang="en-US" sz="1000" dirty="0">
              <a:latin typeface="Calibri Light" panose="020F0302020204030204" pitchFamily="34" charset="0"/>
              <a:cs typeface="Calibri Light" panose="020F0302020204030204" pitchFamily="34" charset="0"/>
            </a:endParaRPr>
          </a:p>
        </p:txBody>
      </p:sp>
      <p:sp>
        <p:nvSpPr>
          <p:cNvPr id="18" name="Text 16"/>
          <p:cNvSpPr/>
          <p:nvPr/>
        </p:nvSpPr>
        <p:spPr>
          <a:xfrm>
            <a:off x="1828800" y="2423160"/>
            <a:ext cx="2743200" cy="640080"/>
          </a:xfrm>
          <a:prstGeom prst="rect">
            <a:avLst/>
          </a:prstGeom>
          <a:noFill/>
          <a:ln/>
        </p:spPr>
        <p:txBody>
          <a:bodyPr wrap="square" rtlCol="0" anchor="ctr"/>
          <a:lstStyle/>
          <a:p>
            <a:pPr marL="0" indent="0" algn="l">
              <a:buNone/>
            </a:pPr>
            <a:r>
              <a:rPr lang="en-US" sz="1000" b="1" dirty="0">
                <a:solidFill>
                  <a:srgbClr val="000000"/>
                </a:solidFill>
                <a:latin typeface="Calibri" panose="020F0502020204030204" pitchFamily="34" charset="0"/>
                <a:ea typeface="Arial" pitchFamily="34" charset="-122"/>
                <a:cs typeface="Calibri" panose="020F0502020204030204" pitchFamily="34" charset="0"/>
              </a:rPr>
              <a:t>Insight that never sleeps.</a:t>
            </a:r>
            <a:endParaRPr lang="en-US" sz="1000" dirty="0">
              <a:latin typeface="Calibri" panose="020F0502020204030204" pitchFamily="34" charset="0"/>
              <a:cs typeface="Calibri" panose="020F0502020204030204" pitchFamily="34" charset="0"/>
            </a:endParaRPr>
          </a:p>
        </p:txBody>
      </p:sp>
      <p:sp>
        <p:nvSpPr>
          <p:cNvPr id="19" name="Text 17"/>
          <p:cNvSpPr/>
          <p:nvPr/>
        </p:nvSpPr>
        <p:spPr>
          <a:xfrm>
            <a:off x="4754879" y="2423160"/>
            <a:ext cx="4023349" cy="640080"/>
          </a:xfrm>
          <a:prstGeom prst="rect">
            <a:avLst/>
          </a:prstGeom>
          <a:noFill/>
          <a:ln/>
        </p:spPr>
        <p:txBody>
          <a:bodyPr wrap="square" rtlCol="0" anchor="ctr"/>
          <a:lstStyle/>
          <a:p>
            <a:pPr marL="0" indent="0" algn="l">
              <a:buNone/>
            </a:pPr>
            <a:r>
              <a:rPr lang="en-US" sz="900" dirty="0">
                <a:solidFill>
                  <a:srgbClr val="333333"/>
                </a:solidFill>
                <a:latin typeface="Calibri" panose="020F0502020204030204" pitchFamily="34" charset="0"/>
                <a:ea typeface="Arial" pitchFamily="34" charset="-122"/>
                <a:cs typeface="Calibri" panose="020F0502020204030204" pitchFamily="34" charset="0"/>
              </a:rPr>
              <a:t>Always-on analytics: driver models update continuously, predictive gap analysis, insight-to-action mapping with stakeholder ownership. €5 - 10K/mo subscription.</a:t>
            </a:r>
            <a:endParaRPr lang="en-US" sz="900" dirty="0">
              <a:latin typeface="Calibri" panose="020F0502020204030204" pitchFamily="34" charset="0"/>
              <a:cs typeface="Calibri" panose="020F0502020204030204" pitchFamily="34" charset="0"/>
            </a:endParaRPr>
          </a:p>
        </p:txBody>
      </p:sp>
      <p:sp>
        <p:nvSpPr>
          <p:cNvPr id="20" name="Shape 18"/>
          <p:cNvSpPr/>
          <p:nvPr/>
        </p:nvSpPr>
        <p:spPr>
          <a:xfrm>
            <a:off x="457200" y="3108960"/>
            <a:ext cx="54864" cy="640080"/>
          </a:xfrm>
          <a:prstGeom prst="rect">
            <a:avLst/>
          </a:prstGeom>
          <a:solidFill>
            <a:srgbClr val="F0AC00"/>
          </a:solidFill>
          <a:ln/>
        </p:spPr>
        <p:txBody>
          <a:bodyPr/>
          <a:lstStyle/>
          <a:p>
            <a:endParaRPr lang="nl-NL"/>
          </a:p>
        </p:txBody>
      </p:sp>
      <p:sp>
        <p:nvSpPr>
          <p:cNvPr id="21" name="Text 19"/>
          <p:cNvSpPr/>
          <p:nvPr/>
        </p:nvSpPr>
        <p:spPr>
          <a:xfrm>
            <a:off x="594360" y="3115445"/>
            <a:ext cx="1097280" cy="228600"/>
          </a:xfrm>
          <a:prstGeom prst="rect">
            <a:avLst/>
          </a:prstGeom>
          <a:noFill/>
          <a:ln/>
        </p:spPr>
        <p:txBody>
          <a:bodyPr wrap="square" rtlCol="0" anchor="ctr"/>
          <a:lstStyle/>
          <a:p>
            <a:pPr marL="0" indent="0" algn="l">
              <a:buNone/>
            </a:pPr>
            <a:r>
              <a:rPr lang="en-US" sz="1200" b="1" dirty="0">
                <a:solidFill>
                  <a:srgbClr val="F0AC00"/>
                </a:solidFill>
                <a:latin typeface="Calibri Light" panose="020F0302020204030204" pitchFamily="34" charset="0"/>
                <a:ea typeface="Arial" pitchFamily="34" charset="-122"/>
                <a:cs typeface="Calibri Light" panose="020F0302020204030204" pitchFamily="34" charset="0"/>
              </a:rPr>
              <a:t>IGNITE</a:t>
            </a:r>
            <a:endParaRPr lang="en-US" sz="1200" b="1" dirty="0">
              <a:latin typeface="Calibri Light" panose="020F0302020204030204" pitchFamily="34" charset="0"/>
              <a:cs typeface="Calibri Light" panose="020F0302020204030204" pitchFamily="34" charset="0"/>
            </a:endParaRPr>
          </a:p>
        </p:txBody>
      </p:sp>
      <p:sp>
        <p:nvSpPr>
          <p:cNvPr id="22" name="Text 20"/>
          <p:cNvSpPr/>
          <p:nvPr/>
        </p:nvSpPr>
        <p:spPr>
          <a:xfrm>
            <a:off x="594360" y="3355848"/>
            <a:ext cx="1097280" cy="164592"/>
          </a:xfrm>
          <a:prstGeom prst="rect">
            <a:avLst/>
          </a:prstGeom>
          <a:noFill/>
          <a:ln/>
        </p:spPr>
        <p:txBody>
          <a:bodyPr wrap="square" rtlCol="0" anchor="ctr"/>
          <a:lstStyle/>
          <a:p>
            <a:pPr marL="0" indent="0" algn="l">
              <a:buNone/>
            </a:pPr>
            <a:r>
              <a:rPr lang="en-US" sz="1000" dirty="0">
                <a:solidFill>
                  <a:srgbClr val="666666"/>
                </a:solidFill>
                <a:latin typeface="Calibri Light" panose="020F0302020204030204" pitchFamily="34" charset="0"/>
                <a:ea typeface="Arial" pitchFamily="34" charset="-122"/>
                <a:cs typeface="Calibri Light" panose="020F0302020204030204" pitchFamily="34" charset="0"/>
              </a:rPr>
              <a:t>Change Activation</a:t>
            </a:r>
            <a:endParaRPr lang="en-US" sz="1000" dirty="0">
              <a:latin typeface="Calibri Light" panose="020F0302020204030204" pitchFamily="34" charset="0"/>
              <a:cs typeface="Calibri Light" panose="020F0302020204030204" pitchFamily="34" charset="0"/>
            </a:endParaRPr>
          </a:p>
        </p:txBody>
      </p:sp>
      <p:sp>
        <p:nvSpPr>
          <p:cNvPr id="23" name="Text 21"/>
          <p:cNvSpPr/>
          <p:nvPr/>
        </p:nvSpPr>
        <p:spPr>
          <a:xfrm>
            <a:off x="1828800" y="3108960"/>
            <a:ext cx="2743200" cy="640080"/>
          </a:xfrm>
          <a:prstGeom prst="rect">
            <a:avLst/>
          </a:prstGeom>
          <a:noFill/>
          <a:ln/>
        </p:spPr>
        <p:txBody>
          <a:bodyPr wrap="square" rtlCol="0" anchor="ctr"/>
          <a:lstStyle/>
          <a:p>
            <a:pPr marL="0" indent="0" algn="l">
              <a:buNone/>
            </a:pPr>
            <a:r>
              <a:rPr lang="en-US" sz="1000" b="1" dirty="0">
                <a:solidFill>
                  <a:srgbClr val="000000"/>
                </a:solidFill>
                <a:latin typeface="Calibri" panose="020F0502020204030204" pitchFamily="34" charset="0"/>
                <a:ea typeface="Arial" pitchFamily="34" charset="-122"/>
                <a:cs typeface="Calibri" panose="020F0502020204030204" pitchFamily="34" charset="0"/>
              </a:rPr>
              <a:t>The right intervention, for the right person, at the right moment.</a:t>
            </a:r>
            <a:endParaRPr lang="en-US" sz="1000" dirty="0">
              <a:latin typeface="Calibri" panose="020F0502020204030204" pitchFamily="34" charset="0"/>
              <a:cs typeface="Calibri" panose="020F0502020204030204" pitchFamily="34" charset="0"/>
            </a:endParaRPr>
          </a:p>
        </p:txBody>
      </p:sp>
      <p:sp>
        <p:nvSpPr>
          <p:cNvPr id="24" name="Text 22"/>
          <p:cNvSpPr/>
          <p:nvPr/>
        </p:nvSpPr>
        <p:spPr>
          <a:xfrm>
            <a:off x="4754880" y="3108960"/>
            <a:ext cx="3931920" cy="640080"/>
          </a:xfrm>
          <a:prstGeom prst="rect">
            <a:avLst/>
          </a:prstGeom>
          <a:noFill/>
          <a:ln/>
        </p:spPr>
        <p:txBody>
          <a:bodyPr wrap="square" rtlCol="0" anchor="ctr"/>
          <a:lstStyle/>
          <a:p>
            <a:pPr marL="0" indent="0" algn="l">
              <a:buNone/>
            </a:pPr>
            <a:r>
              <a:rPr lang="en-US" sz="900" dirty="0">
                <a:solidFill>
                  <a:srgbClr val="333333"/>
                </a:solidFill>
                <a:latin typeface="Calibri" panose="020F0502020204030204" pitchFamily="34" charset="0"/>
                <a:ea typeface="Arial" pitchFamily="34" charset="-122"/>
                <a:cs typeface="Calibri" panose="020F0502020204030204" pitchFamily="34" charset="0"/>
              </a:rPr>
              <a:t>Onsite activation powered by CMX™ continuous assessment. CMX Command centre propagates decisions instantly. Personalised interventions.  (longer term) outcome-based pricing.</a:t>
            </a:r>
            <a:endParaRPr lang="en-US" sz="900" dirty="0">
              <a:latin typeface="Calibri" panose="020F0502020204030204" pitchFamily="34" charset="0"/>
              <a:cs typeface="Calibri" panose="020F0502020204030204" pitchFamily="34" charset="0"/>
            </a:endParaRPr>
          </a:p>
        </p:txBody>
      </p:sp>
      <p:sp>
        <p:nvSpPr>
          <p:cNvPr id="25" name="Shape 23"/>
          <p:cNvSpPr/>
          <p:nvPr/>
        </p:nvSpPr>
        <p:spPr>
          <a:xfrm>
            <a:off x="457200" y="3794760"/>
            <a:ext cx="54864" cy="640080"/>
          </a:xfrm>
          <a:prstGeom prst="rect">
            <a:avLst/>
          </a:prstGeom>
          <a:solidFill>
            <a:srgbClr val="8E44AD"/>
          </a:solidFill>
          <a:ln/>
        </p:spPr>
        <p:txBody>
          <a:bodyPr/>
          <a:lstStyle/>
          <a:p>
            <a:endParaRPr lang="nl-NL"/>
          </a:p>
        </p:txBody>
      </p:sp>
      <p:sp>
        <p:nvSpPr>
          <p:cNvPr id="26" name="Text 24"/>
          <p:cNvSpPr/>
          <p:nvPr/>
        </p:nvSpPr>
        <p:spPr>
          <a:xfrm>
            <a:off x="594360" y="3801245"/>
            <a:ext cx="1097280" cy="228600"/>
          </a:xfrm>
          <a:prstGeom prst="rect">
            <a:avLst/>
          </a:prstGeom>
          <a:noFill/>
          <a:ln/>
        </p:spPr>
        <p:txBody>
          <a:bodyPr wrap="square" rtlCol="0" anchor="ctr"/>
          <a:lstStyle/>
          <a:p>
            <a:pPr marL="0" indent="0" algn="l">
              <a:buNone/>
            </a:pPr>
            <a:r>
              <a:rPr lang="en-US" sz="1200" b="1" dirty="0">
                <a:solidFill>
                  <a:srgbClr val="8E44AD"/>
                </a:solidFill>
                <a:latin typeface="Calibri Light" panose="020F0302020204030204" pitchFamily="34" charset="0"/>
                <a:ea typeface="Arial" pitchFamily="34" charset="-122"/>
                <a:cs typeface="Calibri Light" panose="020F0302020204030204" pitchFamily="34" charset="0"/>
              </a:rPr>
              <a:t>ORBIT</a:t>
            </a:r>
            <a:endParaRPr lang="en-US" sz="1200" b="1" dirty="0">
              <a:latin typeface="Calibri Light" panose="020F0302020204030204" pitchFamily="34" charset="0"/>
              <a:cs typeface="Calibri Light" panose="020F0302020204030204" pitchFamily="34" charset="0"/>
            </a:endParaRPr>
          </a:p>
        </p:txBody>
      </p:sp>
      <p:sp>
        <p:nvSpPr>
          <p:cNvPr id="27" name="Text 25"/>
          <p:cNvSpPr/>
          <p:nvPr/>
        </p:nvSpPr>
        <p:spPr>
          <a:xfrm>
            <a:off x="594360" y="4041648"/>
            <a:ext cx="1097280" cy="164592"/>
          </a:xfrm>
          <a:prstGeom prst="rect">
            <a:avLst/>
          </a:prstGeom>
          <a:noFill/>
          <a:ln/>
        </p:spPr>
        <p:txBody>
          <a:bodyPr wrap="square" rtlCol="0" anchor="ctr"/>
          <a:lstStyle/>
          <a:p>
            <a:pPr marL="0" indent="0" algn="l">
              <a:buNone/>
            </a:pPr>
            <a:r>
              <a:rPr lang="en-US" sz="1000" dirty="0">
                <a:solidFill>
                  <a:srgbClr val="666666"/>
                </a:solidFill>
                <a:latin typeface="Calibri Light" panose="020F0302020204030204" pitchFamily="34" charset="0"/>
                <a:ea typeface="Arial" pitchFamily="34" charset="-122"/>
                <a:cs typeface="Calibri Light" panose="020F0302020204030204" pitchFamily="34" charset="0"/>
              </a:rPr>
              <a:t>Technology Architecture</a:t>
            </a:r>
            <a:endParaRPr lang="en-US" sz="1000" dirty="0">
              <a:latin typeface="Calibri Light" panose="020F0302020204030204" pitchFamily="34" charset="0"/>
              <a:cs typeface="Calibri Light" panose="020F0302020204030204" pitchFamily="34" charset="0"/>
            </a:endParaRPr>
          </a:p>
        </p:txBody>
      </p:sp>
      <p:sp>
        <p:nvSpPr>
          <p:cNvPr id="28" name="Text 26"/>
          <p:cNvSpPr/>
          <p:nvPr/>
        </p:nvSpPr>
        <p:spPr>
          <a:xfrm>
            <a:off x="1828800" y="3794760"/>
            <a:ext cx="2743200" cy="640080"/>
          </a:xfrm>
          <a:prstGeom prst="rect">
            <a:avLst/>
          </a:prstGeom>
          <a:noFill/>
          <a:ln/>
        </p:spPr>
        <p:txBody>
          <a:bodyPr wrap="square" rtlCol="0" anchor="ctr"/>
          <a:lstStyle/>
          <a:p>
            <a:pPr marL="0" indent="0" algn="l">
              <a:buNone/>
            </a:pPr>
            <a:r>
              <a:rPr lang="en-US" sz="1000" b="1" dirty="0">
                <a:solidFill>
                  <a:srgbClr val="000000"/>
                </a:solidFill>
                <a:latin typeface="Calibri" panose="020F0502020204030204" pitchFamily="34" charset="0"/>
                <a:ea typeface="Arial" pitchFamily="34" charset="-122"/>
                <a:cs typeface="Calibri" panose="020F0502020204030204" pitchFamily="34" charset="0"/>
              </a:rPr>
              <a:t>The infrastructure that makes the programme intelligent.</a:t>
            </a:r>
            <a:endParaRPr lang="en-US" sz="1000" dirty="0">
              <a:latin typeface="Calibri" panose="020F0502020204030204" pitchFamily="34" charset="0"/>
              <a:cs typeface="Calibri" panose="020F0502020204030204" pitchFamily="34" charset="0"/>
            </a:endParaRPr>
          </a:p>
        </p:txBody>
      </p:sp>
      <p:sp>
        <p:nvSpPr>
          <p:cNvPr id="29" name="Text 27"/>
          <p:cNvSpPr/>
          <p:nvPr/>
        </p:nvSpPr>
        <p:spPr>
          <a:xfrm>
            <a:off x="4754880" y="3794760"/>
            <a:ext cx="3931920" cy="640080"/>
          </a:xfrm>
          <a:prstGeom prst="rect">
            <a:avLst/>
          </a:prstGeom>
          <a:noFill/>
          <a:ln/>
        </p:spPr>
        <p:txBody>
          <a:bodyPr wrap="square" rtlCol="0" anchor="ctr"/>
          <a:lstStyle/>
          <a:p>
            <a:pPr marL="0" indent="0" algn="l">
              <a:buNone/>
            </a:pPr>
            <a:r>
              <a:rPr lang="en-US" sz="900" dirty="0">
                <a:solidFill>
                  <a:srgbClr val="333333"/>
                </a:solidFill>
                <a:latin typeface="Calibri" panose="020F0502020204030204" pitchFamily="34" charset="0"/>
                <a:ea typeface="Arial" pitchFamily="34" charset="-122"/>
                <a:cs typeface="Calibri" panose="020F0502020204030204" pitchFamily="34" charset="0"/>
              </a:rPr>
              <a:t>Intelligence layer on top of Qualtrics + client systems. AI-readiness architecture, agent placement, command centre integration. Config stays human.</a:t>
            </a:r>
            <a:endParaRPr lang="en-US" sz="900" dirty="0">
              <a:latin typeface="Calibri" panose="020F0502020204030204" pitchFamily="34" charset="0"/>
              <a:cs typeface="Calibri" panose="020F0502020204030204" pitchFamily="34" charset="0"/>
            </a:endParaRPr>
          </a:p>
        </p:txBody>
      </p:sp>
      <p:sp>
        <p:nvSpPr>
          <p:cNvPr id="30" name="Text 28"/>
          <p:cNvSpPr/>
          <p:nvPr/>
        </p:nvSpPr>
        <p:spPr>
          <a:xfrm>
            <a:off x="365760" y="4526247"/>
            <a:ext cx="8229600" cy="182880"/>
          </a:xfrm>
          <a:prstGeom prst="rect">
            <a:avLst/>
          </a:prstGeom>
          <a:noFill/>
          <a:ln/>
        </p:spPr>
        <p:txBody>
          <a:bodyPr wrap="square" rtlCol="0" anchor="ctr"/>
          <a:lstStyle/>
          <a:p>
            <a:pPr marL="0" indent="0">
              <a:buNone/>
            </a:pPr>
            <a:r>
              <a:rPr lang="en-US" sz="1300" b="1" dirty="0">
                <a:solidFill>
                  <a:srgbClr val="F0AC00"/>
                </a:solidFill>
                <a:latin typeface="Calibri" panose="020F0502020204030204" pitchFamily="34" charset="0"/>
                <a:cs typeface="Calibri" panose="020F0502020204030204" pitchFamily="34" charset="0"/>
              </a:rPr>
              <a:t>SPOTLIGHT  →  BLUEPRINT  →  PULSE  →  IGNITE  →  ORBIT</a:t>
            </a:r>
          </a:p>
        </p:txBody>
      </p:sp>
      <p:cxnSp>
        <p:nvCxnSpPr>
          <p:cNvPr id="4" name="Straight Connector 3">
            <a:extLst>
              <a:ext uri="{FF2B5EF4-FFF2-40B4-BE49-F238E27FC236}">
                <a16:creationId xmlns:a16="http://schemas.microsoft.com/office/drawing/2014/main" id="{4C27C28C-669F-C0C6-3E54-56E5B1A4CD43}"/>
              </a:ext>
            </a:extLst>
          </p:cNvPr>
          <p:cNvCxnSpPr>
            <a:cxnSpLocks/>
            <a:stCxn id="6" idx="3"/>
          </p:cNvCxnSpPr>
          <p:nvPr/>
        </p:nvCxnSpPr>
        <p:spPr bwMode="auto">
          <a:xfrm>
            <a:off x="1691640" y="1264624"/>
            <a:ext cx="0" cy="3088370"/>
          </a:xfrm>
          <a:prstGeom prst="line">
            <a:avLst/>
          </a:prstGeom>
          <a:ln>
            <a:solidFill>
              <a:schemeClr val="tx1">
                <a:lumMod val="40000"/>
                <a:lumOff val="6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
            <a:extLst>
              <a:ext uri="{FF2B5EF4-FFF2-40B4-BE49-F238E27FC236}">
                <a16:creationId xmlns:a16="http://schemas.microsoft.com/office/drawing/2014/main" id="{E7EF1A28-3D20-EEB2-1849-32CCA60F5D28}"/>
              </a:ext>
            </a:extLst>
          </p:cNvPr>
          <p:cNvCxnSpPr>
            <a:cxnSpLocks/>
          </p:cNvCxnSpPr>
          <p:nvPr/>
        </p:nvCxnSpPr>
        <p:spPr bwMode="auto">
          <a:xfrm>
            <a:off x="4593725" y="1172345"/>
            <a:ext cx="0" cy="3088370"/>
          </a:xfrm>
          <a:prstGeom prst="line">
            <a:avLst/>
          </a:prstGeom>
          <a:ln>
            <a:solidFill>
              <a:schemeClr val="tx1">
                <a:lumMod val="40000"/>
                <a:lumOff val="6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9</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What we need to decide today</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We want to present the XM + AI point of view to Yoav this week or early next. We need to leave this room aligned on three things.</a:t>
            </a:r>
            <a:endParaRPr lang="en-US" sz="1000" dirty="0"/>
          </a:p>
        </p:txBody>
      </p:sp>
      <p:sp>
        <p:nvSpPr>
          <p:cNvPr id="6" name="Shape 3"/>
          <p:cNvSpPr/>
          <p:nvPr/>
        </p:nvSpPr>
        <p:spPr>
          <a:xfrm>
            <a:off x="457200" y="1097280"/>
            <a:ext cx="54864" cy="960120"/>
          </a:xfrm>
          <a:prstGeom prst="rect">
            <a:avLst/>
          </a:prstGeom>
          <a:solidFill>
            <a:srgbClr val="F0AC00"/>
          </a:solidFill>
          <a:ln/>
        </p:spPr>
        <p:txBody>
          <a:bodyPr/>
          <a:lstStyle/>
          <a:p>
            <a:endParaRPr lang="nl-NL"/>
          </a:p>
        </p:txBody>
      </p:sp>
      <p:sp>
        <p:nvSpPr>
          <p:cNvPr id="7" name="Text 4"/>
          <p:cNvSpPr/>
          <p:nvPr/>
        </p:nvSpPr>
        <p:spPr>
          <a:xfrm>
            <a:off x="640080" y="1097280"/>
            <a:ext cx="274320" cy="320040"/>
          </a:xfrm>
          <a:prstGeom prst="rect">
            <a:avLst/>
          </a:prstGeom>
          <a:noFill/>
          <a:ln/>
        </p:spPr>
        <p:txBody>
          <a:bodyPr wrap="square" lIns="0" tIns="0" rIns="0" bIns="0" rtlCol="0" anchor="ctr"/>
          <a:lstStyle/>
          <a:p>
            <a:pPr marL="0" indent="0">
              <a:buNone/>
            </a:pPr>
            <a:r>
              <a:rPr lang="en-US" sz="2000" b="1" dirty="0">
                <a:solidFill>
                  <a:srgbClr val="F0AC00"/>
                </a:solidFill>
                <a:latin typeface="Arial" pitchFamily="34" charset="0"/>
                <a:ea typeface="Arial" pitchFamily="34" charset="-122"/>
                <a:cs typeface="Arial" pitchFamily="34" charset="-120"/>
              </a:rPr>
              <a:t>1</a:t>
            </a:r>
            <a:endParaRPr lang="en-US" sz="2000" dirty="0"/>
          </a:p>
        </p:txBody>
      </p:sp>
      <p:sp>
        <p:nvSpPr>
          <p:cNvPr id="8" name="Text 5"/>
          <p:cNvSpPr/>
          <p:nvPr/>
        </p:nvSpPr>
        <p:spPr>
          <a:xfrm>
            <a:off x="1005840" y="1097280"/>
            <a:ext cx="7680960" cy="274320"/>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Do we agree on the direction?</a:t>
            </a:r>
            <a:endParaRPr lang="en-US" sz="1400" dirty="0"/>
          </a:p>
        </p:txBody>
      </p:sp>
      <p:sp>
        <p:nvSpPr>
          <p:cNvPr id="9" name="Text 6"/>
          <p:cNvSpPr/>
          <p:nvPr/>
        </p:nvSpPr>
        <p:spPr>
          <a:xfrm>
            <a:off x="1005840" y="1417320"/>
            <a:ext cx="7680960" cy="594360"/>
          </a:xfrm>
          <a:prstGeom prst="rect">
            <a:avLst/>
          </a:prstGeom>
          <a:noFill/>
          <a:ln/>
        </p:spPr>
        <p:txBody>
          <a:bodyPr wrap="square" lIns="0" tIns="0" rIns="0" bIns="0" rtlCol="0" anchor="t"/>
          <a:lstStyle/>
          <a:p>
            <a:pPr marL="0" indent="0">
              <a:lnSpc>
                <a:spcPct val="120000"/>
              </a:lnSpc>
              <a:buNone/>
            </a:pPr>
            <a:r>
              <a:rPr lang="en-US" sz="950" dirty="0">
                <a:solidFill>
                  <a:srgbClr val="333333"/>
                </a:solidFill>
                <a:latin typeface="Calibri" pitchFamily="34" charset="0"/>
                <a:ea typeface="Calibri" pitchFamily="34" charset="-122"/>
                <a:cs typeface="Calibri" pitchFamily="34" charset="-120"/>
              </a:rPr>
              <a:t>C→D→B: phased, governed, evidence-based. Start with Smarter Practice (governance + upskilling + AI-augmented delivery), test market with Quiet Transition (one subscription pilot, one product MVP), gate decision on New Company at month 12+. If this is wrong — or if competitive pressure demands A (Accelerated) — we need to say so now, because it changes every deliverable.</a:t>
            </a:r>
            <a:endParaRPr lang="en-US" sz="950" dirty="0"/>
          </a:p>
        </p:txBody>
      </p:sp>
      <p:sp>
        <p:nvSpPr>
          <p:cNvPr id="10" name="Shape 7"/>
          <p:cNvSpPr/>
          <p:nvPr/>
        </p:nvSpPr>
        <p:spPr>
          <a:xfrm>
            <a:off x="457200" y="2240280"/>
            <a:ext cx="54864" cy="960120"/>
          </a:xfrm>
          <a:prstGeom prst="rect">
            <a:avLst/>
          </a:prstGeom>
          <a:solidFill>
            <a:srgbClr val="2980B9"/>
          </a:solidFill>
          <a:ln/>
        </p:spPr>
        <p:txBody>
          <a:bodyPr/>
          <a:lstStyle/>
          <a:p>
            <a:endParaRPr lang="nl-NL"/>
          </a:p>
        </p:txBody>
      </p:sp>
      <p:sp>
        <p:nvSpPr>
          <p:cNvPr id="11" name="Text 8"/>
          <p:cNvSpPr/>
          <p:nvPr/>
        </p:nvSpPr>
        <p:spPr>
          <a:xfrm>
            <a:off x="640080" y="2240280"/>
            <a:ext cx="274320" cy="320040"/>
          </a:xfrm>
          <a:prstGeom prst="rect">
            <a:avLst/>
          </a:prstGeom>
          <a:noFill/>
          <a:ln/>
        </p:spPr>
        <p:txBody>
          <a:bodyPr wrap="square" lIns="0" tIns="0" rIns="0" bIns="0" rtlCol="0" anchor="ctr"/>
          <a:lstStyle/>
          <a:p>
            <a:pPr marL="0" indent="0">
              <a:buNone/>
            </a:pPr>
            <a:r>
              <a:rPr lang="en-US" sz="2000" b="1" dirty="0">
                <a:solidFill>
                  <a:srgbClr val="2980B9"/>
                </a:solidFill>
                <a:latin typeface="Arial" pitchFamily="34" charset="0"/>
                <a:ea typeface="Arial" pitchFamily="34" charset="-122"/>
                <a:cs typeface="Arial" pitchFamily="34" charset="-120"/>
              </a:rPr>
              <a:t>2</a:t>
            </a:r>
            <a:endParaRPr lang="en-US" sz="2000" dirty="0"/>
          </a:p>
        </p:txBody>
      </p:sp>
      <p:sp>
        <p:nvSpPr>
          <p:cNvPr id="12" name="Text 9"/>
          <p:cNvSpPr/>
          <p:nvPr/>
        </p:nvSpPr>
        <p:spPr>
          <a:xfrm>
            <a:off x="1005840" y="2240280"/>
            <a:ext cx="7680960" cy="274320"/>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What goes into the Yoav presentation?</a:t>
            </a:r>
            <a:endParaRPr lang="en-US" sz="1400" dirty="0"/>
          </a:p>
        </p:txBody>
      </p:sp>
      <p:sp>
        <p:nvSpPr>
          <p:cNvPr id="13" name="Text 10"/>
          <p:cNvSpPr/>
          <p:nvPr/>
        </p:nvSpPr>
        <p:spPr>
          <a:xfrm>
            <a:off x="1005840" y="2560320"/>
            <a:ext cx="7680960" cy="594360"/>
          </a:xfrm>
          <a:prstGeom prst="rect">
            <a:avLst/>
          </a:prstGeom>
          <a:noFill/>
          <a:ln/>
        </p:spPr>
        <p:txBody>
          <a:bodyPr wrap="square" lIns="0" tIns="0" rIns="0" bIns="0" rtlCol="0" anchor="t"/>
          <a:lstStyle/>
          <a:p>
            <a:pPr marL="0" indent="0">
              <a:lnSpc>
                <a:spcPct val="120000"/>
              </a:lnSpc>
              <a:buNone/>
            </a:pPr>
            <a:r>
              <a:rPr lang="en-US" sz="950" dirty="0">
                <a:solidFill>
                  <a:srgbClr val="333333"/>
                </a:solidFill>
                <a:latin typeface="Calibri" pitchFamily="34" charset="0"/>
                <a:ea typeface="Calibri" pitchFamily="34" charset="-122"/>
                <a:cs typeface="Calibri" pitchFamily="34" charset="-120"/>
              </a:rPr>
              <a:t>Which elements from today are ready? The scenario model and efficiency analysis are solid. The investment number needs finance validation. Do we present the full picture with caveats, or a tighter story with fewer unknowns? This is a framing decision.</a:t>
            </a:r>
            <a:endParaRPr lang="en-US" sz="950" dirty="0"/>
          </a:p>
        </p:txBody>
      </p:sp>
      <p:sp>
        <p:nvSpPr>
          <p:cNvPr id="14" name="Shape 11"/>
          <p:cNvSpPr/>
          <p:nvPr/>
        </p:nvSpPr>
        <p:spPr>
          <a:xfrm>
            <a:off x="457200" y="3383280"/>
            <a:ext cx="54864" cy="960120"/>
          </a:xfrm>
          <a:prstGeom prst="rect">
            <a:avLst/>
          </a:prstGeom>
          <a:solidFill>
            <a:srgbClr val="27AE60"/>
          </a:solidFill>
          <a:ln/>
        </p:spPr>
        <p:txBody>
          <a:bodyPr/>
          <a:lstStyle/>
          <a:p>
            <a:endParaRPr lang="nl-NL"/>
          </a:p>
        </p:txBody>
      </p:sp>
      <p:sp>
        <p:nvSpPr>
          <p:cNvPr id="15" name="Text 12"/>
          <p:cNvSpPr/>
          <p:nvPr/>
        </p:nvSpPr>
        <p:spPr>
          <a:xfrm>
            <a:off x="640080" y="3383280"/>
            <a:ext cx="274320" cy="320040"/>
          </a:xfrm>
          <a:prstGeom prst="rect">
            <a:avLst/>
          </a:prstGeom>
          <a:noFill/>
          <a:ln/>
        </p:spPr>
        <p:txBody>
          <a:bodyPr wrap="square" lIns="0" tIns="0" rIns="0" bIns="0" rtlCol="0" anchor="ctr"/>
          <a:lstStyle/>
          <a:p>
            <a:pPr marL="0" indent="0">
              <a:buNone/>
            </a:pPr>
            <a:r>
              <a:rPr lang="en-US" sz="2000" b="1" dirty="0">
                <a:solidFill>
                  <a:srgbClr val="27AE60"/>
                </a:solidFill>
                <a:latin typeface="Arial" pitchFamily="34" charset="0"/>
                <a:ea typeface="Arial" pitchFamily="34" charset="-122"/>
                <a:cs typeface="Arial" pitchFamily="34" charset="-120"/>
              </a:rPr>
              <a:t>3</a:t>
            </a:r>
            <a:endParaRPr lang="en-US" sz="2000" dirty="0"/>
          </a:p>
        </p:txBody>
      </p:sp>
      <p:sp>
        <p:nvSpPr>
          <p:cNvPr id="16" name="Text 13"/>
          <p:cNvSpPr/>
          <p:nvPr/>
        </p:nvSpPr>
        <p:spPr>
          <a:xfrm>
            <a:off x="1005840" y="3383280"/>
            <a:ext cx="7680960" cy="274320"/>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What do we still need to do and by when?</a:t>
            </a:r>
            <a:endParaRPr lang="en-US" sz="1400" dirty="0"/>
          </a:p>
        </p:txBody>
      </p:sp>
      <p:sp>
        <p:nvSpPr>
          <p:cNvPr id="17" name="Text 14"/>
          <p:cNvSpPr/>
          <p:nvPr/>
        </p:nvSpPr>
        <p:spPr>
          <a:xfrm>
            <a:off x="1005840" y="3703320"/>
            <a:ext cx="7680960" cy="594360"/>
          </a:xfrm>
          <a:prstGeom prst="rect">
            <a:avLst/>
          </a:prstGeom>
          <a:noFill/>
          <a:ln/>
        </p:spPr>
        <p:txBody>
          <a:bodyPr wrap="square" lIns="0" tIns="0" rIns="0" bIns="0" rtlCol="0" anchor="t"/>
          <a:lstStyle/>
          <a:p>
            <a:pPr marL="0" indent="0">
              <a:lnSpc>
                <a:spcPct val="120000"/>
              </a:lnSpc>
              <a:buNone/>
            </a:pPr>
            <a:r>
              <a:rPr lang="en-US" sz="950" dirty="0">
                <a:solidFill>
                  <a:srgbClr val="333333"/>
                </a:solidFill>
                <a:latin typeface="Calibri" pitchFamily="34" charset="0"/>
                <a:ea typeface="Calibri" pitchFamily="34" charset="-122"/>
                <a:cs typeface="Calibri" pitchFamily="34" charset="-120"/>
              </a:rPr>
              <a:t>Between today and the Yoav conversation: validate investment numbers against P&amp;L, identify at least one pilot client, decide on team consultation approach, confirm Qualtrics alignment. Who does what? What is the timeline?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F440F7-89A1-2862-5560-2D494FD84D9C}"/>
              </a:ext>
            </a:extLst>
          </p:cNvPr>
          <p:cNvSpPr>
            <a:spLocks noGrp="1"/>
          </p:cNvSpPr>
          <p:nvPr>
            <p:ph type="title"/>
          </p:nvPr>
        </p:nvSpPr>
        <p:spPr/>
        <p:txBody>
          <a:bodyPr/>
          <a:lstStyle/>
          <a:p>
            <a:endParaRPr lang="nl-NL" dirty="0"/>
          </a:p>
        </p:txBody>
      </p:sp>
      <p:pic>
        <p:nvPicPr>
          <p:cNvPr id="3" name="Image 0" descr="preencoded.png">
            <a:extLst>
              <a:ext uri="{FF2B5EF4-FFF2-40B4-BE49-F238E27FC236}">
                <a16:creationId xmlns:a16="http://schemas.microsoft.com/office/drawing/2014/main" id="{74F45CD9-670A-E520-C3A2-92C22587C9CE}"/>
              </a:ext>
            </a:extLst>
          </p:cNvPr>
          <p:cNvPicPr>
            <a:picLocks noChangeAspect="1"/>
          </p:cNvPicPr>
          <p:nvPr/>
        </p:nvPicPr>
        <p:blipFill>
          <a:blip r:embed="rId2"/>
          <a:stretch>
            <a:fillRect/>
          </a:stretch>
        </p:blipFill>
        <p:spPr>
          <a:xfrm>
            <a:off x="8092440" y="4777740"/>
            <a:ext cx="548640" cy="292608"/>
          </a:xfrm>
          <a:prstGeom prst="rect">
            <a:avLst/>
          </a:prstGeom>
        </p:spPr>
      </p:pic>
      <p:sp>
        <p:nvSpPr>
          <p:cNvPr id="4" name="Afgeronde rechthoek 3">
            <a:extLst>
              <a:ext uri="{FF2B5EF4-FFF2-40B4-BE49-F238E27FC236}">
                <a16:creationId xmlns:a16="http://schemas.microsoft.com/office/drawing/2014/main" id="{4F12B4E3-575C-B0BA-C2DD-A5AB75083C41}"/>
              </a:ext>
            </a:extLst>
          </p:cNvPr>
          <p:cNvSpPr/>
          <p:nvPr/>
        </p:nvSpPr>
        <p:spPr>
          <a:xfrm>
            <a:off x="1999785" y="1940312"/>
            <a:ext cx="4787591" cy="63143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Addendum </a:t>
            </a:r>
          </a:p>
        </p:txBody>
      </p:sp>
    </p:spTree>
    <p:extLst>
      <p:ext uri="{BB962C8B-B14F-4D97-AF65-F5344CB8AC3E}">
        <p14:creationId xmlns:p14="http://schemas.microsoft.com/office/powerpoint/2010/main" val="429466420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12</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New product and service concepts made possible by AI</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Six concepts that do not exist today. Each requires AI capability to deliver. None are built, all need validation.</a:t>
            </a:r>
            <a:endParaRPr lang="en-US" sz="1100" dirty="0"/>
          </a:p>
        </p:txBody>
      </p:sp>
      <p:sp>
        <p:nvSpPr>
          <p:cNvPr id="6" name="Shape 3"/>
          <p:cNvSpPr/>
          <p:nvPr/>
        </p:nvSpPr>
        <p:spPr>
          <a:xfrm>
            <a:off x="457200" y="1005840"/>
            <a:ext cx="54864" cy="1005840"/>
          </a:xfrm>
          <a:prstGeom prst="rect">
            <a:avLst/>
          </a:prstGeom>
          <a:solidFill>
            <a:srgbClr val="F0AC00"/>
          </a:solidFill>
          <a:ln/>
        </p:spPr>
        <p:txBody>
          <a:bodyPr/>
          <a:lstStyle/>
          <a:p>
            <a:endParaRPr lang="nl-NL"/>
          </a:p>
        </p:txBody>
      </p:sp>
      <p:sp>
        <p:nvSpPr>
          <p:cNvPr id="7" name="Text 4"/>
          <p:cNvSpPr/>
          <p:nvPr/>
        </p:nvSpPr>
        <p:spPr>
          <a:xfrm>
            <a:off x="594360" y="1005840"/>
            <a:ext cx="3931920" cy="228600"/>
          </a:xfrm>
          <a:prstGeom prst="rect">
            <a:avLst/>
          </a:prstGeom>
          <a:noFill/>
          <a:ln/>
        </p:spPr>
        <p:txBody>
          <a:bodyPr wrap="square" lIns="0" tIns="0" rIns="0" bIns="0" rtlCol="0" anchor="ctr"/>
          <a:lstStyle/>
          <a:p>
            <a:pPr marL="0" indent="0">
              <a:buNone/>
            </a:pPr>
            <a:r>
              <a:rPr lang="en-US" sz="1100" b="1" dirty="0">
                <a:solidFill>
                  <a:srgbClr val="F0AC00"/>
                </a:solidFill>
                <a:latin typeface="Calibri" pitchFamily="34" charset="0"/>
                <a:ea typeface="Calibri" pitchFamily="34" charset="-122"/>
                <a:cs typeface="Calibri" pitchFamily="34" charset="-120"/>
              </a:rPr>
              <a:t>Continuous Intelligence Service</a:t>
            </a:r>
            <a:endParaRPr lang="en-US" sz="1100" dirty="0"/>
          </a:p>
        </p:txBody>
      </p:sp>
      <p:sp>
        <p:nvSpPr>
          <p:cNvPr id="8" name="Text 5"/>
          <p:cNvSpPr/>
          <p:nvPr/>
        </p:nvSpPr>
        <p:spPr>
          <a:xfrm>
            <a:off x="594360" y="1261872"/>
            <a:ext cx="3931920" cy="68580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AI agents monitor live programme data, surface insights between cycles. Subscription: client pays monthly, agent runs continuously.</a:t>
            </a:r>
            <a:endParaRPr lang="en-US" sz="900" dirty="0"/>
          </a:p>
        </p:txBody>
      </p:sp>
      <p:sp>
        <p:nvSpPr>
          <p:cNvPr id="9" name="Shape 6"/>
          <p:cNvSpPr/>
          <p:nvPr/>
        </p:nvSpPr>
        <p:spPr>
          <a:xfrm>
            <a:off x="4754880" y="1005840"/>
            <a:ext cx="54864" cy="1005840"/>
          </a:xfrm>
          <a:prstGeom prst="rect">
            <a:avLst/>
          </a:prstGeom>
          <a:solidFill>
            <a:srgbClr val="2980B9"/>
          </a:solidFill>
          <a:ln/>
        </p:spPr>
        <p:txBody>
          <a:bodyPr/>
          <a:lstStyle/>
          <a:p>
            <a:endParaRPr lang="nl-NL"/>
          </a:p>
        </p:txBody>
      </p:sp>
      <p:sp>
        <p:nvSpPr>
          <p:cNvPr id="10" name="Text 7"/>
          <p:cNvSpPr/>
          <p:nvPr/>
        </p:nvSpPr>
        <p:spPr>
          <a:xfrm>
            <a:off x="4892040" y="1005840"/>
            <a:ext cx="3931920" cy="228600"/>
          </a:xfrm>
          <a:prstGeom prst="rect">
            <a:avLst/>
          </a:prstGeom>
          <a:noFill/>
          <a:ln/>
        </p:spPr>
        <p:txBody>
          <a:bodyPr wrap="square" lIns="0" tIns="0" rIns="0" bIns="0" rtlCol="0" anchor="ctr"/>
          <a:lstStyle/>
          <a:p>
            <a:pPr marL="0" indent="0">
              <a:buNone/>
            </a:pPr>
            <a:r>
              <a:rPr lang="en-US" sz="1100" b="1" dirty="0">
                <a:solidFill>
                  <a:srgbClr val="2980B9"/>
                </a:solidFill>
                <a:latin typeface="Calibri" pitchFamily="34" charset="0"/>
                <a:ea typeface="Calibri" pitchFamily="34" charset="-122"/>
                <a:cs typeface="Calibri" pitchFamily="34" charset="-120"/>
              </a:rPr>
              <a:t>Digital Assessment</a:t>
            </a:r>
            <a:endParaRPr lang="en-US" sz="1100" dirty="0"/>
          </a:p>
        </p:txBody>
      </p:sp>
      <p:sp>
        <p:nvSpPr>
          <p:cNvPr id="11" name="Text 8"/>
          <p:cNvSpPr/>
          <p:nvPr/>
        </p:nvSpPr>
        <p:spPr>
          <a:xfrm>
            <a:off x="4892040" y="1261872"/>
            <a:ext cx="3931920" cy="68580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Self-service XM maturity diagnostic from 200+ programme patterns. Client answers 20 questions, receives benchmarked report.</a:t>
            </a:r>
            <a:endParaRPr lang="en-US" sz="900" dirty="0"/>
          </a:p>
        </p:txBody>
      </p:sp>
      <p:sp>
        <p:nvSpPr>
          <p:cNvPr id="12" name="Shape 9"/>
          <p:cNvSpPr/>
          <p:nvPr/>
        </p:nvSpPr>
        <p:spPr>
          <a:xfrm>
            <a:off x="457200" y="2194560"/>
            <a:ext cx="54864" cy="1005840"/>
          </a:xfrm>
          <a:prstGeom prst="rect">
            <a:avLst/>
          </a:prstGeom>
          <a:solidFill>
            <a:srgbClr val="27AE60"/>
          </a:solidFill>
          <a:ln/>
        </p:spPr>
        <p:txBody>
          <a:bodyPr/>
          <a:lstStyle/>
          <a:p>
            <a:endParaRPr lang="nl-NL"/>
          </a:p>
        </p:txBody>
      </p:sp>
      <p:sp>
        <p:nvSpPr>
          <p:cNvPr id="13" name="Text 10"/>
          <p:cNvSpPr/>
          <p:nvPr/>
        </p:nvSpPr>
        <p:spPr>
          <a:xfrm>
            <a:off x="594360" y="2194560"/>
            <a:ext cx="3931920" cy="228600"/>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Competitive CX Intelligence</a:t>
            </a:r>
            <a:endParaRPr lang="en-US" sz="1100" dirty="0"/>
          </a:p>
        </p:txBody>
      </p:sp>
      <p:sp>
        <p:nvSpPr>
          <p:cNvPr id="14" name="Text 11"/>
          <p:cNvSpPr/>
          <p:nvPr/>
        </p:nvSpPr>
        <p:spPr>
          <a:xfrm>
            <a:off x="594360" y="2450592"/>
            <a:ext cx="3931920" cy="68580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Cross-client benchmarking, real-time sector analysis. AI aggregates anonymised data no single client can generate alone.</a:t>
            </a:r>
            <a:endParaRPr lang="en-US" sz="900" dirty="0"/>
          </a:p>
        </p:txBody>
      </p:sp>
      <p:sp>
        <p:nvSpPr>
          <p:cNvPr id="15" name="Shape 12"/>
          <p:cNvSpPr/>
          <p:nvPr/>
        </p:nvSpPr>
        <p:spPr>
          <a:xfrm>
            <a:off x="4754880" y="2194560"/>
            <a:ext cx="54864" cy="1005840"/>
          </a:xfrm>
          <a:prstGeom prst="rect">
            <a:avLst/>
          </a:prstGeom>
          <a:solidFill>
            <a:srgbClr val="8E44AD"/>
          </a:solidFill>
          <a:ln/>
        </p:spPr>
        <p:txBody>
          <a:bodyPr/>
          <a:lstStyle/>
          <a:p>
            <a:endParaRPr lang="nl-NL"/>
          </a:p>
        </p:txBody>
      </p:sp>
      <p:sp>
        <p:nvSpPr>
          <p:cNvPr id="16" name="Text 13"/>
          <p:cNvSpPr/>
          <p:nvPr/>
        </p:nvSpPr>
        <p:spPr>
          <a:xfrm>
            <a:off x="4892040" y="2194560"/>
            <a:ext cx="3931920" cy="228600"/>
          </a:xfrm>
          <a:prstGeom prst="rect">
            <a:avLst/>
          </a:prstGeom>
          <a:noFill/>
          <a:ln/>
        </p:spPr>
        <p:txBody>
          <a:bodyPr wrap="square" lIns="0" tIns="0" rIns="0" bIns="0" rtlCol="0" anchor="ctr"/>
          <a:lstStyle/>
          <a:p>
            <a:pPr marL="0" indent="0">
              <a:buNone/>
            </a:pPr>
            <a:r>
              <a:rPr lang="en-US" sz="1100" b="1" dirty="0">
                <a:solidFill>
                  <a:srgbClr val="8E44AD"/>
                </a:solidFill>
                <a:latin typeface="Calibri" pitchFamily="34" charset="0"/>
                <a:ea typeface="Calibri" pitchFamily="34" charset="-122"/>
                <a:cs typeface="Calibri" pitchFamily="34" charset="-120"/>
              </a:rPr>
              <a:t>Team Alignment Application</a:t>
            </a:r>
            <a:endParaRPr lang="en-US" sz="1100" dirty="0"/>
          </a:p>
        </p:txBody>
      </p:sp>
      <p:sp>
        <p:nvSpPr>
          <p:cNvPr id="17" name="Text 14"/>
          <p:cNvSpPr/>
          <p:nvPr/>
        </p:nvSpPr>
        <p:spPr>
          <a:xfrm>
            <a:off x="4892040" y="2450592"/>
            <a:ext cx="3931920" cy="68580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Maps stakeholder positions, predicts resistance, generates targeted change communications. Replaces manual workshops.</a:t>
            </a:r>
            <a:endParaRPr lang="en-US" sz="900" dirty="0"/>
          </a:p>
        </p:txBody>
      </p:sp>
      <p:sp>
        <p:nvSpPr>
          <p:cNvPr id="18" name="Shape 15"/>
          <p:cNvSpPr/>
          <p:nvPr/>
        </p:nvSpPr>
        <p:spPr>
          <a:xfrm>
            <a:off x="457200" y="3383280"/>
            <a:ext cx="54864" cy="1005840"/>
          </a:xfrm>
          <a:prstGeom prst="rect">
            <a:avLst/>
          </a:prstGeom>
          <a:solidFill>
            <a:srgbClr val="E67E22"/>
          </a:solidFill>
          <a:ln/>
        </p:spPr>
        <p:txBody>
          <a:bodyPr/>
          <a:lstStyle/>
          <a:p>
            <a:endParaRPr lang="nl-NL"/>
          </a:p>
        </p:txBody>
      </p:sp>
      <p:sp>
        <p:nvSpPr>
          <p:cNvPr id="19" name="Text 16"/>
          <p:cNvSpPr/>
          <p:nvPr/>
        </p:nvSpPr>
        <p:spPr>
          <a:xfrm>
            <a:off x="594360" y="3383280"/>
            <a:ext cx="3931920" cy="228600"/>
          </a:xfrm>
          <a:prstGeom prst="rect">
            <a:avLst/>
          </a:prstGeom>
          <a:noFill/>
          <a:ln/>
        </p:spPr>
        <p:txBody>
          <a:bodyPr wrap="square" lIns="0" tIns="0" rIns="0" bIns="0" rtlCol="0" anchor="ctr"/>
          <a:lstStyle/>
          <a:p>
            <a:pPr marL="0" indent="0">
              <a:buNone/>
            </a:pPr>
            <a:r>
              <a:rPr lang="en-US" sz="1100" b="1" dirty="0">
                <a:solidFill>
                  <a:srgbClr val="E67E22"/>
                </a:solidFill>
                <a:latin typeface="Calibri" pitchFamily="34" charset="0"/>
                <a:ea typeface="Calibri" pitchFamily="34" charset="-122"/>
                <a:cs typeface="Calibri" pitchFamily="34" charset="-120"/>
              </a:rPr>
              <a:t>Outcome-Based Advisory</a:t>
            </a:r>
            <a:endParaRPr lang="en-US" sz="1100" dirty="0"/>
          </a:p>
        </p:txBody>
      </p:sp>
      <p:sp>
        <p:nvSpPr>
          <p:cNvPr id="20" name="Text 17"/>
          <p:cNvSpPr/>
          <p:nvPr/>
        </p:nvSpPr>
        <p:spPr>
          <a:xfrm>
            <a:off x="594360" y="3639312"/>
            <a:ext cx="3931920" cy="68580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Fees tied to measurable CX/EX improvement. AI provides measurement infrastructure tracking impact in real time.</a:t>
            </a:r>
            <a:endParaRPr lang="en-US" sz="900" dirty="0"/>
          </a:p>
        </p:txBody>
      </p:sp>
      <p:sp>
        <p:nvSpPr>
          <p:cNvPr id="21" name="Shape 18"/>
          <p:cNvSpPr/>
          <p:nvPr/>
        </p:nvSpPr>
        <p:spPr>
          <a:xfrm>
            <a:off x="4754880" y="3383280"/>
            <a:ext cx="54864" cy="1005840"/>
          </a:xfrm>
          <a:prstGeom prst="rect">
            <a:avLst/>
          </a:prstGeom>
          <a:solidFill>
            <a:srgbClr val="C0392B"/>
          </a:solidFill>
          <a:ln/>
        </p:spPr>
        <p:txBody>
          <a:bodyPr/>
          <a:lstStyle/>
          <a:p>
            <a:endParaRPr lang="nl-NL"/>
          </a:p>
        </p:txBody>
      </p:sp>
      <p:sp>
        <p:nvSpPr>
          <p:cNvPr id="22" name="Text 19"/>
          <p:cNvSpPr/>
          <p:nvPr/>
        </p:nvSpPr>
        <p:spPr>
          <a:xfrm>
            <a:off x="4892040" y="3383280"/>
            <a:ext cx="3931920" cy="22860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AI Governance Advisory</a:t>
            </a:r>
            <a:endParaRPr lang="en-US" sz="1100" dirty="0"/>
          </a:p>
        </p:txBody>
      </p:sp>
      <p:sp>
        <p:nvSpPr>
          <p:cNvPr id="23" name="Text 20"/>
          <p:cNvSpPr/>
          <p:nvPr/>
        </p:nvSpPr>
        <p:spPr>
          <a:xfrm>
            <a:off x="4892040" y="3639312"/>
            <a:ext cx="3931920" cy="685800"/>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Help clients govern AI-augmented XM programmes. EU AI Act compliance, data classification, approval workflows.</a:t>
            </a:r>
            <a:endParaRPr lang="en-US" sz="900" dirty="0"/>
          </a:p>
        </p:txBody>
      </p:sp>
      <p:sp>
        <p:nvSpPr>
          <p:cNvPr id="24" name="Shape 21"/>
          <p:cNvSpPr/>
          <p:nvPr/>
        </p:nvSpPr>
        <p:spPr>
          <a:xfrm>
            <a:off x="457200" y="4572000"/>
            <a:ext cx="8229600" cy="228600"/>
          </a:xfrm>
          <a:prstGeom prst="rect">
            <a:avLst/>
          </a:prstGeom>
          <a:solidFill>
            <a:srgbClr val="FDEDEC"/>
          </a:solidFill>
          <a:ln/>
        </p:spPr>
        <p:txBody>
          <a:bodyPr/>
          <a:lstStyle/>
          <a:p>
            <a:endParaRPr lang="nl-NL"/>
          </a:p>
        </p:txBody>
      </p:sp>
      <p:sp>
        <p:nvSpPr>
          <p:cNvPr id="25" name="Text 22"/>
          <p:cNvSpPr/>
          <p:nvPr/>
        </p:nvSpPr>
        <p:spPr>
          <a:xfrm>
            <a:off x="594360" y="4572000"/>
            <a:ext cx="7955280" cy="228600"/>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None of these exist as products. All require Phase 1 foundations before development.</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4</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Competitive landscape: who is moving and how</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All from public sources, 2025–2026.</a:t>
            </a:r>
            <a:endParaRPr lang="en-US" sz="1100" dirty="0"/>
          </a:p>
        </p:txBody>
      </p:sp>
      <p:sp>
        <p:nvSpPr>
          <p:cNvPr id="6" name="Shape 3"/>
          <p:cNvSpPr/>
          <p:nvPr/>
        </p:nvSpPr>
        <p:spPr>
          <a:xfrm>
            <a:off x="457200" y="1051560"/>
            <a:ext cx="54864" cy="1554480"/>
          </a:xfrm>
          <a:prstGeom prst="rect">
            <a:avLst/>
          </a:prstGeom>
          <a:solidFill>
            <a:srgbClr val="E67E22"/>
          </a:solidFill>
          <a:ln/>
        </p:spPr>
        <p:txBody>
          <a:bodyPr/>
          <a:lstStyle/>
          <a:p>
            <a:endParaRPr lang="nl-NL"/>
          </a:p>
        </p:txBody>
      </p:sp>
      <p:sp>
        <p:nvSpPr>
          <p:cNvPr id="7" name="Text 4"/>
          <p:cNvSpPr/>
          <p:nvPr/>
        </p:nvSpPr>
        <p:spPr>
          <a:xfrm>
            <a:off x="594360" y="1051560"/>
            <a:ext cx="3886200" cy="201168"/>
          </a:xfrm>
          <a:prstGeom prst="rect">
            <a:avLst/>
          </a:prstGeom>
          <a:noFill/>
          <a:ln/>
        </p:spPr>
        <p:txBody>
          <a:bodyPr wrap="square" lIns="0" tIns="0" rIns="0" bIns="0" rtlCol="0" anchor="ctr"/>
          <a:lstStyle/>
          <a:p>
            <a:pPr marL="0" indent="0">
              <a:buNone/>
            </a:pPr>
            <a:r>
              <a:rPr lang="en-US" sz="1300" b="1" dirty="0">
                <a:solidFill>
                  <a:srgbClr val="E67E22"/>
                </a:solidFill>
                <a:latin typeface="Calibri" pitchFamily="34" charset="0"/>
                <a:ea typeface="Calibri" pitchFamily="34" charset="-122"/>
                <a:cs typeface="Calibri" pitchFamily="34" charset="-120"/>
              </a:rPr>
              <a:t>Accenture</a:t>
            </a:r>
            <a:endParaRPr lang="en-US" sz="1300" dirty="0"/>
          </a:p>
        </p:txBody>
      </p:sp>
      <p:sp>
        <p:nvSpPr>
          <p:cNvPr id="8" name="Text 5"/>
          <p:cNvSpPr/>
          <p:nvPr/>
        </p:nvSpPr>
        <p:spPr>
          <a:xfrm>
            <a:off x="594360" y="1271016"/>
            <a:ext cx="3886200" cy="164592"/>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$5.9bn AI bookings · 23 acquisitions (2025) · 20,000 AI agents</a:t>
            </a:r>
            <a:endParaRPr lang="en-US" sz="800" dirty="0"/>
          </a:p>
        </p:txBody>
      </p:sp>
      <p:sp>
        <p:nvSpPr>
          <p:cNvPr id="9" name="Text 6"/>
          <p:cNvSpPr/>
          <p:nvPr/>
        </p:nvSpPr>
        <p:spPr>
          <a:xfrm>
            <a:off x="594360" y="1490472"/>
            <a:ext cx="3886200" cy="502920"/>
          </a:xfrm>
          <a:prstGeom prst="rect">
            <a:avLst/>
          </a:prstGeom>
          <a:noFill/>
          <a:ln/>
        </p:spPr>
        <p:txBody>
          <a:bodyPr wrap="square" lIns="0" tIns="0" rIns="0" bIns="0" rtlCol="0" anchor="t"/>
          <a:lstStyle/>
          <a:p>
            <a:pPr marL="0" indent="0">
              <a:lnSpc>
                <a:spcPct val="112000"/>
              </a:lnSpc>
              <a:buNone/>
            </a:pPr>
            <a:r>
              <a:rPr lang="en-US" sz="800" dirty="0">
                <a:solidFill>
                  <a:srgbClr val="666666"/>
                </a:solidFill>
                <a:latin typeface="Calibri" pitchFamily="34" charset="0"/>
                <a:ea typeface="Calibri" pitchFamily="34" charset="-122"/>
                <a:cs typeface="Calibri" pitchFamily="34" charset="-120"/>
              </a:rPr>
              <a:t>AI capability: AI no longer reported separately — it is just 'consulting.' $3bn data &amp; AI practice. Acquires XM specialists to fill domain gaps.</a:t>
            </a:r>
            <a:endParaRPr lang="en-US" sz="800" dirty="0"/>
          </a:p>
        </p:txBody>
      </p:sp>
      <p:sp>
        <p:nvSpPr>
          <p:cNvPr id="10" name="Text 7"/>
          <p:cNvSpPr/>
          <p:nvPr/>
        </p:nvSpPr>
        <p:spPr>
          <a:xfrm>
            <a:off x="594360" y="2057400"/>
            <a:ext cx="3886200" cy="457200"/>
          </a:xfrm>
          <a:prstGeom prst="rect">
            <a:avLst/>
          </a:prstGeom>
          <a:noFill/>
          <a:ln/>
        </p:spPr>
        <p:txBody>
          <a:bodyPr wrap="square" lIns="0" tIns="0" rIns="0" bIns="0" rtlCol="0" anchor="t"/>
          <a:lstStyle/>
          <a:p>
            <a:pPr marL="0" indent="0">
              <a:lnSpc>
                <a:spcPct val="112000"/>
              </a:lnSpc>
              <a:buNone/>
            </a:pPr>
            <a:r>
              <a:rPr lang="en-US" sz="800" i="1" dirty="0">
                <a:solidFill>
                  <a:srgbClr val="E67E22"/>
                </a:solidFill>
                <a:latin typeface="Calibri" pitchFamily="34" charset="0"/>
                <a:ea typeface="Calibri" pitchFamily="34" charset="-122"/>
                <a:cs typeface="Calibri" pitchFamily="34" charset="-120"/>
              </a:rPr>
              <a:t>Threat to AKT: Consolidation risk. AKT becomes subcontractor rather than direct advisor.</a:t>
            </a:r>
            <a:endParaRPr lang="en-US" sz="800" dirty="0"/>
          </a:p>
        </p:txBody>
      </p:sp>
      <p:sp>
        <p:nvSpPr>
          <p:cNvPr id="11" name="Shape 8"/>
          <p:cNvSpPr/>
          <p:nvPr/>
        </p:nvSpPr>
        <p:spPr>
          <a:xfrm>
            <a:off x="4663440" y="1051560"/>
            <a:ext cx="54864" cy="1554480"/>
          </a:xfrm>
          <a:prstGeom prst="rect">
            <a:avLst/>
          </a:prstGeom>
          <a:solidFill>
            <a:srgbClr val="2980B9"/>
          </a:solidFill>
          <a:ln/>
        </p:spPr>
        <p:txBody>
          <a:bodyPr/>
          <a:lstStyle/>
          <a:p>
            <a:endParaRPr lang="nl-NL"/>
          </a:p>
        </p:txBody>
      </p:sp>
      <p:sp>
        <p:nvSpPr>
          <p:cNvPr id="12" name="Text 9"/>
          <p:cNvSpPr/>
          <p:nvPr/>
        </p:nvSpPr>
        <p:spPr>
          <a:xfrm>
            <a:off x="4800600" y="1051560"/>
            <a:ext cx="3886200" cy="201168"/>
          </a:xfrm>
          <a:prstGeom prst="rect">
            <a:avLst/>
          </a:prstGeom>
          <a:noFill/>
          <a:ln/>
        </p:spPr>
        <p:txBody>
          <a:bodyPr wrap="square" lIns="0" tIns="0" rIns="0" bIns="0" rtlCol="0" anchor="ctr"/>
          <a:lstStyle/>
          <a:p>
            <a:pPr marL="0" indent="0">
              <a:buNone/>
            </a:pPr>
            <a:r>
              <a:rPr lang="en-US" sz="1300" b="1" dirty="0">
                <a:solidFill>
                  <a:srgbClr val="2980B9"/>
                </a:solidFill>
                <a:latin typeface="Calibri" pitchFamily="34" charset="0"/>
                <a:ea typeface="Calibri" pitchFamily="34" charset="-122"/>
                <a:cs typeface="Calibri" pitchFamily="34" charset="-120"/>
              </a:rPr>
              <a:t>Walker</a:t>
            </a:r>
            <a:endParaRPr lang="en-US" sz="1300" dirty="0"/>
          </a:p>
        </p:txBody>
      </p:sp>
      <p:sp>
        <p:nvSpPr>
          <p:cNvPr id="13" name="Text 10"/>
          <p:cNvSpPr/>
          <p:nvPr/>
        </p:nvSpPr>
        <p:spPr>
          <a:xfrm>
            <a:off x="4800600" y="1271016"/>
            <a:ext cx="3886200" cy="164592"/>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165 people · 70+ Qualtrics certified · 2026 NA Partner of the Year</a:t>
            </a:r>
            <a:endParaRPr lang="en-US" sz="800" dirty="0"/>
          </a:p>
        </p:txBody>
      </p:sp>
      <p:sp>
        <p:nvSpPr>
          <p:cNvPr id="14" name="Text 11"/>
          <p:cNvSpPr/>
          <p:nvPr/>
        </p:nvSpPr>
        <p:spPr>
          <a:xfrm>
            <a:off x="4800600" y="1490472"/>
            <a:ext cx="3886200" cy="502920"/>
          </a:xfrm>
          <a:prstGeom prst="rect">
            <a:avLst/>
          </a:prstGeom>
          <a:noFill/>
          <a:ln/>
        </p:spPr>
        <p:txBody>
          <a:bodyPr wrap="square" lIns="0" tIns="0" rIns="0" bIns="0" rtlCol="0" anchor="t"/>
          <a:lstStyle/>
          <a:p>
            <a:pPr marL="0" indent="0">
              <a:lnSpc>
                <a:spcPct val="112000"/>
              </a:lnSpc>
              <a:buNone/>
            </a:pPr>
            <a:r>
              <a:rPr lang="en-US" sz="800" dirty="0">
                <a:solidFill>
                  <a:srgbClr val="666666"/>
                </a:solidFill>
                <a:latin typeface="Calibri" pitchFamily="34" charset="0"/>
                <a:ea typeface="Calibri" pitchFamily="34" charset="-122"/>
                <a:cs typeface="Calibri" pitchFamily="34" charset="-120"/>
              </a:rPr>
              <a:t>AI capability: Entirely Qualtrics-dependent. No proprietary AI. 43% adoption claim — zero published evidence. US-only.</a:t>
            </a:r>
            <a:endParaRPr lang="en-US" sz="800" dirty="0"/>
          </a:p>
        </p:txBody>
      </p:sp>
      <p:sp>
        <p:nvSpPr>
          <p:cNvPr id="15" name="Text 12"/>
          <p:cNvSpPr/>
          <p:nvPr/>
        </p:nvSpPr>
        <p:spPr>
          <a:xfrm>
            <a:off x="4800600" y="2057400"/>
            <a:ext cx="3886200" cy="457200"/>
          </a:xfrm>
          <a:prstGeom prst="rect">
            <a:avLst/>
          </a:prstGeom>
          <a:noFill/>
          <a:ln/>
        </p:spPr>
        <p:txBody>
          <a:bodyPr wrap="square" lIns="0" tIns="0" rIns="0" bIns="0" rtlCol="0" anchor="t"/>
          <a:lstStyle/>
          <a:p>
            <a:pPr marL="0" indent="0">
              <a:lnSpc>
                <a:spcPct val="112000"/>
              </a:lnSpc>
              <a:buNone/>
            </a:pPr>
            <a:r>
              <a:rPr lang="en-US" sz="800" i="1" dirty="0">
                <a:solidFill>
                  <a:srgbClr val="2980B9"/>
                </a:solidFill>
                <a:latin typeface="Calibri" pitchFamily="34" charset="0"/>
                <a:ea typeface="Calibri" pitchFamily="34" charset="-122"/>
                <a:cs typeface="Calibri" pitchFamily="34" charset="-120"/>
              </a:rPr>
              <a:t>Threat to AKT: Validates that partnerships alone are not enough. When Qualtrics builds AI in, Walker has nothing independent.</a:t>
            </a:r>
            <a:endParaRPr lang="en-US" sz="800" dirty="0"/>
          </a:p>
        </p:txBody>
      </p:sp>
      <p:sp>
        <p:nvSpPr>
          <p:cNvPr id="16" name="Shape 13"/>
          <p:cNvSpPr/>
          <p:nvPr/>
        </p:nvSpPr>
        <p:spPr>
          <a:xfrm>
            <a:off x="457200" y="2743200"/>
            <a:ext cx="54864" cy="1554480"/>
          </a:xfrm>
          <a:prstGeom prst="rect">
            <a:avLst/>
          </a:prstGeom>
          <a:solidFill>
            <a:srgbClr val="27AE60"/>
          </a:solidFill>
          <a:ln/>
        </p:spPr>
        <p:txBody>
          <a:bodyPr/>
          <a:lstStyle/>
          <a:p>
            <a:endParaRPr lang="nl-NL"/>
          </a:p>
        </p:txBody>
      </p:sp>
      <p:sp>
        <p:nvSpPr>
          <p:cNvPr id="17" name="Text 14"/>
          <p:cNvSpPr/>
          <p:nvPr/>
        </p:nvSpPr>
        <p:spPr>
          <a:xfrm>
            <a:off x="594360" y="2743200"/>
            <a:ext cx="3886200" cy="201168"/>
          </a:xfrm>
          <a:prstGeom prst="rect">
            <a:avLst/>
          </a:prstGeom>
          <a:noFill/>
          <a:ln/>
        </p:spPr>
        <p:txBody>
          <a:bodyPr wrap="square" lIns="0" tIns="0" rIns="0" bIns="0" rtlCol="0" anchor="ctr"/>
          <a:lstStyle/>
          <a:p>
            <a:pPr marL="0" indent="0">
              <a:buNone/>
            </a:pPr>
            <a:r>
              <a:rPr lang="en-US" sz="1300" b="1" dirty="0">
                <a:solidFill>
                  <a:srgbClr val="27AE60"/>
                </a:solidFill>
                <a:latin typeface="Calibri" pitchFamily="34" charset="0"/>
                <a:ea typeface="Calibri" pitchFamily="34" charset="-122"/>
                <a:cs typeface="Calibri" pitchFamily="34" charset="-120"/>
              </a:rPr>
              <a:t>Ipsos</a:t>
            </a:r>
            <a:endParaRPr lang="en-US" sz="1300" dirty="0"/>
          </a:p>
        </p:txBody>
      </p:sp>
      <p:sp>
        <p:nvSpPr>
          <p:cNvPr id="18" name="Text 15"/>
          <p:cNvSpPr/>
          <p:nvPr/>
        </p:nvSpPr>
        <p:spPr>
          <a:xfrm>
            <a:off x="594360" y="2962656"/>
            <a:ext cx="3886200" cy="164592"/>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€1bn committed to AI · Marketplace on Qualtrics · Synthetic panels</a:t>
            </a:r>
            <a:endParaRPr lang="en-US" sz="800" dirty="0"/>
          </a:p>
        </p:txBody>
      </p:sp>
      <p:sp>
        <p:nvSpPr>
          <p:cNvPr id="19" name="Text 16"/>
          <p:cNvSpPr/>
          <p:nvPr/>
        </p:nvSpPr>
        <p:spPr>
          <a:xfrm>
            <a:off x="594360" y="3182112"/>
            <a:ext cx="3886200" cy="502920"/>
          </a:xfrm>
          <a:prstGeom prst="rect">
            <a:avLst/>
          </a:prstGeom>
          <a:noFill/>
          <a:ln/>
        </p:spPr>
        <p:txBody>
          <a:bodyPr wrap="square" lIns="0" tIns="0" rIns="0" bIns="0" rtlCol="0" anchor="t"/>
          <a:lstStyle/>
          <a:p>
            <a:pPr marL="0" indent="0">
              <a:lnSpc>
                <a:spcPct val="112000"/>
              </a:lnSpc>
              <a:buNone/>
            </a:pPr>
            <a:r>
              <a:rPr lang="en-US" sz="800" dirty="0">
                <a:solidFill>
                  <a:srgbClr val="666666"/>
                </a:solidFill>
                <a:latin typeface="Calibri" pitchFamily="34" charset="0"/>
                <a:ea typeface="Calibri" pitchFamily="34" charset="-122"/>
                <a:cs typeface="Calibri" pitchFamily="34" charset="-120"/>
              </a:rPr>
              <a:t>AI capability: Research-grade AI pushing into XM territory. Combining quantitative research scale with platform-native tools.</a:t>
            </a:r>
            <a:endParaRPr lang="en-US" sz="800" dirty="0"/>
          </a:p>
        </p:txBody>
      </p:sp>
      <p:sp>
        <p:nvSpPr>
          <p:cNvPr id="20" name="Text 17"/>
          <p:cNvSpPr/>
          <p:nvPr/>
        </p:nvSpPr>
        <p:spPr>
          <a:xfrm>
            <a:off x="594360" y="3749040"/>
            <a:ext cx="3886200" cy="457200"/>
          </a:xfrm>
          <a:prstGeom prst="rect">
            <a:avLst/>
          </a:prstGeom>
          <a:noFill/>
          <a:ln/>
        </p:spPr>
        <p:txBody>
          <a:bodyPr wrap="square" lIns="0" tIns="0" rIns="0" bIns="0" rtlCol="0" anchor="t"/>
          <a:lstStyle/>
          <a:p>
            <a:pPr marL="0" indent="0">
              <a:lnSpc>
                <a:spcPct val="112000"/>
              </a:lnSpc>
              <a:buNone/>
            </a:pPr>
            <a:r>
              <a:rPr lang="en-US" sz="800" i="1" dirty="0">
                <a:solidFill>
                  <a:srgbClr val="27AE60"/>
                </a:solidFill>
                <a:latin typeface="Calibri" pitchFamily="34" charset="0"/>
                <a:ea typeface="Calibri" pitchFamily="34" charset="-122"/>
                <a:cs typeface="Calibri" pitchFamily="34" charset="-120"/>
              </a:rPr>
              <a:t>Threat to AKT: Blurs research vs advisory. Clients may not distinguish Ipsos insight products from AKT advisory.</a:t>
            </a:r>
            <a:endParaRPr lang="en-US" sz="800" dirty="0"/>
          </a:p>
        </p:txBody>
      </p:sp>
      <p:sp>
        <p:nvSpPr>
          <p:cNvPr id="21" name="Shape 18"/>
          <p:cNvSpPr/>
          <p:nvPr/>
        </p:nvSpPr>
        <p:spPr>
          <a:xfrm>
            <a:off x="4663440" y="2743200"/>
            <a:ext cx="54864" cy="1554480"/>
          </a:xfrm>
          <a:prstGeom prst="rect">
            <a:avLst/>
          </a:prstGeom>
          <a:solidFill>
            <a:srgbClr val="8E44AD"/>
          </a:solidFill>
          <a:ln/>
        </p:spPr>
        <p:txBody>
          <a:bodyPr/>
          <a:lstStyle/>
          <a:p>
            <a:endParaRPr lang="nl-NL"/>
          </a:p>
        </p:txBody>
      </p:sp>
      <p:sp>
        <p:nvSpPr>
          <p:cNvPr id="22" name="Text 19"/>
          <p:cNvSpPr/>
          <p:nvPr/>
        </p:nvSpPr>
        <p:spPr>
          <a:xfrm>
            <a:off x="4800600" y="2743200"/>
            <a:ext cx="3886200" cy="201168"/>
          </a:xfrm>
          <a:prstGeom prst="rect">
            <a:avLst/>
          </a:prstGeom>
          <a:noFill/>
          <a:ln/>
        </p:spPr>
        <p:txBody>
          <a:bodyPr wrap="square" lIns="0" tIns="0" rIns="0" bIns="0" rtlCol="0" anchor="ctr"/>
          <a:lstStyle/>
          <a:p>
            <a:pPr marL="0" indent="0">
              <a:buNone/>
            </a:pPr>
            <a:r>
              <a:rPr lang="en-US" sz="1300" b="1" dirty="0">
                <a:solidFill>
                  <a:srgbClr val="8E44AD"/>
                </a:solidFill>
                <a:latin typeface="Calibri" pitchFamily="34" charset="0"/>
                <a:ea typeface="Calibri" pitchFamily="34" charset="-122"/>
                <a:cs typeface="Calibri" pitchFamily="34" charset="-120"/>
              </a:rPr>
              <a:t>Kantar</a:t>
            </a:r>
            <a:endParaRPr lang="en-US" sz="1300" dirty="0"/>
          </a:p>
        </p:txBody>
      </p:sp>
      <p:sp>
        <p:nvSpPr>
          <p:cNvPr id="23" name="Text 20"/>
          <p:cNvSpPr/>
          <p:nvPr/>
        </p:nvSpPr>
        <p:spPr>
          <a:xfrm>
            <a:off x="4800600" y="2962656"/>
            <a:ext cx="3886200" cy="164592"/>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€3.5bn revenue · AI Lab launched · Public AI strategy</a:t>
            </a:r>
            <a:endParaRPr lang="en-US" sz="800" dirty="0"/>
          </a:p>
        </p:txBody>
      </p:sp>
      <p:sp>
        <p:nvSpPr>
          <p:cNvPr id="24" name="Text 21"/>
          <p:cNvSpPr/>
          <p:nvPr/>
        </p:nvSpPr>
        <p:spPr>
          <a:xfrm>
            <a:off x="4800600" y="3182112"/>
            <a:ext cx="3886200" cy="502920"/>
          </a:xfrm>
          <a:prstGeom prst="rect">
            <a:avLst/>
          </a:prstGeom>
          <a:noFill/>
          <a:ln/>
        </p:spPr>
        <p:txBody>
          <a:bodyPr wrap="square" lIns="0" tIns="0" rIns="0" bIns="0" rtlCol="0" anchor="t"/>
          <a:lstStyle/>
          <a:p>
            <a:pPr marL="0" indent="0">
              <a:lnSpc>
                <a:spcPct val="112000"/>
              </a:lnSpc>
              <a:buNone/>
            </a:pPr>
            <a:r>
              <a:rPr lang="en-US" sz="800" dirty="0">
                <a:solidFill>
                  <a:srgbClr val="666666"/>
                </a:solidFill>
                <a:latin typeface="Calibri" pitchFamily="34" charset="0"/>
                <a:ea typeface="Calibri" pitchFamily="34" charset="-122"/>
                <a:cs typeface="Calibri" pitchFamily="34" charset="-120"/>
              </a:rPr>
              <a:t>AI capability: Moving from research to intelligence platform. Scale in analytics. Historically slow to operationalise in delivery.</a:t>
            </a:r>
            <a:endParaRPr lang="en-US" sz="800" dirty="0"/>
          </a:p>
        </p:txBody>
      </p:sp>
      <p:sp>
        <p:nvSpPr>
          <p:cNvPr id="25" name="Text 22"/>
          <p:cNvSpPr/>
          <p:nvPr/>
        </p:nvSpPr>
        <p:spPr>
          <a:xfrm>
            <a:off x="4800600" y="3749040"/>
            <a:ext cx="3886200" cy="457200"/>
          </a:xfrm>
          <a:prstGeom prst="rect">
            <a:avLst/>
          </a:prstGeom>
          <a:noFill/>
          <a:ln/>
        </p:spPr>
        <p:txBody>
          <a:bodyPr wrap="square" lIns="0" tIns="0" rIns="0" bIns="0" rtlCol="0" anchor="t"/>
          <a:lstStyle/>
          <a:p>
            <a:pPr marL="0" indent="0">
              <a:lnSpc>
                <a:spcPct val="112000"/>
              </a:lnSpc>
              <a:buNone/>
            </a:pPr>
            <a:r>
              <a:rPr lang="en-US" sz="800" i="1" dirty="0">
                <a:solidFill>
                  <a:srgbClr val="8E44AD"/>
                </a:solidFill>
                <a:latin typeface="Calibri" pitchFamily="34" charset="0"/>
                <a:ea typeface="Calibri" pitchFamily="34" charset="-122"/>
                <a:cs typeface="Calibri" pitchFamily="34" charset="-120"/>
              </a:rPr>
              <a:t>Threat to AKT: If Kantar accelerates, they enter AKT's space from above with far more data.</a:t>
            </a:r>
            <a:endParaRPr lang="en-US" sz="800" dirty="0"/>
          </a:p>
        </p:txBody>
      </p:sp>
      <p:sp>
        <p:nvSpPr>
          <p:cNvPr id="26" name="Shape 23"/>
          <p:cNvSpPr/>
          <p:nvPr/>
        </p:nvSpPr>
        <p:spPr>
          <a:xfrm>
            <a:off x="457200" y="4421088"/>
            <a:ext cx="8229600" cy="27432"/>
          </a:xfrm>
          <a:prstGeom prst="rect">
            <a:avLst/>
          </a:prstGeom>
          <a:solidFill>
            <a:srgbClr val="C0392B"/>
          </a:solidFill>
          <a:ln/>
        </p:spPr>
        <p:txBody>
          <a:bodyPr/>
          <a:lstStyle/>
          <a:p>
            <a:endParaRPr lang="nl-NL"/>
          </a:p>
        </p:txBody>
      </p:sp>
      <p:sp>
        <p:nvSpPr>
          <p:cNvPr id="27" name="Text 24"/>
          <p:cNvSpPr/>
          <p:nvPr/>
        </p:nvSpPr>
        <p:spPr>
          <a:xfrm>
            <a:off x="457200" y="4498254"/>
            <a:ext cx="8229600" cy="274320"/>
          </a:xfrm>
          <a:prstGeom prst="rect">
            <a:avLst/>
          </a:prstGeom>
          <a:noFill/>
          <a:ln/>
        </p:spPr>
        <p:txBody>
          <a:bodyPr wrap="square" lIns="0" tIns="0" rIns="0" bIns="0" rtlCol="0" anchor="t"/>
          <a:lstStyle/>
          <a:p>
            <a:pPr marL="0" indent="0">
              <a:buNone/>
            </a:pPr>
            <a:r>
              <a:rPr lang="en-US" sz="750" dirty="0">
                <a:solidFill>
                  <a:srgbClr val="333333"/>
                </a:solidFill>
                <a:latin typeface="Calibri" pitchFamily="34" charset="0"/>
                <a:ea typeface="Calibri" pitchFamily="34" charset="-122"/>
                <a:cs typeface="Calibri" pitchFamily="34" charset="-120"/>
              </a:rPr>
              <a:t>Big Four invested $10bn+ since 2023  •  </a:t>
            </a:r>
            <a:r>
              <a:rPr lang="en-US" sz="750" b="1" dirty="0">
                <a:solidFill>
                  <a:srgbClr val="333333"/>
                </a:solidFill>
                <a:latin typeface="Calibri" pitchFamily="34" charset="0"/>
                <a:ea typeface="Calibri" pitchFamily="34" charset="-122"/>
                <a:cs typeface="Calibri" pitchFamily="34" charset="-120"/>
              </a:rPr>
              <a:t>First-mover boutiques have 6–12 month advantage  </a:t>
            </a:r>
            <a:r>
              <a:rPr lang="en-US" sz="750" dirty="0">
                <a:solidFill>
                  <a:srgbClr val="333333"/>
                </a:solidFill>
                <a:latin typeface="Calibri" pitchFamily="34" charset="0"/>
                <a:ea typeface="Calibri" pitchFamily="34" charset="-122"/>
                <a:cs typeface="Calibri" pitchFamily="34" charset="-120"/>
              </a:rPr>
              <a:t>•  Qualtrics Platform Track Q4 2026  •  87% enterprise AI projects fail to scale  •  12–18 months before late entrants face structurally higher costs</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Key opportunities</a:t>
            </a:r>
          </a:p>
        </p:txBody>
      </p:sp>
      <p:sp>
        <p:nvSpPr>
          <p:cNvPr id="4" name="Text 2"/>
          <p:cNvSpPr/>
          <p:nvPr/>
        </p:nvSpPr>
        <p:spPr>
          <a:xfrm>
            <a:off x="457200" y="1051560"/>
            <a:ext cx="365760" cy="228600"/>
          </a:xfrm>
          <a:prstGeom prst="rect">
            <a:avLst/>
          </a:prstGeom>
          <a:noFill/>
          <a:ln/>
        </p:spPr>
        <p:txBody>
          <a:bodyPr wrap="square" rtlCol="0" anchor="ctr"/>
          <a:lstStyle/>
          <a:p>
            <a:pPr marL="0" indent="0">
              <a:buNone/>
            </a:pPr>
            <a:r>
              <a:rPr lang="en-US" sz="1200" b="1" dirty="0">
                <a:solidFill>
                  <a:srgbClr val="F0AC00"/>
                </a:solidFill>
                <a:latin typeface="Calibri" panose="020F0502020204030204" pitchFamily="34" charset="0"/>
                <a:ea typeface="Arial" pitchFamily="34" charset="-122"/>
                <a:cs typeface="Calibri" panose="020F0502020204030204" pitchFamily="34" charset="0"/>
              </a:rPr>
              <a:t>1</a:t>
            </a:r>
            <a:endParaRPr lang="en-US" sz="1200" dirty="0">
              <a:latin typeface="Calibri" panose="020F0502020204030204" pitchFamily="34" charset="0"/>
              <a:cs typeface="Calibri" panose="020F0502020204030204" pitchFamily="34" charset="0"/>
            </a:endParaRPr>
          </a:p>
        </p:txBody>
      </p:sp>
      <p:sp>
        <p:nvSpPr>
          <p:cNvPr id="5" name="Text 3"/>
          <p:cNvSpPr/>
          <p:nvPr/>
        </p:nvSpPr>
        <p:spPr>
          <a:xfrm>
            <a:off x="914400" y="1051560"/>
            <a:ext cx="7315200" cy="228600"/>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CMX™ - proprietary AKT IP that no platform can replicate</a:t>
            </a:r>
            <a:endParaRPr lang="en-US" sz="1100" dirty="0">
              <a:latin typeface="Calibri" panose="020F0502020204030204" pitchFamily="34" charset="0"/>
              <a:cs typeface="Calibri" panose="020F0502020204030204" pitchFamily="34" charset="0"/>
            </a:endParaRPr>
          </a:p>
        </p:txBody>
      </p:sp>
      <p:sp>
        <p:nvSpPr>
          <p:cNvPr id="6" name="Text 4"/>
          <p:cNvSpPr/>
          <p:nvPr/>
        </p:nvSpPr>
        <p:spPr>
          <a:xfrm>
            <a:off x="914400" y="1242742"/>
            <a:ext cx="7315200" cy="292608"/>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Continuous assessment of stakeholder readiness, preferences, mood, resistance. Personalised activation at scale. This is the thing AI makes more valuable, not less and it is platform-agnostic. First products run offline or in protected client environments.</a:t>
            </a:r>
            <a:endParaRPr lang="en-US" sz="950" dirty="0">
              <a:latin typeface="Calibri" panose="020F0502020204030204" pitchFamily="34" charset="0"/>
              <a:cs typeface="Calibri" panose="020F0502020204030204" pitchFamily="34" charset="0"/>
            </a:endParaRPr>
          </a:p>
        </p:txBody>
      </p:sp>
      <p:sp>
        <p:nvSpPr>
          <p:cNvPr id="7" name="Text 5"/>
          <p:cNvSpPr/>
          <p:nvPr/>
        </p:nvSpPr>
        <p:spPr>
          <a:xfrm>
            <a:off x="457200" y="1677503"/>
            <a:ext cx="365760" cy="228600"/>
          </a:xfrm>
          <a:prstGeom prst="rect">
            <a:avLst/>
          </a:prstGeom>
          <a:noFill/>
          <a:ln/>
        </p:spPr>
        <p:txBody>
          <a:bodyPr wrap="square" rtlCol="0" anchor="ctr"/>
          <a:lstStyle/>
          <a:p>
            <a:pPr marL="0" indent="0">
              <a:buNone/>
            </a:pPr>
            <a:r>
              <a:rPr lang="en-US" sz="1200" b="1" dirty="0">
                <a:solidFill>
                  <a:srgbClr val="F0AC00"/>
                </a:solidFill>
                <a:latin typeface="Calibri" panose="020F0502020204030204" pitchFamily="34" charset="0"/>
                <a:ea typeface="Arial" pitchFamily="34" charset="-122"/>
                <a:cs typeface="Calibri" panose="020F0502020204030204" pitchFamily="34" charset="0"/>
              </a:rPr>
              <a:t>2</a:t>
            </a:r>
            <a:endParaRPr lang="en-US" sz="1200" dirty="0">
              <a:latin typeface="Calibri" panose="020F0502020204030204" pitchFamily="34" charset="0"/>
              <a:cs typeface="Calibri" panose="020F0502020204030204" pitchFamily="34" charset="0"/>
            </a:endParaRPr>
          </a:p>
        </p:txBody>
      </p:sp>
      <p:sp>
        <p:nvSpPr>
          <p:cNvPr id="8" name="Text 6"/>
          <p:cNvSpPr/>
          <p:nvPr/>
        </p:nvSpPr>
        <p:spPr>
          <a:xfrm>
            <a:off x="914400" y="1677503"/>
            <a:ext cx="7315200" cy="228600"/>
          </a:xfrm>
          <a:prstGeom prst="rect">
            <a:avLst/>
          </a:prstGeom>
          <a:noFill/>
          <a:ln/>
        </p:spPr>
        <p:txBody>
          <a:bodyPr wrap="square" rtlCol="0" anchor="ctr"/>
          <a:lstStyle/>
          <a:p>
            <a:pPr marL="0" indent="0" algn="l">
              <a:buNone/>
            </a:pPr>
            <a:r>
              <a:rPr lang="en-US" sz="1100" b="1" dirty="0">
                <a:solidFill>
                  <a:srgbClr val="000000"/>
                </a:solidFill>
                <a:ea typeface="Arial" pitchFamily="34" charset="-122"/>
                <a:cs typeface="Arial" pitchFamily="34" charset="-120"/>
              </a:rPr>
              <a:t>E</a:t>
            </a:r>
            <a:r>
              <a:rPr lang="en-US" sz="1100" b="1" dirty="0">
                <a:solidFill>
                  <a:srgbClr val="000000"/>
                </a:solidFill>
                <a:latin typeface="Arial" pitchFamily="34" charset="0"/>
                <a:ea typeface="Arial" pitchFamily="34" charset="-122"/>
                <a:cs typeface="Arial" pitchFamily="34" charset="-120"/>
              </a:rPr>
              <a:t>ngagement intelligence platform</a:t>
            </a:r>
            <a:endParaRPr lang="en-US" sz="1100" dirty="0"/>
          </a:p>
        </p:txBody>
      </p:sp>
      <p:sp>
        <p:nvSpPr>
          <p:cNvPr id="9" name="Text 7"/>
          <p:cNvSpPr/>
          <p:nvPr/>
        </p:nvSpPr>
        <p:spPr>
          <a:xfrm>
            <a:off x="914400" y="1946505"/>
            <a:ext cx="7315200" cy="292608"/>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AI driven command center stitches strategy into projects, deliverables, and decisions. When a new insight lands or a priority shifts, the command centre integrates that change across the programme with speed and accuracy. Qualtrics Multi-Client Hub (Q3 2026) provides the data layer; the orchestration logic is ours.</a:t>
            </a:r>
            <a:endParaRPr lang="en-US" sz="950" dirty="0">
              <a:latin typeface="Calibri" panose="020F0502020204030204" pitchFamily="34" charset="0"/>
              <a:cs typeface="Calibri" panose="020F0502020204030204" pitchFamily="34" charset="0"/>
            </a:endParaRPr>
          </a:p>
        </p:txBody>
      </p:sp>
      <p:sp>
        <p:nvSpPr>
          <p:cNvPr id="10" name="Text 8"/>
          <p:cNvSpPr/>
          <p:nvPr/>
        </p:nvSpPr>
        <p:spPr>
          <a:xfrm>
            <a:off x="457200" y="2381266"/>
            <a:ext cx="365760" cy="228600"/>
          </a:xfrm>
          <a:prstGeom prst="rect">
            <a:avLst/>
          </a:prstGeom>
          <a:noFill/>
          <a:ln/>
        </p:spPr>
        <p:txBody>
          <a:bodyPr wrap="square" rtlCol="0" anchor="ctr"/>
          <a:lstStyle/>
          <a:p>
            <a:pPr marL="0" indent="0">
              <a:buNone/>
            </a:pPr>
            <a:r>
              <a:rPr lang="en-US" sz="1200" b="1" dirty="0">
                <a:solidFill>
                  <a:srgbClr val="F0AC00"/>
                </a:solidFill>
                <a:latin typeface="Calibri" panose="020F0502020204030204" pitchFamily="34" charset="0"/>
                <a:ea typeface="Arial" pitchFamily="34" charset="-122"/>
                <a:cs typeface="Calibri" panose="020F0502020204030204" pitchFamily="34" charset="0"/>
              </a:rPr>
              <a:t>3</a:t>
            </a:r>
            <a:endParaRPr lang="en-US" sz="1200" dirty="0">
              <a:latin typeface="Calibri" panose="020F0502020204030204" pitchFamily="34" charset="0"/>
              <a:cs typeface="Calibri" panose="020F0502020204030204" pitchFamily="34" charset="0"/>
            </a:endParaRPr>
          </a:p>
        </p:txBody>
      </p:sp>
      <p:sp>
        <p:nvSpPr>
          <p:cNvPr id="11" name="Text 9"/>
          <p:cNvSpPr/>
          <p:nvPr/>
        </p:nvSpPr>
        <p:spPr>
          <a:xfrm>
            <a:off x="914400" y="2381266"/>
            <a:ext cx="7315200" cy="228600"/>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Outcome-based pricing paid on validated evidence</a:t>
            </a:r>
            <a:endParaRPr lang="en-US" sz="1100" dirty="0">
              <a:latin typeface="Calibri" panose="020F0502020204030204" pitchFamily="34" charset="0"/>
              <a:cs typeface="Calibri" panose="020F0502020204030204" pitchFamily="34" charset="0"/>
            </a:endParaRPr>
          </a:p>
        </p:txBody>
      </p:sp>
      <p:sp>
        <p:nvSpPr>
          <p:cNvPr id="12" name="Text 10"/>
          <p:cNvSpPr/>
          <p:nvPr/>
        </p:nvSpPr>
        <p:spPr>
          <a:xfrm>
            <a:off x="914400" y="2643783"/>
            <a:ext cx="7315200" cy="292608"/>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Survey data + new behaviour = the only proof that matters. AI compresses delivery 40 to 60%, so hourly pricing erodes. The commercial model must shift. Qualtrics PSPs already prove the numbers: 15% account expansion, 34pt higher NPS. AKT should be the first partner to price on outcomes.</a:t>
            </a:r>
            <a:endParaRPr lang="en-US" sz="950" dirty="0">
              <a:latin typeface="Calibri" panose="020F0502020204030204" pitchFamily="34" charset="0"/>
              <a:cs typeface="Calibri" panose="020F0502020204030204" pitchFamily="34" charset="0"/>
            </a:endParaRPr>
          </a:p>
        </p:txBody>
      </p:sp>
      <p:sp>
        <p:nvSpPr>
          <p:cNvPr id="13" name="Text 11"/>
          <p:cNvSpPr/>
          <p:nvPr/>
        </p:nvSpPr>
        <p:spPr>
          <a:xfrm>
            <a:off x="457200" y="3039634"/>
            <a:ext cx="365760" cy="228600"/>
          </a:xfrm>
          <a:prstGeom prst="rect">
            <a:avLst/>
          </a:prstGeom>
          <a:noFill/>
          <a:ln/>
        </p:spPr>
        <p:txBody>
          <a:bodyPr wrap="square" rtlCol="0" anchor="ctr"/>
          <a:lstStyle/>
          <a:p>
            <a:pPr marL="0" indent="0">
              <a:buNone/>
            </a:pPr>
            <a:r>
              <a:rPr lang="en-US" sz="1200" b="1" dirty="0">
                <a:solidFill>
                  <a:srgbClr val="F0AC00"/>
                </a:solidFill>
                <a:latin typeface="Calibri" panose="020F0502020204030204" pitchFamily="34" charset="0"/>
                <a:ea typeface="Arial" pitchFamily="34" charset="-122"/>
                <a:cs typeface="Calibri" panose="020F0502020204030204" pitchFamily="34" charset="0"/>
              </a:rPr>
              <a:t>4</a:t>
            </a:r>
            <a:endParaRPr lang="en-US" sz="1200" dirty="0">
              <a:latin typeface="Calibri" panose="020F0502020204030204" pitchFamily="34" charset="0"/>
              <a:cs typeface="Calibri" panose="020F0502020204030204" pitchFamily="34" charset="0"/>
            </a:endParaRPr>
          </a:p>
        </p:txBody>
      </p:sp>
      <p:sp>
        <p:nvSpPr>
          <p:cNvPr id="14" name="Text 12"/>
          <p:cNvSpPr/>
          <p:nvPr/>
        </p:nvSpPr>
        <p:spPr>
          <a:xfrm>
            <a:off x="914400" y="3039634"/>
            <a:ext cx="7315200" cy="228600"/>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Activation services onsite, human, AI-backed</a:t>
            </a:r>
            <a:endParaRPr lang="en-US" sz="1100" dirty="0">
              <a:latin typeface="Calibri" panose="020F0502020204030204" pitchFamily="34" charset="0"/>
              <a:cs typeface="Calibri" panose="020F0502020204030204" pitchFamily="34" charset="0"/>
            </a:endParaRPr>
          </a:p>
        </p:txBody>
      </p:sp>
      <p:sp>
        <p:nvSpPr>
          <p:cNvPr id="15" name="Text 13"/>
          <p:cNvSpPr/>
          <p:nvPr/>
        </p:nvSpPr>
        <p:spPr>
          <a:xfrm>
            <a:off x="914400" y="3308636"/>
            <a:ext cx="7315200" cy="292608"/>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AKT brings the energy and the change. Intelligent assessments onboard stakeholders so we can optimise every intervention. Our people need to be acutely aware of what is happening client-side meaning less operational hustle, more strategic presence. This is where we excel and competitors cannot follow.</a:t>
            </a:r>
            <a:endParaRPr lang="en-US" sz="950" dirty="0">
              <a:latin typeface="Calibri" panose="020F0502020204030204" pitchFamily="34" charset="0"/>
              <a:cs typeface="Calibri" panose="020F0502020204030204" pitchFamily="34" charset="0"/>
            </a:endParaRPr>
          </a:p>
        </p:txBody>
      </p:sp>
      <p:sp>
        <p:nvSpPr>
          <p:cNvPr id="16" name="Text 14"/>
          <p:cNvSpPr/>
          <p:nvPr/>
        </p:nvSpPr>
        <p:spPr>
          <a:xfrm>
            <a:off x="457200" y="3717457"/>
            <a:ext cx="365760" cy="228600"/>
          </a:xfrm>
          <a:prstGeom prst="rect">
            <a:avLst/>
          </a:prstGeom>
          <a:noFill/>
          <a:ln/>
        </p:spPr>
        <p:txBody>
          <a:bodyPr wrap="square" rtlCol="0" anchor="ctr"/>
          <a:lstStyle/>
          <a:p>
            <a:pPr marL="0" indent="0">
              <a:buNone/>
            </a:pPr>
            <a:r>
              <a:rPr lang="en-US" sz="1200" b="1" dirty="0">
                <a:solidFill>
                  <a:srgbClr val="F0AC00"/>
                </a:solidFill>
                <a:latin typeface="Calibri" panose="020F0502020204030204" pitchFamily="34" charset="0"/>
                <a:ea typeface="Arial" pitchFamily="34" charset="-122"/>
                <a:cs typeface="Calibri" panose="020F0502020204030204" pitchFamily="34" charset="0"/>
              </a:rPr>
              <a:t>5</a:t>
            </a:r>
            <a:endParaRPr lang="en-US" sz="1200" dirty="0">
              <a:latin typeface="Calibri" panose="020F0502020204030204" pitchFamily="34" charset="0"/>
              <a:cs typeface="Calibri" panose="020F0502020204030204" pitchFamily="34" charset="0"/>
            </a:endParaRPr>
          </a:p>
        </p:txBody>
      </p:sp>
      <p:sp>
        <p:nvSpPr>
          <p:cNvPr id="17" name="Text 15"/>
          <p:cNvSpPr/>
          <p:nvPr/>
        </p:nvSpPr>
        <p:spPr>
          <a:xfrm>
            <a:off x="914400" y="3717457"/>
            <a:ext cx="7315200" cy="228600"/>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Subscription products leading to recurring revenue beyond projects</a:t>
            </a:r>
            <a:endParaRPr lang="en-US" sz="1100" dirty="0">
              <a:latin typeface="Calibri" panose="020F0502020204030204" pitchFamily="34" charset="0"/>
              <a:cs typeface="Calibri" panose="020F0502020204030204" pitchFamily="34" charset="0"/>
            </a:endParaRPr>
          </a:p>
        </p:txBody>
      </p:sp>
      <p:sp>
        <p:nvSpPr>
          <p:cNvPr id="18" name="Text 16"/>
          <p:cNvSpPr/>
          <p:nvPr/>
        </p:nvSpPr>
        <p:spPr>
          <a:xfrm>
            <a:off x="914400" y="3934579"/>
            <a:ext cx="7315200" cy="292608"/>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PULSE (continuous intelligence) and the CMX™ activation platform as subscription services. EUR 5 - 10K/month per client. Moves AKT from project dependency to recurring revenue. The IP is ours; Qualtrics is one data source among several.</a:t>
            </a:r>
            <a:endParaRPr lang="en-US" sz="950" dirty="0">
              <a:latin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200" b="1" dirty="0">
                <a:solidFill>
                  <a:srgbClr val="000000"/>
                </a:solidFill>
                <a:latin typeface="Calibri" panose="020F0502020204030204" pitchFamily="34" charset="0"/>
                <a:ea typeface="Arial" pitchFamily="34" charset="-122"/>
                <a:cs typeface="Calibri" panose="020F0502020204030204" pitchFamily="34" charset="0"/>
              </a:rPr>
              <a:t>Key risks</a:t>
            </a:r>
            <a:endParaRPr lang="en-US" sz="2200" dirty="0">
              <a:latin typeface="Calibri" panose="020F0502020204030204" pitchFamily="34" charset="0"/>
              <a:cs typeface="Calibri" panose="020F0502020204030204" pitchFamily="34" charset="0"/>
            </a:endParaRPr>
          </a:p>
        </p:txBody>
      </p:sp>
      <p:sp>
        <p:nvSpPr>
          <p:cNvPr id="4" name="Shape 2"/>
          <p:cNvSpPr/>
          <p:nvPr/>
        </p:nvSpPr>
        <p:spPr>
          <a:xfrm>
            <a:off x="457200" y="1051560"/>
            <a:ext cx="502920" cy="182880"/>
          </a:xfrm>
          <a:prstGeom prst="roundRect">
            <a:avLst/>
          </a:prstGeom>
          <a:solidFill>
            <a:srgbClr val="C0392B"/>
          </a:solidFill>
          <a:ln/>
        </p:spPr>
        <p:txBody>
          <a:bodyPr/>
          <a:lstStyle/>
          <a:p>
            <a:endParaRPr lang="nl-NL" sz="600">
              <a:latin typeface="Calibri" panose="020F0502020204030204" pitchFamily="34" charset="0"/>
              <a:cs typeface="Calibri" panose="020F0502020204030204" pitchFamily="34" charset="0"/>
            </a:endParaRPr>
          </a:p>
        </p:txBody>
      </p:sp>
      <p:sp>
        <p:nvSpPr>
          <p:cNvPr id="5" name="Text 3"/>
          <p:cNvSpPr/>
          <p:nvPr/>
        </p:nvSpPr>
        <p:spPr>
          <a:xfrm>
            <a:off x="457200" y="1051560"/>
            <a:ext cx="502920" cy="18288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HIGH</a:t>
            </a:r>
            <a:endParaRPr lang="en-US" sz="600" dirty="0"/>
          </a:p>
        </p:txBody>
      </p:sp>
      <p:sp>
        <p:nvSpPr>
          <p:cNvPr id="6" name="Text 4"/>
          <p:cNvSpPr/>
          <p:nvPr/>
        </p:nvSpPr>
        <p:spPr>
          <a:xfrm>
            <a:off x="1051560" y="1051560"/>
            <a:ext cx="7178040" cy="201168"/>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Platform absorption of SI revenue</a:t>
            </a:r>
            <a:endParaRPr lang="en-US" sz="1100" dirty="0">
              <a:latin typeface="Calibri" panose="020F0502020204030204" pitchFamily="34" charset="0"/>
              <a:cs typeface="Calibri" panose="020F0502020204030204" pitchFamily="34" charset="0"/>
            </a:endParaRPr>
          </a:p>
        </p:txBody>
      </p:sp>
      <p:sp>
        <p:nvSpPr>
          <p:cNvPr id="7" name="Text 5"/>
          <p:cNvSpPr/>
          <p:nvPr/>
        </p:nvSpPr>
        <p:spPr>
          <a:xfrm>
            <a:off x="1051560" y="1280160"/>
            <a:ext cx="7178040" cy="320040"/>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Analyst Agent, CX Program Governance, QLLM, and Experience Agent Studio are all live or launching by Q2 2026. They automate ~40% of current SI work. If AKT does not reposition toward orchestration and IP, revenue declines without replacement.</a:t>
            </a:r>
            <a:endParaRPr lang="en-US" sz="950" dirty="0">
              <a:latin typeface="Calibri" panose="020F0502020204030204" pitchFamily="34" charset="0"/>
              <a:cs typeface="Calibri" panose="020F0502020204030204" pitchFamily="34" charset="0"/>
            </a:endParaRPr>
          </a:p>
        </p:txBody>
      </p:sp>
      <p:sp>
        <p:nvSpPr>
          <p:cNvPr id="8" name="Shape 6"/>
          <p:cNvSpPr/>
          <p:nvPr/>
        </p:nvSpPr>
        <p:spPr>
          <a:xfrm>
            <a:off x="457200" y="1709928"/>
            <a:ext cx="502920" cy="182880"/>
          </a:xfrm>
          <a:prstGeom prst="roundRect">
            <a:avLst/>
          </a:prstGeom>
          <a:solidFill>
            <a:srgbClr val="C0392B"/>
          </a:solidFill>
          <a:ln/>
        </p:spPr>
        <p:txBody>
          <a:bodyPr/>
          <a:lstStyle/>
          <a:p>
            <a:endParaRPr lang="nl-NL">
              <a:latin typeface="Calibri" panose="020F0502020204030204" pitchFamily="34" charset="0"/>
              <a:cs typeface="Calibri" panose="020F0502020204030204" pitchFamily="34" charset="0"/>
            </a:endParaRPr>
          </a:p>
        </p:txBody>
      </p:sp>
      <p:sp>
        <p:nvSpPr>
          <p:cNvPr id="9" name="Text 7"/>
          <p:cNvSpPr/>
          <p:nvPr/>
        </p:nvSpPr>
        <p:spPr>
          <a:xfrm>
            <a:off x="457200" y="1709928"/>
            <a:ext cx="502920" cy="18288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HIGH</a:t>
            </a:r>
            <a:endParaRPr lang="en-US" sz="600" dirty="0"/>
          </a:p>
        </p:txBody>
      </p:sp>
      <p:sp>
        <p:nvSpPr>
          <p:cNvPr id="10" name="Text 8"/>
          <p:cNvSpPr/>
          <p:nvPr/>
        </p:nvSpPr>
        <p:spPr>
          <a:xfrm>
            <a:off x="1051560" y="1709928"/>
            <a:ext cx="7178040" cy="201168"/>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Talent flight to AI-investing firms</a:t>
            </a:r>
            <a:endParaRPr lang="en-US" sz="1100" dirty="0">
              <a:latin typeface="Calibri" panose="020F0502020204030204" pitchFamily="34" charset="0"/>
              <a:cs typeface="Calibri" panose="020F0502020204030204" pitchFamily="34" charset="0"/>
            </a:endParaRPr>
          </a:p>
        </p:txBody>
      </p:sp>
      <p:sp>
        <p:nvSpPr>
          <p:cNvPr id="11" name="Text 9"/>
          <p:cNvSpPr/>
          <p:nvPr/>
        </p:nvSpPr>
        <p:spPr>
          <a:xfrm>
            <a:off x="1051560" y="1938528"/>
            <a:ext cx="7178040" cy="320040"/>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Strongest consultants leave firms that do not invest in AI. Accenture, Ipsos, and Kantar are actively recruiting AI-skilled XM professionals in EMEA.</a:t>
            </a:r>
            <a:endParaRPr lang="en-US" sz="950" dirty="0">
              <a:latin typeface="Calibri" panose="020F0502020204030204" pitchFamily="34" charset="0"/>
              <a:cs typeface="Calibri" panose="020F0502020204030204" pitchFamily="34" charset="0"/>
            </a:endParaRPr>
          </a:p>
        </p:txBody>
      </p:sp>
      <p:sp>
        <p:nvSpPr>
          <p:cNvPr id="12" name="Shape 10"/>
          <p:cNvSpPr/>
          <p:nvPr/>
        </p:nvSpPr>
        <p:spPr>
          <a:xfrm>
            <a:off x="457200" y="2368296"/>
            <a:ext cx="502920" cy="182880"/>
          </a:xfrm>
          <a:prstGeom prst="roundRect">
            <a:avLst/>
          </a:prstGeom>
          <a:solidFill>
            <a:srgbClr val="C0392B"/>
          </a:solidFill>
          <a:ln/>
        </p:spPr>
        <p:txBody>
          <a:bodyPr/>
          <a:lstStyle/>
          <a:p>
            <a:endParaRPr lang="nl-NL" sz="600">
              <a:latin typeface="Calibri" panose="020F0502020204030204" pitchFamily="34" charset="0"/>
              <a:cs typeface="Calibri" panose="020F0502020204030204" pitchFamily="34" charset="0"/>
            </a:endParaRPr>
          </a:p>
        </p:txBody>
      </p:sp>
      <p:sp>
        <p:nvSpPr>
          <p:cNvPr id="13" name="Text 11"/>
          <p:cNvSpPr/>
          <p:nvPr/>
        </p:nvSpPr>
        <p:spPr>
          <a:xfrm>
            <a:off x="457200" y="2368296"/>
            <a:ext cx="502920" cy="18288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HIGH</a:t>
            </a:r>
            <a:endParaRPr lang="en-US" sz="600" dirty="0"/>
          </a:p>
        </p:txBody>
      </p:sp>
      <p:sp>
        <p:nvSpPr>
          <p:cNvPr id="14" name="Text 12"/>
          <p:cNvSpPr/>
          <p:nvPr/>
        </p:nvSpPr>
        <p:spPr>
          <a:xfrm>
            <a:off x="1051560" y="2368296"/>
            <a:ext cx="7178040" cy="201168"/>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Client data incident from ungoverned AI use</a:t>
            </a:r>
            <a:endParaRPr lang="en-US" sz="1100" dirty="0">
              <a:latin typeface="Calibri" panose="020F0502020204030204" pitchFamily="34" charset="0"/>
              <a:cs typeface="Calibri" panose="020F0502020204030204" pitchFamily="34" charset="0"/>
            </a:endParaRPr>
          </a:p>
        </p:txBody>
      </p:sp>
      <p:sp>
        <p:nvSpPr>
          <p:cNvPr id="15" name="Text 13"/>
          <p:cNvSpPr/>
          <p:nvPr/>
        </p:nvSpPr>
        <p:spPr>
          <a:xfrm>
            <a:off x="1051560" y="2596896"/>
            <a:ext cx="7178040" cy="320040"/>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50 people currently use personal AI accounts. Client PII and confidential data flows through ungoverned channels. One incident = reputational damage, contract termination, potential GDPR exposure.</a:t>
            </a:r>
            <a:endParaRPr lang="en-US" sz="950" dirty="0">
              <a:latin typeface="Calibri" panose="020F0502020204030204" pitchFamily="34" charset="0"/>
              <a:cs typeface="Calibri" panose="020F0502020204030204" pitchFamily="34" charset="0"/>
            </a:endParaRPr>
          </a:p>
        </p:txBody>
      </p:sp>
      <p:sp>
        <p:nvSpPr>
          <p:cNvPr id="16" name="Shape 14"/>
          <p:cNvSpPr/>
          <p:nvPr/>
        </p:nvSpPr>
        <p:spPr>
          <a:xfrm>
            <a:off x="457200" y="3026664"/>
            <a:ext cx="502920" cy="182880"/>
          </a:xfrm>
          <a:prstGeom prst="roundRect">
            <a:avLst/>
          </a:prstGeom>
          <a:solidFill>
            <a:srgbClr val="E67E22"/>
          </a:solidFill>
          <a:ln/>
        </p:spPr>
        <p:txBody>
          <a:bodyPr/>
          <a:lstStyle/>
          <a:p>
            <a:endParaRPr lang="nl-NL" sz="600"/>
          </a:p>
        </p:txBody>
      </p:sp>
      <p:sp>
        <p:nvSpPr>
          <p:cNvPr id="17" name="Text 15"/>
          <p:cNvSpPr/>
          <p:nvPr/>
        </p:nvSpPr>
        <p:spPr>
          <a:xfrm>
            <a:off x="457200" y="3026664"/>
            <a:ext cx="502920" cy="182880"/>
          </a:xfrm>
          <a:prstGeom prst="rect">
            <a:avLst/>
          </a:prstGeom>
          <a:noFill/>
          <a:ln/>
        </p:spPr>
        <p:txBody>
          <a:bodyPr wrap="square" rtlCol="0" anchor="ctr"/>
          <a:lstStyle/>
          <a:p>
            <a:pPr marL="0" indent="0" algn="ctr">
              <a:buNone/>
            </a:pPr>
            <a:r>
              <a:rPr lang="en-US" sz="600" b="1" dirty="0">
                <a:solidFill>
                  <a:srgbClr val="FFFFFF"/>
                </a:solidFill>
                <a:latin typeface="Calibri" panose="020F0502020204030204" pitchFamily="34" charset="0"/>
                <a:ea typeface="Arial" pitchFamily="34" charset="-122"/>
                <a:cs typeface="Calibri" panose="020F0502020204030204" pitchFamily="34" charset="0"/>
              </a:rPr>
              <a:t>MEDIUM</a:t>
            </a:r>
            <a:endParaRPr lang="en-US" sz="600" dirty="0">
              <a:latin typeface="Calibri" panose="020F0502020204030204" pitchFamily="34" charset="0"/>
              <a:cs typeface="Calibri" panose="020F0502020204030204" pitchFamily="34" charset="0"/>
            </a:endParaRPr>
          </a:p>
        </p:txBody>
      </p:sp>
      <p:sp>
        <p:nvSpPr>
          <p:cNvPr id="18" name="Text 16"/>
          <p:cNvSpPr/>
          <p:nvPr/>
        </p:nvSpPr>
        <p:spPr>
          <a:xfrm>
            <a:off x="1051560" y="3026664"/>
            <a:ext cx="7178040" cy="201168"/>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Pricing erosion without commercial model reform</a:t>
            </a:r>
            <a:endParaRPr lang="en-US" sz="1100" dirty="0">
              <a:latin typeface="Calibri" panose="020F0502020204030204" pitchFamily="34" charset="0"/>
              <a:cs typeface="Calibri" panose="020F0502020204030204" pitchFamily="34" charset="0"/>
            </a:endParaRPr>
          </a:p>
        </p:txBody>
      </p:sp>
      <p:sp>
        <p:nvSpPr>
          <p:cNvPr id="19" name="Text 17"/>
          <p:cNvSpPr/>
          <p:nvPr/>
        </p:nvSpPr>
        <p:spPr>
          <a:xfrm>
            <a:off x="1051560" y="3255264"/>
            <a:ext cx="7178040" cy="320040"/>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AI compresses delivery by 50%+. Without outcome-based pricing, clients expect lower invoices for faster work. Revenue declines 12% median for firms that adopt AI without pricing reform.</a:t>
            </a:r>
            <a:endParaRPr lang="en-US" sz="950" dirty="0">
              <a:latin typeface="Calibri" panose="020F0502020204030204" pitchFamily="34" charset="0"/>
              <a:cs typeface="Calibri" panose="020F0502020204030204" pitchFamily="34" charset="0"/>
            </a:endParaRPr>
          </a:p>
        </p:txBody>
      </p:sp>
      <p:sp>
        <p:nvSpPr>
          <p:cNvPr id="20" name="Shape 18"/>
          <p:cNvSpPr/>
          <p:nvPr/>
        </p:nvSpPr>
        <p:spPr>
          <a:xfrm>
            <a:off x="457200" y="3685032"/>
            <a:ext cx="502920" cy="182880"/>
          </a:xfrm>
          <a:prstGeom prst="roundRect">
            <a:avLst/>
          </a:prstGeom>
          <a:solidFill>
            <a:srgbClr val="E67E22"/>
          </a:solidFill>
          <a:ln/>
        </p:spPr>
        <p:txBody>
          <a:bodyPr/>
          <a:lstStyle/>
          <a:p>
            <a:endParaRPr lang="nl-NL">
              <a:latin typeface="Calibri" panose="020F0502020204030204" pitchFamily="34" charset="0"/>
              <a:cs typeface="Calibri" panose="020F0502020204030204" pitchFamily="34" charset="0"/>
            </a:endParaRPr>
          </a:p>
        </p:txBody>
      </p:sp>
      <p:sp>
        <p:nvSpPr>
          <p:cNvPr id="21" name="Text 19"/>
          <p:cNvSpPr/>
          <p:nvPr/>
        </p:nvSpPr>
        <p:spPr>
          <a:xfrm>
            <a:off x="457200" y="3685032"/>
            <a:ext cx="502920" cy="18288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MEDIUM</a:t>
            </a:r>
            <a:endParaRPr lang="en-US" sz="600" dirty="0"/>
          </a:p>
        </p:txBody>
      </p:sp>
      <p:sp>
        <p:nvSpPr>
          <p:cNvPr id="22" name="Text 20"/>
          <p:cNvSpPr/>
          <p:nvPr/>
        </p:nvSpPr>
        <p:spPr>
          <a:xfrm>
            <a:off x="1051560" y="3685032"/>
            <a:ext cx="7178040" cy="201168"/>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ea typeface="Arial" pitchFamily="34" charset="-122"/>
                <a:cs typeface="Calibri" panose="020F0502020204030204" pitchFamily="34" charset="0"/>
              </a:rPr>
              <a:t>Adoption resistance (6 - 8% of team)</a:t>
            </a:r>
            <a:endParaRPr lang="en-US" sz="1100" dirty="0">
              <a:latin typeface="Calibri" panose="020F0502020204030204" pitchFamily="34" charset="0"/>
              <a:cs typeface="Calibri" panose="020F0502020204030204" pitchFamily="34" charset="0"/>
            </a:endParaRPr>
          </a:p>
        </p:txBody>
      </p:sp>
      <p:sp>
        <p:nvSpPr>
          <p:cNvPr id="23" name="Text 21"/>
          <p:cNvSpPr/>
          <p:nvPr/>
        </p:nvSpPr>
        <p:spPr>
          <a:xfrm>
            <a:off x="1051560" y="3913632"/>
            <a:ext cx="7178040" cy="320040"/>
          </a:xfrm>
          <a:prstGeom prst="rect">
            <a:avLst/>
          </a:prstGeom>
          <a:noFill/>
          <a:ln/>
        </p:spPr>
        <p:txBody>
          <a:bodyPr wrap="square" rtlCol="0" anchor="ctr"/>
          <a:lstStyle/>
          <a:p>
            <a:pPr marL="0" indent="0" algn="l">
              <a:buNone/>
            </a:pPr>
            <a:r>
              <a:rPr lang="en-US" sz="950" dirty="0">
                <a:solidFill>
                  <a:srgbClr val="333333"/>
                </a:solidFill>
                <a:latin typeface="Calibri" panose="020F0502020204030204" pitchFamily="34" charset="0"/>
                <a:ea typeface="Arial" pitchFamily="34" charset="-122"/>
                <a:cs typeface="Calibri" panose="020F0502020204030204" pitchFamily="34" charset="0"/>
              </a:rPr>
              <a:t>3 to 4 people may resist AI adoption. Risk is manageable with structured change management (CMX™ internally), but unmanaged resistance creates shadow workflows and team friction.</a:t>
            </a:r>
            <a:endParaRPr lang="en-US" sz="950" dirty="0">
              <a:latin typeface="Calibri" panose="020F0502020204030204" pitchFamily="34" charset="0"/>
              <a:cs typeface="Calibri" panose="020F0502020204030204" pitchFamily="34" charset="0"/>
            </a:endParaRPr>
          </a:p>
        </p:txBody>
      </p:sp>
      <p:pic>
        <p:nvPicPr>
          <p:cNvPr id="28" name="Image 0" descr="/sessions/hopeful-festive-allen/akt_logo.png"/>
          <p:cNvPicPr>
            <a:picLocks noChangeAspect="1"/>
          </p:cNvPicPr>
          <p:nvPr/>
        </p:nvPicPr>
        <p:blipFill>
          <a:blip r:embed="rId3"/>
          <a:stretch>
            <a:fillRect/>
          </a:stretch>
        </p:blipFill>
        <p:spPr>
          <a:xfrm>
            <a:off x="8092440" y="4434840"/>
            <a:ext cx="685800" cy="3657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3</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Four transitions reshaping our business</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What we see happening across our clients, the CX/EX industry, our competitors, and our own practice</a:t>
            </a:r>
            <a:endParaRPr lang="en-US" sz="1100" dirty="0"/>
          </a:p>
        </p:txBody>
      </p:sp>
      <p:sp>
        <p:nvSpPr>
          <p:cNvPr id="6" name="Text 3"/>
          <p:cNvSpPr/>
          <p:nvPr/>
        </p:nvSpPr>
        <p:spPr>
          <a:xfrm>
            <a:off x="457200" y="1051560"/>
            <a:ext cx="1965960"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Our clients</a:t>
            </a:r>
            <a:endParaRPr lang="en-US" sz="1000" dirty="0"/>
          </a:p>
        </p:txBody>
      </p:sp>
      <p:sp>
        <p:nvSpPr>
          <p:cNvPr id="7" name="Shape 4"/>
          <p:cNvSpPr/>
          <p:nvPr/>
        </p:nvSpPr>
        <p:spPr>
          <a:xfrm>
            <a:off x="457200" y="1252728"/>
            <a:ext cx="1965960" cy="0"/>
          </a:xfrm>
          <a:prstGeom prst="line">
            <a:avLst/>
          </a:prstGeom>
          <a:noFill/>
          <a:ln w="19050">
            <a:solidFill>
              <a:srgbClr val="C0392B"/>
            </a:solidFill>
            <a:prstDash val="solid"/>
          </a:ln>
        </p:spPr>
        <p:txBody>
          <a:bodyPr/>
          <a:lstStyle/>
          <a:p>
            <a:endParaRPr lang="nl-NL"/>
          </a:p>
        </p:txBody>
      </p:sp>
      <p:sp>
        <p:nvSpPr>
          <p:cNvPr id="8" name="Text 5"/>
          <p:cNvSpPr/>
          <p:nvPr/>
        </p:nvSpPr>
        <p:spPr>
          <a:xfrm>
            <a:off x="457200" y="134416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Enterprise clients building AI intelligence layers in-house. El Corte Inglés built their own and let their XM agency go. L'Oréal doing the same. Pattern, not exception.</a:t>
            </a:r>
            <a:endParaRPr lang="en-US" sz="850" dirty="0"/>
          </a:p>
        </p:txBody>
      </p:sp>
      <p:sp>
        <p:nvSpPr>
          <p:cNvPr id="9" name="Text 6"/>
          <p:cNvSpPr/>
          <p:nvPr/>
        </p:nvSpPr>
        <p:spPr>
          <a:xfrm>
            <a:off x="457200" y="235000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Self-service floor rising. Basic setup, simple </a:t>
            </a:r>
            <a:r>
              <a:rPr lang="en-US" sz="850" dirty="0" err="1">
                <a:solidFill>
                  <a:srgbClr val="333333"/>
                </a:solidFill>
                <a:latin typeface="Calibri" pitchFamily="34" charset="0"/>
                <a:ea typeface="Calibri" pitchFamily="34" charset="-122"/>
                <a:cs typeface="Calibri" pitchFamily="34" charset="-120"/>
              </a:rPr>
              <a:t>dashboardsL</a:t>
            </a:r>
            <a:r>
              <a:rPr lang="en-US" sz="850" dirty="0">
                <a:solidFill>
                  <a:srgbClr val="333333"/>
                </a:solidFill>
                <a:latin typeface="Calibri" pitchFamily="34" charset="0"/>
                <a:ea typeface="Calibri" pitchFamily="34" charset="-122"/>
                <a:cs typeface="Calibri" pitchFamily="34" charset="-120"/>
              </a:rPr>
              <a:t> clients need less help every quarter. Value shifts to complex programme architecture.</a:t>
            </a:r>
            <a:endParaRPr lang="en-US" sz="850" dirty="0"/>
          </a:p>
        </p:txBody>
      </p:sp>
      <p:sp>
        <p:nvSpPr>
          <p:cNvPr id="10" name="Text 7"/>
          <p:cNvSpPr/>
          <p:nvPr/>
        </p:nvSpPr>
        <p:spPr>
          <a:xfrm>
            <a:off x="457200" y="335584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AI-augmented delivery becoming the expectation. 90% of orgs experimenting with gen AI failed to capture ROI (Everest Group). Clients need help bridging pilot to production.</a:t>
            </a:r>
            <a:endParaRPr lang="en-US" sz="850" dirty="0"/>
          </a:p>
        </p:txBody>
      </p:sp>
      <p:sp>
        <p:nvSpPr>
          <p:cNvPr id="11" name="Text 8"/>
          <p:cNvSpPr/>
          <p:nvPr/>
        </p:nvSpPr>
        <p:spPr>
          <a:xfrm>
            <a:off x="2542032" y="1051560"/>
            <a:ext cx="1965960" cy="201168"/>
          </a:xfrm>
          <a:prstGeom prst="rect">
            <a:avLst/>
          </a:prstGeom>
          <a:noFill/>
          <a:ln/>
        </p:spPr>
        <p:txBody>
          <a:bodyPr wrap="square" lIns="0" tIns="0" rIns="0" bIns="0" rtlCol="0" anchor="ctr"/>
          <a:lstStyle/>
          <a:p>
            <a:pPr marL="0" indent="0">
              <a:buNone/>
            </a:pPr>
            <a:r>
              <a:rPr lang="en-US" sz="1000" b="1" dirty="0">
                <a:solidFill>
                  <a:srgbClr val="F0AC00"/>
                </a:solidFill>
                <a:latin typeface="Calibri" pitchFamily="34" charset="0"/>
                <a:ea typeface="Calibri" pitchFamily="34" charset="-122"/>
                <a:cs typeface="Calibri" pitchFamily="34" charset="-120"/>
              </a:rPr>
              <a:t>CX/EX consultancy industry</a:t>
            </a:r>
            <a:endParaRPr lang="en-US" sz="1000" dirty="0"/>
          </a:p>
        </p:txBody>
      </p:sp>
      <p:sp>
        <p:nvSpPr>
          <p:cNvPr id="12" name="Shape 9"/>
          <p:cNvSpPr/>
          <p:nvPr/>
        </p:nvSpPr>
        <p:spPr>
          <a:xfrm>
            <a:off x="2542032" y="1252728"/>
            <a:ext cx="1965960" cy="0"/>
          </a:xfrm>
          <a:prstGeom prst="line">
            <a:avLst/>
          </a:prstGeom>
          <a:noFill/>
          <a:ln w="19050">
            <a:solidFill>
              <a:srgbClr val="F0AC00"/>
            </a:solidFill>
            <a:prstDash val="solid"/>
          </a:ln>
        </p:spPr>
        <p:txBody>
          <a:bodyPr/>
          <a:lstStyle/>
          <a:p>
            <a:endParaRPr lang="nl-NL"/>
          </a:p>
        </p:txBody>
      </p:sp>
      <p:sp>
        <p:nvSpPr>
          <p:cNvPr id="13" name="Text 10"/>
          <p:cNvSpPr/>
          <p:nvPr/>
        </p:nvSpPr>
        <p:spPr>
          <a:xfrm>
            <a:off x="2542032" y="134416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AI consulting: $11.07bn (2026), 26.2% CAGR. CX outsourcing: $106.72bn. EY reports 30% AI services growth. BCG $2.7bn from AI advisory (20% of revenue).</a:t>
            </a:r>
            <a:endParaRPr lang="en-US" sz="850" dirty="0"/>
          </a:p>
        </p:txBody>
      </p:sp>
      <p:sp>
        <p:nvSpPr>
          <p:cNvPr id="14" name="Text 11"/>
          <p:cNvSpPr/>
          <p:nvPr/>
        </p:nvSpPr>
        <p:spPr>
          <a:xfrm>
            <a:off x="2542032" y="235000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Qualtrics Experience Agents handle feedback loops autonomously. Configuration commoditises. Value pulls toward advisory, governance, programme architecture.</a:t>
            </a:r>
            <a:endParaRPr lang="en-US" sz="850" dirty="0"/>
          </a:p>
        </p:txBody>
      </p:sp>
      <p:sp>
        <p:nvSpPr>
          <p:cNvPr id="15" name="Text 12"/>
          <p:cNvSpPr/>
          <p:nvPr/>
        </p:nvSpPr>
        <p:spPr>
          <a:xfrm>
            <a:off x="2542032" y="335584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QPN split into Consulting Track and Platform Track (ISVs on QDP, late 2026). Firms that codify methodology into the platform own the next generation of XM delivery.</a:t>
            </a:r>
            <a:endParaRPr lang="en-US" sz="850" dirty="0"/>
          </a:p>
        </p:txBody>
      </p:sp>
      <p:sp>
        <p:nvSpPr>
          <p:cNvPr id="16" name="Text 13"/>
          <p:cNvSpPr/>
          <p:nvPr/>
        </p:nvSpPr>
        <p:spPr>
          <a:xfrm>
            <a:off x="4626864" y="1051560"/>
            <a:ext cx="1965960" cy="201168"/>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Competitors</a:t>
            </a:r>
            <a:endParaRPr lang="en-US" sz="1000" dirty="0"/>
          </a:p>
        </p:txBody>
      </p:sp>
      <p:sp>
        <p:nvSpPr>
          <p:cNvPr id="17" name="Shape 14"/>
          <p:cNvSpPr/>
          <p:nvPr/>
        </p:nvSpPr>
        <p:spPr>
          <a:xfrm>
            <a:off x="4626864" y="1252728"/>
            <a:ext cx="1965960" cy="0"/>
          </a:xfrm>
          <a:prstGeom prst="line">
            <a:avLst/>
          </a:prstGeom>
          <a:noFill/>
          <a:ln w="19050">
            <a:solidFill>
              <a:srgbClr val="E67E22"/>
            </a:solidFill>
            <a:prstDash val="solid"/>
          </a:ln>
        </p:spPr>
        <p:txBody>
          <a:bodyPr/>
          <a:lstStyle/>
          <a:p>
            <a:endParaRPr lang="nl-NL"/>
          </a:p>
        </p:txBody>
      </p:sp>
      <p:sp>
        <p:nvSpPr>
          <p:cNvPr id="18" name="Text 15"/>
          <p:cNvSpPr/>
          <p:nvPr/>
        </p:nvSpPr>
        <p:spPr>
          <a:xfrm>
            <a:off x="4626864" y="134416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Accenture: $5.9bn AI bookings, 23 acquisitions in 2025, 20,000 AI agents. AI is no longer separate it is just how they consult. They acquire XM specialists to fill domain gaps.</a:t>
            </a:r>
            <a:endParaRPr lang="en-US" sz="850" dirty="0"/>
          </a:p>
        </p:txBody>
      </p:sp>
      <p:sp>
        <p:nvSpPr>
          <p:cNvPr id="19" name="Text 16"/>
          <p:cNvSpPr/>
          <p:nvPr/>
        </p:nvSpPr>
        <p:spPr>
          <a:xfrm>
            <a:off x="4626864" y="235000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Walker: 2026 NA Partner of the Year, 165 people. Entirely Qualtrics-dependent - no proprietary AI. Ipsos: €1bn committed, AI pushing into XM territory. Kantar: AI Lab launched, €3.5bn revenue.</a:t>
            </a:r>
            <a:endParaRPr lang="en-US" sz="850" dirty="0"/>
          </a:p>
        </p:txBody>
      </p:sp>
      <p:sp>
        <p:nvSpPr>
          <p:cNvPr id="20" name="Text 17"/>
          <p:cNvSpPr/>
          <p:nvPr/>
        </p:nvSpPr>
        <p:spPr>
          <a:xfrm>
            <a:off x="4626864" y="335584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The pattern: every competitor is building independent AI capability or entirely dependent on Qualtrics. AKT is in the second category today.</a:t>
            </a:r>
            <a:endParaRPr lang="en-US" sz="850" dirty="0"/>
          </a:p>
        </p:txBody>
      </p:sp>
      <p:sp>
        <p:nvSpPr>
          <p:cNvPr id="21" name="Text 18"/>
          <p:cNvSpPr/>
          <p:nvPr/>
        </p:nvSpPr>
        <p:spPr>
          <a:xfrm>
            <a:off x="6711696" y="1051560"/>
            <a:ext cx="1965960" cy="201168"/>
          </a:xfrm>
          <a:prstGeom prst="rect">
            <a:avLst/>
          </a:prstGeom>
          <a:noFill/>
          <a:ln/>
        </p:spPr>
        <p:txBody>
          <a:bodyPr wrap="square" lIns="0" tIns="0" rIns="0" bIns="0" rtlCol="0" anchor="ctr"/>
          <a:lstStyle/>
          <a:p>
            <a:pPr marL="0" indent="0">
              <a:buNone/>
            </a:pPr>
            <a:r>
              <a:rPr lang="en-US" sz="1000" b="1" dirty="0">
                <a:solidFill>
                  <a:srgbClr val="8E44AD"/>
                </a:solidFill>
                <a:latin typeface="Calibri" pitchFamily="34" charset="0"/>
                <a:ea typeface="Calibri" pitchFamily="34" charset="-122"/>
                <a:cs typeface="Calibri" pitchFamily="34" charset="-120"/>
              </a:rPr>
              <a:t>Our practice</a:t>
            </a:r>
            <a:endParaRPr lang="en-US" sz="1000" dirty="0"/>
          </a:p>
        </p:txBody>
      </p:sp>
      <p:sp>
        <p:nvSpPr>
          <p:cNvPr id="22" name="Shape 19"/>
          <p:cNvSpPr/>
          <p:nvPr/>
        </p:nvSpPr>
        <p:spPr>
          <a:xfrm>
            <a:off x="6711696" y="1252728"/>
            <a:ext cx="1965960" cy="0"/>
          </a:xfrm>
          <a:prstGeom prst="line">
            <a:avLst/>
          </a:prstGeom>
          <a:noFill/>
          <a:ln w="19050">
            <a:solidFill>
              <a:srgbClr val="8E44AD"/>
            </a:solidFill>
            <a:prstDash val="solid"/>
          </a:ln>
        </p:spPr>
        <p:txBody>
          <a:bodyPr/>
          <a:lstStyle/>
          <a:p>
            <a:endParaRPr lang="nl-NL"/>
          </a:p>
        </p:txBody>
      </p:sp>
      <p:sp>
        <p:nvSpPr>
          <p:cNvPr id="23" name="Text 20"/>
          <p:cNvSpPr/>
          <p:nvPr/>
        </p:nvSpPr>
        <p:spPr>
          <a:xfrm>
            <a:off x="6711696" y="134416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Rising interest across the team to use AI structurally. Clear gap between interest and actual AI readiness. No governance, no workflows, no shared tools.</a:t>
            </a:r>
            <a:endParaRPr lang="en-US" sz="850" dirty="0"/>
          </a:p>
        </p:txBody>
      </p:sp>
      <p:sp>
        <p:nvSpPr>
          <p:cNvPr id="24" name="Text 21"/>
          <p:cNvSpPr/>
          <p:nvPr/>
        </p:nvSpPr>
        <p:spPr>
          <a:xfrm>
            <a:off x="6711696" y="235000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Major challenge: moving from project factory to advisory mode. The market wants continuous intelligence and outcome-based value. Fundamentally different operating model.</a:t>
            </a:r>
            <a:endParaRPr lang="en-US" sz="850" dirty="0"/>
          </a:p>
        </p:txBody>
      </p:sp>
      <p:sp>
        <p:nvSpPr>
          <p:cNvPr id="25" name="Text 22"/>
          <p:cNvSpPr/>
          <p:nvPr/>
        </p:nvSpPr>
        <p:spPr>
          <a:xfrm>
            <a:off x="6711696" y="3355848"/>
            <a:ext cx="1965960" cy="960120"/>
          </a:xfrm>
          <a:prstGeom prst="rect">
            <a:avLst/>
          </a:prstGeom>
          <a:noFill/>
          <a:ln/>
        </p:spPr>
        <p:txBody>
          <a:bodyPr wrap="square" lIns="0" tIns="0" rIns="0" bIns="0" rtlCol="0" anchor="t"/>
          <a:lstStyle/>
          <a:p>
            <a:pPr marL="0" indent="0">
              <a:lnSpc>
                <a:spcPct val="120000"/>
              </a:lnSpc>
              <a:buNone/>
            </a:pPr>
            <a:r>
              <a:rPr lang="en-US" sz="850" dirty="0">
                <a:solidFill>
                  <a:srgbClr val="333333"/>
                </a:solidFill>
                <a:latin typeface="Calibri" pitchFamily="34" charset="0"/>
                <a:ea typeface="Calibri" pitchFamily="34" charset="-122"/>
                <a:cs typeface="Calibri" pitchFamily="34" charset="-120"/>
              </a:rPr>
              <a:t>•  Deep advisory expertise no AI replicates: programme architecture, multi-stakeholder governance, contextual judgement. Defensible but only if we build on it before others replicate it.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8</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Honest assessment: what we have and what we don’t</a:t>
            </a:r>
            <a:endParaRPr lang="en-US" sz="2000" dirty="0"/>
          </a:p>
        </p:txBody>
      </p:sp>
      <p:sp>
        <p:nvSpPr>
          <p:cNvPr id="5" name="Text 2"/>
          <p:cNvSpPr/>
          <p:nvPr/>
        </p:nvSpPr>
        <p:spPr>
          <a:xfrm>
            <a:off x="457200" y="749808"/>
            <a:ext cx="8229600" cy="182880"/>
          </a:xfrm>
          <a:prstGeom prst="rect">
            <a:avLst/>
          </a:prstGeom>
          <a:noFill/>
          <a:ln/>
        </p:spPr>
        <p:txBody>
          <a:bodyPr wrap="square" lIns="0" tIns="0" rIns="0" bIns="0" rtlCol="0" anchor="ctr"/>
          <a:lstStyle/>
          <a:p>
            <a:pPr marL="0" indent="0">
              <a:buNone/>
            </a:pPr>
            <a:r>
              <a:rPr lang="en-US" sz="900" i="1" dirty="0">
                <a:solidFill>
                  <a:srgbClr val="666666"/>
                </a:solidFill>
                <a:latin typeface="Calibri" pitchFamily="34" charset="0"/>
                <a:ea typeface="Calibri" pitchFamily="34" charset="-122"/>
                <a:cs typeface="Calibri" pitchFamily="34" charset="-120"/>
              </a:rPr>
              <a:t>Before we present to Yoav: what is solid, what needs work, and what we are still in doubt about.</a:t>
            </a:r>
            <a:endParaRPr lang="en-US" sz="900" dirty="0"/>
          </a:p>
        </p:txBody>
      </p:sp>
      <p:sp>
        <p:nvSpPr>
          <p:cNvPr id="6" name="Text 3"/>
          <p:cNvSpPr/>
          <p:nvPr/>
        </p:nvSpPr>
        <p:spPr>
          <a:xfrm>
            <a:off x="457200" y="1005840"/>
            <a:ext cx="2651760" cy="201168"/>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Solid - ready for Yoav</a:t>
            </a:r>
            <a:endParaRPr lang="en-US" sz="1000" dirty="0"/>
          </a:p>
        </p:txBody>
      </p:sp>
      <p:sp>
        <p:nvSpPr>
          <p:cNvPr id="7" name="Shape 4"/>
          <p:cNvSpPr/>
          <p:nvPr/>
        </p:nvSpPr>
        <p:spPr>
          <a:xfrm>
            <a:off x="457200" y="1207008"/>
            <a:ext cx="2651760" cy="0"/>
          </a:xfrm>
          <a:prstGeom prst="line">
            <a:avLst/>
          </a:prstGeom>
          <a:noFill/>
          <a:ln w="19050">
            <a:solidFill>
              <a:srgbClr val="27AE60"/>
            </a:solidFill>
            <a:prstDash val="solid"/>
          </a:ln>
        </p:spPr>
        <p:txBody>
          <a:bodyPr/>
          <a:lstStyle/>
          <a:p>
            <a:endParaRPr lang="nl-NL"/>
          </a:p>
        </p:txBody>
      </p:sp>
      <p:sp>
        <p:nvSpPr>
          <p:cNvPr id="8" name="Text 5"/>
          <p:cNvSpPr/>
          <p:nvPr/>
        </p:nvSpPr>
        <p:spPr>
          <a:xfrm>
            <a:off x="457200" y="1280160"/>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Market data: Big Four invested $10bn+. 87% fail to scale, 95% gen AI pilots fail (MIT NANDA). </a:t>
            </a:r>
            <a:endParaRPr lang="en-US" sz="750" dirty="0"/>
          </a:p>
        </p:txBody>
      </p:sp>
      <p:sp>
        <p:nvSpPr>
          <p:cNvPr id="9" name="Text 6"/>
          <p:cNvSpPr/>
          <p:nvPr/>
        </p:nvSpPr>
        <p:spPr>
          <a:xfrm>
            <a:off x="457200" y="1938528"/>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Scenario model: 4 scenarios on axes leadership controls. Tested across 4 iterations. Route C→D→B is defensible and evidence-based.</a:t>
            </a:r>
            <a:endParaRPr lang="en-US" sz="750" dirty="0"/>
          </a:p>
        </p:txBody>
      </p:sp>
      <p:sp>
        <p:nvSpPr>
          <p:cNvPr id="10" name="Text 7"/>
          <p:cNvSpPr/>
          <p:nvPr/>
        </p:nvSpPr>
        <p:spPr>
          <a:xfrm>
            <a:off x="457200" y="2596896"/>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Efficiency analysis: 34 tasks, 7 stages, 252h→135.5h. 46% compression. Reviewed with Keren Shaked. Stage-level detail credible.</a:t>
            </a:r>
            <a:endParaRPr lang="en-US" sz="750" dirty="0"/>
          </a:p>
        </p:txBody>
      </p:sp>
      <p:sp>
        <p:nvSpPr>
          <p:cNvPr id="11" name="Text 8"/>
          <p:cNvSpPr/>
          <p:nvPr/>
        </p:nvSpPr>
        <p:spPr>
          <a:xfrm>
            <a:off x="457200" y="3255264"/>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Competitive landscape: Accenture, Walker, Ipsos, Kantar researched from public sources. Directionally sound.</a:t>
            </a:r>
            <a:endParaRPr lang="en-US" sz="750" dirty="0"/>
          </a:p>
        </p:txBody>
      </p:sp>
      <p:sp>
        <p:nvSpPr>
          <p:cNvPr id="12" name="Text 9"/>
          <p:cNvSpPr/>
          <p:nvPr/>
        </p:nvSpPr>
        <p:spPr>
          <a:xfrm>
            <a:off x="457200" y="3913632"/>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Key initiatives — Short term: governance, upskilling (80% by month 6), AI-augmented proposals, knowledge management, marketing. Long term: programme intelligence product, subscription pilot, QTM agent development, outcome-based pricing.</a:t>
            </a:r>
            <a:endParaRPr lang="en-US" sz="750" dirty="0"/>
          </a:p>
        </p:txBody>
      </p:sp>
      <p:sp>
        <p:nvSpPr>
          <p:cNvPr id="13" name="Text 10"/>
          <p:cNvSpPr/>
          <p:nvPr/>
        </p:nvSpPr>
        <p:spPr>
          <a:xfrm>
            <a:off x="3246120" y="1005840"/>
            <a:ext cx="2651760" cy="201168"/>
          </a:xfrm>
          <a:prstGeom prst="rect">
            <a:avLst/>
          </a:prstGeom>
          <a:noFill/>
          <a:ln/>
        </p:spPr>
        <p:txBody>
          <a:bodyPr wrap="square" lIns="0" tIns="0" rIns="0" bIns="0" rtlCol="0" anchor="ctr"/>
          <a:lstStyle/>
          <a:p>
            <a:pPr marL="0" indent="0">
              <a:buNone/>
            </a:pPr>
            <a:r>
              <a:rPr lang="en-US" sz="1000" b="1" dirty="0">
                <a:solidFill>
                  <a:srgbClr val="F0AC00"/>
                </a:solidFill>
                <a:latin typeface="Calibri" pitchFamily="34" charset="0"/>
                <a:ea typeface="Calibri" pitchFamily="34" charset="-122"/>
                <a:cs typeface="Calibri" pitchFamily="34" charset="-120"/>
              </a:rPr>
              <a:t>Needs work before Yoav</a:t>
            </a:r>
            <a:endParaRPr lang="en-US" sz="1000" dirty="0"/>
          </a:p>
        </p:txBody>
      </p:sp>
      <p:sp>
        <p:nvSpPr>
          <p:cNvPr id="14" name="Shape 11"/>
          <p:cNvSpPr/>
          <p:nvPr/>
        </p:nvSpPr>
        <p:spPr>
          <a:xfrm>
            <a:off x="3246120" y="1207008"/>
            <a:ext cx="2651760" cy="0"/>
          </a:xfrm>
          <a:prstGeom prst="line">
            <a:avLst/>
          </a:prstGeom>
          <a:noFill/>
          <a:ln w="19050">
            <a:solidFill>
              <a:srgbClr val="F0AC00"/>
            </a:solidFill>
            <a:prstDash val="solid"/>
          </a:ln>
        </p:spPr>
        <p:txBody>
          <a:bodyPr/>
          <a:lstStyle/>
          <a:p>
            <a:endParaRPr lang="nl-NL"/>
          </a:p>
        </p:txBody>
      </p:sp>
      <p:sp>
        <p:nvSpPr>
          <p:cNvPr id="15" name="Text 12"/>
          <p:cNvSpPr/>
          <p:nvPr/>
        </p:nvSpPr>
        <p:spPr>
          <a:xfrm>
            <a:off x="3246120" y="1280160"/>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Team readiness: no individual assessment of AI readiness or willingness. Need at minimum a pulse check. Interest visible but gap to structured adoption is real.</a:t>
            </a:r>
            <a:endParaRPr lang="en-US" sz="750" dirty="0"/>
          </a:p>
        </p:txBody>
      </p:sp>
      <p:sp>
        <p:nvSpPr>
          <p:cNvPr id="16" name="Text 13"/>
          <p:cNvSpPr/>
          <p:nvPr/>
        </p:nvSpPr>
        <p:spPr>
          <a:xfrm>
            <a:off x="3246120" y="1938528"/>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Qualtrics alignment: need latest partnership agreements and conversation about QPN Platform Track, Experience Agents roadmap, Consulting Track evolution.</a:t>
            </a:r>
            <a:endParaRPr lang="en-US" sz="750" dirty="0"/>
          </a:p>
        </p:txBody>
      </p:sp>
      <p:sp>
        <p:nvSpPr>
          <p:cNvPr id="17" name="Text 14"/>
          <p:cNvSpPr/>
          <p:nvPr/>
        </p:nvSpPr>
        <p:spPr>
          <a:xfrm>
            <a:off x="3246120" y="2596896"/>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Client evidence: no pilot client identified. Need at least one name. Without a willing client, the subscription model stays theoretical.</a:t>
            </a:r>
            <a:endParaRPr lang="en-US" sz="750" dirty="0"/>
          </a:p>
        </p:txBody>
      </p:sp>
      <p:sp>
        <p:nvSpPr>
          <p:cNvPr id="18" name="Text 15"/>
          <p:cNvSpPr/>
          <p:nvPr/>
        </p:nvSpPr>
        <p:spPr>
          <a:xfrm>
            <a:off x="3246120" y="3255264"/>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Investment validation: numbers modelled but not tested against AKT's actual P&amp;L and cash flow. Need finance input.</a:t>
            </a:r>
            <a:endParaRPr lang="en-US" sz="750" dirty="0"/>
          </a:p>
        </p:txBody>
      </p:sp>
      <p:sp>
        <p:nvSpPr>
          <p:cNvPr id="19" name="Text 16"/>
          <p:cNvSpPr/>
          <p:nvPr/>
        </p:nvSpPr>
        <p:spPr>
          <a:xfrm>
            <a:off x="3246120" y="3913632"/>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Project factory → advisory: the hardest transition. Needs a clear change narrative for the team about why this is better for them, not just the firm.</a:t>
            </a:r>
            <a:endParaRPr lang="en-US" sz="750" dirty="0"/>
          </a:p>
        </p:txBody>
      </p:sp>
      <p:sp>
        <p:nvSpPr>
          <p:cNvPr id="20" name="Text 17"/>
          <p:cNvSpPr/>
          <p:nvPr/>
        </p:nvSpPr>
        <p:spPr>
          <a:xfrm>
            <a:off x="6035040" y="1005840"/>
            <a:ext cx="2651760"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Still in doubt</a:t>
            </a:r>
            <a:endParaRPr lang="en-US" sz="1000" dirty="0"/>
          </a:p>
        </p:txBody>
      </p:sp>
      <p:sp>
        <p:nvSpPr>
          <p:cNvPr id="21" name="Shape 18"/>
          <p:cNvSpPr/>
          <p:nvPr/>
        </p:nvSpPr>
        <p:spPr>
          <a:xfrm>
            <a:off x="6035040" y="1207008"/>
            <a:ext cx="2651760" cy="0"/>
          </a:xfrm>
          <a:prstGeom prst="line">
            <a:avLst/>
          </a:prstGeom>
          <a:noFill/>
          <a:ln w="19050">
            <a:solidFill>
              <a:srgbClr val="C0392B"/>
            </a:solidFill>
            <a:prstDash val="solid"/>
          </a:ln>
        </p:spPr>
        <p:txBody>
          <a:bodyPr/>
          <a:lstStyle/>
          <a:p>
            <a:endParaRPr lang="nl-NL"/>
          </a:p>
        </p:txBody>
      </p:sp>
      <p:sp>
        <p:nvSpPr>
          <p:cNvPr id="22" name="Text 19"/>
          <p:cNvSpPr/>
          <p:nvPr/>
        </p:nvSpPr>
        <p:spPr>
          <a:xfrm>
            <a:off x="6035040" y="1280160"/>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Can we build proprietary AI tools with 20 people? Or do we need external dev resource?</a:t>
            </a:r>
            <a:endParaRPr lang="en-US" sz="750" dirty="0"/>
          </a:p>
        </p:txBody>
      </p:sp>
      <p:sp>
        <p:nvSpPr>
          <p:cNvPr id="23" name="Text 20"/>
          <p:cNvSpPr/>
          <p:nvPr/>
        </p:nvSpPr>
        <p:spPr>
          <a:xfrm>
            <a:off x="6035040" y="1938528"/>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Will clients pay for AI-augmented delivery, or expect it at the same price? No evidence either way.</a:t>
            </a:r>
            <a:endParaRPr lang="en-US" sz="750" dirty="0"/>
          </a:p>
        </p:txBody>
      </p:sp>
      <p:sp>
        <p:nvSpPr>
          <p:cNvPr id="24" name="Text 21"/>
          <p:cNvSpPr/>
          <p:nvPr/>
        </p:nvSpPr>
        <p:spPr>
          <a:xfrm>
            <a:off x="6035040" y="2596896"/>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How fast does the self-service floor rise? 12 months or 36? Changes urgency of everything.</a:t>
            </a:r>
            <a:endParaRPr lang="en-US" sz="750" dirty="0"/>
          </a:p>
        </p:txBody>
      </p:sp>
      <p:sp>
        <p:nvSpPr>
          <p:cNvPr id="25" name="Text 22"/>
          <p:cNvSpPr/>
          <p:nvPr/>
        </p:nvSpPr>
        <p:spPr>
          <a:xfrm>
            <a:off x="6035040" y="3255264"/>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Is outcome-based pricing possible with current data? Not enough outcome measurement in active projects.</a:t>
            </a:r>
            <a:endParaRPr lang="en-US" sz="750" dirty="0"/>
          </a:p>
        </p:txBody>
      </p:sp>
      <p:sp>
        <p:nvSpPr>
          <p:cNvPr id="26" name="Text 23"/>
          <p:cNvSpPr/>
          <p:nvPr/>
        </p:nvSpPr>
        <p:spPr>
          <a:xfrm>
            <a:off x="6035040" y="3913632"/>
            <a:ext cx="2651760" cy="621792"/>
          </a:xfrm>
          <a:prstGeom prst="rect">
            <a:avLst/>
          </a:prstGeom>
          <a:noFill/>
          <a:ln/>
        </p:spPr>
        <p:txBody>
          <a:bodyPr wrap="square" lIns="0" tIns="0" rIns="0" bIns="0" rtlCol="0" anchor="t"/>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  Will the team embrace or resist? 27% of European consultants cite concerns. We have not consulted anyone beyond this room.</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13</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Evidence: the 34-task efficiency model</a:t>
            </a:r>
            <a:endParaRPr lang="en-US" sz="2000" dirty="0"/>
          </a:p>
        </p:txBody>
      </p:sp>
      <p:sp>
        <p:nvSpPr>
          <p:cNvPr id="5" name="Text 2"/>
          <p:cNvSpPr/>
          <p:nvPr/>
        </p:nvSpPr>
        <p:spPr>
          <a:xfrm>
            <a:off x="457200" y="749808"/>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BigOne OpEx Methodology. Typical 18-week EX engagement. Every task mapped to AI capability.</a:t>
            </a:r>
            <a:endParaRPr lang="en-US" sz="1100" dirty="0"/>
          </a:p>
        </p:txBody>
      </p:sp>
      <p:sp>
        <p:nvSpPr>
          <p:cNvPr id="6" name="Shape 3"/>
          <p:cNvSpPr/>
          <p:nvPr/>
        </p:nvSpPr>
        <p:spPr>
          <a:xfrm>
            <a:off x="457200" y="960120"/>
            <a:ext cx="1645920" cy="219456"/>
          </a:xfrm>
          <a:prstGeom prst="rect">
            <a:avLst/>
          </a:prstGeom>
          <a:solidFill>
            <a:srgbClr val="000000"/>
          </a:solidFill>
          <a:ln/>
        </p:spPr>
        <p:txBody>
          <a:bodyPr/>
          <a:lstStyle/>
          <a:p>
            <a:endParaRPr lang="nl-NL"/>
          </a:p>
        </p:txBody>
      </p:sp>
      <p:sp>
        <p:nvSpPr>
          <p:cNvPr id="7" name="Text 4"/>
          <p:cNvSpPr/>
          <p:nvPr/>
        </p:nvSpPr>
        <p:spPr>
          <a:xfrm>
            <a:off x="502920" y="960120"/>
            <a:ext cx="1554480"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Stage</a:t>
            </a:r>
            <a:endParaRPr lang="en-US" sz="750" dirty="0"/>
          </a:p>
        </p:txBody>
      </p:sp>
      <p:sp>
        <p:nvSpPr>
          <p:cNvPr id="8" name="Shape 5"/>
          <p:cNvSpPr/>
          <p:nvPr/>
        </p:nvSpPr>
        <p:spPr>
          <a:xfrm>
            <a:off x="2103120" y="960120"/>
            <a:ext cx="365760" cy="219456"/>
          </a:xfrm>
          <a:prstGeom prst="rect">
            <a:avLst/>
          </a:prstGeom>
          <a:solidFill>
            <a:srgbClr val="000000"/>
          </a:solidFill>
          <a:ln/>
        </p:spPr>
        <p:txBody>
          <a:bodyPr/>
          <a:lstStyle/>
          <a:p>
            <a:endParaRPr lang="nl-NL"/>
          </a:p>
        </p:txBody>
      </p:sp>
      <p:sp>
        <p:nvSpPr>
          <p:cNvPr id="9" name="Text 6"/>
          <p:cNvSpPr/>
          <p:nvPr/>
        </p:nvSpPr>
        <p:spPr>
          <a:xfrm>
            <a:off x="2148840" y="960120"/>
            <a:ext cx="274320"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a:t>
            </a:r>
            <a:endParaRPr lang="en-US" sz="750" dirty="0"/>
          </a:p>
        </p:txBody>
      </p:sp>
      <p:sp>
        <p:nvSpPr>
          <p:cNvPr id="10" name="Shape 7"/>
          <p:cNvSpPr/>
          <p:nvPr/>
        </p:nvSpPr>
        <p:spPr>
          <a:xfrm>
            <a:off x="2468880" y="960120"/>
            <a:ext cx="457200" cy="219456"/>
          </a:xfrm>
          <a:prstGeom prst="rect">
            <a:avLst/>
          </a:prstGeom>
          <a:solidFill>
            <a:srgbClr val="000000"/>
          </a:solidFill>
          <a:ln/>
        </p:spPr>
        <p:txBody>
          <a:bodyPr/>
          <a:lstStyle/>
          <a:p>
            <a:endParaRPr lang="nl-NL"/>
          </a:p>
        </p:txBody>
      </p:sp>
      <p:sp>
        <p:nvSpPr>
          <p:cNvPr id="11" name="Text 8"/>
          <p:cNvSpPr/>
          <p:nvPr/>
        </p:nvSpPr>
        <p:spPr>
          <a:xfrm>
            <a:off x="2514600" y="960120"/>
            <a:ext cx="365760"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Today</a:t>
            </a:r>
            <a:endParaRPr lang="en-US" sz="750" dirty="0"/>
          </a:p>
        </p:txBody>
      </p:sp>
      <p:sp>
        <p:nvSpPr>
          <p:cNvPr id="12" name="Shape 9"/>
          <p:cNvSpPr/>
          <p:nvPr/>
        </p:nvSpPr>
        <p:spPr>
          <a:xfrm>
            <a:off x="2926080" y="960120"/>
            <a:ext cx="457200" cy="219456"/>
          </a:xfrm>
          <a:prstGeom prst="rect">
            <a:avLst/>
          </a:prstGeom>
          <a:solidFill>
            <a:srgbClr val="000000"/>
          </a:solidFill>
          <a:ln/>
        </p:spPr>
        <p:txBody>
          <a:bodyPr/>
          <a:lstStyle/>
          <a:p>
            <a:endParaRPr lang="nl-NL"/>
          </a:p>
        </p:txBody>
      </p:sp>
      <p:sp>
        <p:nvSpPr>
          <p:cNvPr id="13" name="Text 10"/>
          <p:cNvSpPr/>
          <p:nvPr/>
        </p:nvSpPr>
        <p:spPr>
          <a:xfrm>
            <a:off x="2971800" y="960120"/>
            <a:ext cx="365760"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AI</a:t>
            </a:r>
            <a:endParaRPr lang="en-US" sz="750" dirty="0"/>
          </a:p>
        </p:txBody>
      </p:sp>
      <p:sp>
        <p:nvSpPr>
          <p:cNvPr id="14" name="Shape 11"/>
          <p:cNvSpPr/>
          <p:nvPr/>
        </p:nvSpPr>
        <p:spPr>
          <a:xfrm>
            <a:off x="3383280" y="960120"/>
            <a:ext cx="457200" cy="219456"/>
          </a:xfrm>
          <a:prstGeom prst="rect">
            <a:avLst/>
          </a:prstGeom>
          <a:solidFill>
            <a:srgbClr val="000000"/>
          </a:solidFill>
          <a:ln/>
        </p:spPr>
        <p:txBody>
          <a:bodyPr/>
          <a:lstStyle/>
          <a:p>
            <a:endParaRPr lang="nl-NL"/>
          </a:p>
        </p:txBody>
      </p:sp>
      <p:sp>
        <p:nvSpPr>
          <p:cNvPr id="15" name="Text 12"/>
          <p:cNvSpPr/>
          <p:nvPr/>
        </p:nvSpPr>
        <p:spPr>
          <a:xfrm>
            <a:off x="3429000" y="960120"/>
            <a:ext cx="365760"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Eff %</a:t>
            </a:r>
            <a:endParaRPr lang="en-US" sz="750" dirty="0"/>
          </a:p>
        </p:txBody>
      </p:sp>
      <p:sp>
        <p:nvSpPr>
          <p:cNvPr id="16" name="Shape 13"/>
          <p:cNvSpPr/>
          <p:nvPr/>
        </p:nvSpPr>
        <p:spPr>
          <a:xfrm>
            <a:off x="3840480" y="960120"/>
            <a:ext cx="4846320" cy="219456"/>
          </a:xfrm>
          <a:prstGeom prst="rect">
            <a:avLst/>
          </a:prstGeom>
          <a:solidFill>
            <a:srgbClr val="000000"/>
          </a:solidFill>
          <a:ln/>
        </p:spPr>
        <p:txBody>
          <a:bodyPr/>
          <a:lstStyle/>
          <a:p>
            <a:endParaRPr lang="nl-NL"/>
          </a:p>
        </p:txBody>
      </p:sp>
      <p:sp>
        <p:nvSpPr>
          <p:cNvPr id="17" name="Text 14"/>
          <p:cNvSpPr/>
          <p:nvPr/>
        </p:nvSpPr>
        <p:spPr>
          <a:xfrm>
            <a:off x="3886200" y="960120"/>
            <a:ext cx="4754880"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What changes</a:t>
            </a:r>
            <a:endParaRPr lang="en-US" sz="750" dirty="0"/>
          </a:p>
        </p:txBody>
      </p:sp>
      <p:sp>
        <p:nvSpPr>
          <p:cNvPr id="18" name="Shape 15"/>
          <p:cNvSpPr/>
          <p:nvPr/>
        </p:nvSpPr>
        <p:spPr>
          <a:xfrm>
            <a:off x="457200" y="1197864"/>
            <a:ext cx="8229600" cy="411480"/>
          </a:xfrm>
          <a:prstGeom prst="rect">
            <a:avLst/>
          </a:prstGeom>
          <a:solidFill>
            <a:srgbClr val="F5F5F5"/>
          </a:solidFill>
          <a:ln/>
        </p:spPr>
        <p:txBody>
          <a:bodyPr/>
          <a:lstStyle/>
          <a:p>
            <a:endParaRPr lang="nl-NL"/>
          </a:p>
        </p:txBody>
      </p:sp>
      <p:sp>
        <p:nvSpPr>
          <p:cNvPr id="19" name="Shape 16"/>
          <p:cNvSpPr/>
          <p:nvPr/>
        </p:nvSpPr>
        <p:spPr>
          <a:xfrm>
            <a:off x="457200" y="1197864"/>
            <a:ext cx="36576" cy="411480"/>
          </a:xfrm>
          <a:prstGeom prst="rect">
            <a:avLst/>
          </a:prstGeom>
          <a:solidFill>
            <a:srgbClr val="F0AC00"/>
          </a:solidFill>
          <a:ln/>
        </p:spPr>
        <p:txBody>
          <a:bodyPr/>
          <a:lstStyle/>
          <a:p>
            <a:endParaRPr lang="nl-NL"/>
          </a:p>
        </p:txBody>
      </p:sp>
      <p:sp>
        <p:nvSpPr>
          <p:cNvPr id="20" name="Text 17"/>
          <p:cNvSpPr/>
          <p:nvPr/>
        </p:nvSpPr>
        <p:spPr>
          <a:xfrm>
            <a:off x="530352" y="1197864"/>
            <a:ext cx="1554480" cy="411480"/>
          </a:xfrm>
          <a:prstGeom prst="rect">
            <a:avLst/>
          </a:prstGeom>
          <a:noFill/>
          <a:ln/>
        </p:spPr>
        <p:txBody>
          <a:bodyPr wrap="square" lIns="0" tIns="0" rIns="0" bIns="0" rtlCol="0" anchor="ctr"/>
          <a:lstStyle/>
          <a:p>
            <a:pPr marL="0" indent="0">
              <a:buNone/>
            </a:pPr>
            <a:r>
              <a:rPr lang="en-US" sz="800" b="1" dirty="0">
                <a:solidFill>
                  <a:srgbClr val="F0AC00"/>
                </a:solidFill>
                <a:latin typeface="Calibri" pitchFamily="34" charset="0"/>
                <a:ea typeface="Calibri" pitchFamily="34" charset="-122"/>
                <a:cs typeface="Calibri" pitchFamily="34" charset="-120"/>
              </a:rPr>
              <a:t>1. Initiate</a:t>
            </a:r>
            <a:endParaRPr lang="en-US" sz="800" dirty="0"/>
          </a:p>
        </p:txBody>
      </p:sp>
      <p:sp>
        <p:nvSpPr>
          <p:cNvPr id="21" name="Text 18"/>
          <p:cNvSpPr/>
          <p:nvPr/>
        </p:nvSpPr>
        <p:spPr>
          <a:xfrm>
            <a:off x="2103120" y="1197864"/>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22" name="Text 19"/>
          <p:cNvSpPr/>
          <p:nvPr/>
        </p:nvSpPr>
        <p:spPr>
          <a:xfrm>
            <a:off x="2468880" y="1197864"/>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21h</a:t>
            </a:r>
            <a:endParaRPr lang="en-US" sz="800" dirty="0"/>
          </a:p>
        </p:txBody>
      </p:sp>
      <p:sp>
        <p:nvSpPr>
          <p:cNvPr id="23" name="Text 20"/>
          <p:cNvSpPr/>
          <p:nvPr/>
        </p:nvSpPr>
        <p:spPr>
          <a:xfrm>
            <a:off x="2926080" y="1197864"/>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11.5h</a:t>
            </a:r>
            <a:endParaRPr lang="en-US" sz="800" dirty="0"/>
          </a:p>
        </p:txBody>
      </p:sp>
      <p:sp>
        <p:nvSpPr>
          <p:cNvPr id="24" name="Text 21"/>
          <p:cNvSpPr/>
          <p:nvPr/>
        </p:nvSpPr>
        <p:spPr>
          <a:xfrm>
            <a:off x="3383280" y="1197864"/>
            <a:ext cx="457200" cy="411480"/>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45%</a:t>
            </a:r>
            <a:endParaRPr lang="en-US" sz="900" dirty="0"/>
          </a:p>
        </p:txBody>
      </p:sp>
      <p:sp>
        <p:nvSpPr>
          <p:cNvPr id="25" name="Text 22"/>
          <p:cNvSpPr/>
          <p:nvPr/>
        </p:nvSpPr>
        <p:spPr>
          <a:xfrm>
            <a:off x="3886200" y="1197864"/>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Kickoff decks auto-drafted. Governance templates pre-populated. Client meeting fully human.</a:t>
            </a:r>
            <a:endParaRPr lang="en-US" sz="750" dirty="0"/>
          </a:p>
        </p:txBody>
      </p:sp>
      <p:sp>
        <p:nvSpPr>
          <p:cNvPr id="26" name="Shape 23"/>
          <p:cNvSpPr/>
          <p:nvPr/>
        </p:nvSpPr>
        <p:spPr>
          <a:xfrm>
            <a:off x="457200" y="1627632"/>
            <a:ext cx="8229600" cy="411480"/>
          </a:xfrm>
          <a:prstGeom prst="rect">
            <a:avLst/>
          </a:prstGeom>
          <a:solidFill>
            <a:srgbClr val="FFFFFF"/>
          </a:solidFill>
          <a:ln/>
        </p:spPr>
        <p:txBody>
          <a:bodyPr/>
          <a:lstStyle/>
          <a:p>
            <a:endParaRPr lang="nl-NL"/>
          </a:p>
        </p:txBody>
      </p:sp>
      <p:sp>
        <p:nvSpPr>
          <p:cNvPr id="27" name="Shape 24"/>
          <p:cNvSpPr/>
          <p:nvPr/>
        </p:nvSpPr>
        <p:spPr>
          <a:xfrm>
            <a:off x="457200" y="1627632"/>
            <a:ext cx="36576" cy="411480"/>
          </a:xfrm>
          <a:prstGeom prst="rect">
            <a:avLst/>
          </a:prstGeom>
          <a:solidFill>
            <a:srgbClr val="2980B9"/>
          </a:solidFill>
          <a:ln/>
        </p:spPr>
        <p:txBody>
          <a:bodyPr/>
          <a:lstStyle/>
          <a:p>
            <a:endParaRPr lang="nl-NL"/>
          </a:p>
        </p:txBody>
      </p:sp>
      <p:sp>
        <p:nvSpPr>
          <p:cNvPr id="28" name="Text 25"/>
          <p:cNvSpPr/>
          <p:nvPr/>
        </p:nvSpPr>
        <p:spPr>
          <a:xfrm>
            <a:off x="530352" y="1627632"/>
            <a:ext cx="1554480" cy="411480"/>
          </a:xfrm>
          <a:prstGeom prst="rect">
            <a:avLst/>
          </a:prstGeom>
          <a:noFill/>
          <a:ln/>
        </p:spPr>
        <p:txBody>
          <a:bodyPr wrap="square" lIns="0" tIns="0" rIns="0" bIns="0" rtlCol="0" anchor="ctr"/>
          <a:lstStyle/>
          <a:p>
            <a:pPr marL="0" indent="0">
              <a:buNone/>
            </a:pPr>
            <a:r>
              <a:rPr lang="en-US" sz="800" b="1" dirty="0">
                <a:solidFill>
                  <a:srgbClr val="2980B9"/>
                </a:solidFill>
                <a:latin typeface="Calibri" pitchFamily="34" charset="0"/>
                <a:ea typeface="Calibri" pitchFamily="34" charset="-122"/>
                <a:cs typeface="Calibri" pitchFamily="34" charset="-120"/>
              </a:rPr>
              <a:t>2. Foundational Set-up</a:t>
            </a:r>
            <a:endParaRPr lang="en-US" sz="800" dirty="0"/>
          </a:p>
        </p:txBody>
      </p:sp>
      <p:sp>
        <p:nvSpPr>
          <p:cNvPr id="29" name="Text 26"/>
          <p:cNvSpPr/>
          <p:nvPr/>
        </p:nvSpPr>
        <p:spPr>
          <a:xfrm>
            <a:off x="2103120" y="1627632"/>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30" name="Text 27"/>
          <p:cNvSpPr/>
          <p:nvPr/>
        </p:nvSpPr>
        <p:spPr>
          <a:xfrm>
            <a:off x="2468880" y="1627632"/>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50h</a:t>
            </a:r>
            <a:endParaRPr lang="en-US" sz="800" dirty="0"/>
          </a:p>
        </p:txBody>
      </p:sp>
      <p:sp>
        <p:nvSpPr>
          <p:cNvPr id="31" name="Text 28"/>
          <p:cNvSpPr/>
          <p:nvPr/>
        </p:nvSpPr>
        <p:spPr>
          <a:xfrm>
            <a:off x="2926080" y="1627632"/>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31h</a:t>
            </a:r>
            <a:endParaRPr lang="en-US" sz="800" dirty="0"/>
          </a:p>
        </p:txBody>
      </p:sp>
      <p:sp>
        <p:nvSpPr>
          <p:cNvPr id="32" name="Text 29"/>
          <p:cNvSpPr/>
          <p:nvPr/>
        </p:nvSpPr>
        <p:spPr>
          <a:xfrm>
            <a:off x="3383280" y="1627632"/>
            <a:ext cx="457200" cy="411480"/>
          </a:xfrm>
          <a:prstGeom prst="rect">
            <a:avLst/>
          </a:prstGeom>
          <a:noFill/>
          <a:ln/>
        </p:spPr>
        <p:txBody>
          <a:bodyPr wrap="square" lIns="0" tIns="0" rIns="0" bIns="0" rtlCol="0" anchor="ctr"/>
          <a:lstStyle/>
          <a:p>
            <a:pPr marL="0" indent="0" algn="ctr">
              <a:buNone/>
            </a:pPr>
            <a:r>
              <a:rPr lang="en-US" sz="900" b="1" dirty="0">
                <a:solidFill>
                  <a:srgbClr val="2980B9"/>
                </a:solidFill>
                <a:latin typeface="Calibri" pitchFamily="34" charset="0"/>
                <a:ea typeface="Calibri" pitchFamily="34" charset="-122"/>
                <a:cs typeface="Calibri" pitchFamily="34" charset="-120"/>
              </a:rPr>
              <a:t>38%</a:t>
            </a:r>
            <a:endParaRPr lang="en-US" sz="900" dirty="0"/>
          </a:p>
        </p:txBody>
      </p:sp>
      <p:sp>
        <p:nvSpPr>
          <p:cNvPr id="33" name="Text 30"/>
          <p:cNvSpPr/>
          <p:nvPr/>
        </p:nvSpPr>
        <p:spPr>
          <a:xfrm>
            <a:off x="3886200" y="1627632"/>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Most conservative. Config errors cascade — AI assists, human validates. SA architecture: 42%.</a:t>
            </a:r>
            <a:endParaRPr lang="en-US" sz="750" dirty="0"/>
          </a:p>
        </p:txBody>
      </p:sp>
      <p:sp>
        <p:nvSpPr>
          <p:cNvPr id="34" name="Shape 31"/>
          <p:cNvSpPr/>
          <p:nvPr/>
        </p:nvSpPr>
        <p:spPr>
          <a:xfrm>
            <a:off x="457200" y="2057400"/>
            <a:ext cx="8229600" cy="411480"/>
          </a:xfrm>
          <a:prstGeom prst="rect">
            <a:avLst/>
          </a:prstGeom>
          <a:solidFill>
            <a:srgbClr val="F5F5F5"/>
          </a:solidFill>
          <a:ln/>
        </p:spPr>
        <p:txBody>
          <a:bodyPr/>
          <a:lstStyle/>
          <a:p>
            <a:endParaRPr lang="nl-NL"/>
          </a:p>
        </p:txBody>
      </p:sp>
      <p:sp>
        <p:nvSpPr>
          <p:cNvPr id="35" name="Shape 32"/>
          <p:cNvSpPr/>
          <p:nvPr/>
        </p:nvSpPr>
        <p:spPr>
          <a:xfrm>
            <a:off x="457200" y="2057400"/>
            <a:ext cx="36576" cy="411480"/>
          </a:xfrm>
          <a:prstGeom prst="rect">
            <a:avLst/>
          </a:prstGeom>
          <a:solidFill>
            <a:srgbClr val="27AE60"/>
          </a:solidFill>
          <a:ln/>
        </p:spPr>
        <p:txBody>
          <a:bodyPr/>
          <a:lstStyle/>
          <a:p>
            <a:endParaRPr lang="nl-NL"/>
          </a:p>
        </p:txBody>
      </p:sp>
      <p:sp>
        <p:nvSpPr>
          <p:cNvPr id="36" name="Text 33"/>
          <p:cNvSpPr/>
          <p:nvPr/>
        </p:nvSpPr>
        <p:spPr>
          <a:xfrm>
            <a:off x="530352" y="2057400"/>
            <a:ext cx="1554480" cy="411480"/>
          </a:xfrm>
          <a:prstGeom prst="rect">
            <a:avLst/>
          </a:prstGeom>
          <a:noFill/>
          <a:ln/>
        </p:spPr>
        <p:txBody>
          <a:bodyPr wrap="square" lIns="0" tIns="0" rIns="0" bIns="0" rtlCol="0" anchor="ctr"/>
          <a:lstStyle/>
          <a:p>
            <a:pPr marL="0" indent="0">
              <a:buNone/>
            </a:pPr>
            <a:r>
              <a:rPr lang="en-US" sz="800" b="1" dirty="0">
                <a:solidFill>
                  <a:srgbClr val="27AE60"/>
                </a:solidFill>
                <a:latin typeface="Calibri" pitchFamily="34" charset="0"/>
                <a:ea typeface="Calibri" pitchFamily="34" charset="-122"/>
                <a:cs typeface="Calibri" pitchFamily="34" charset="-120"/>
              </a:rPr>
              <a:t>3. Design</a:t>
            </a:r>
            <a:endParaRPr lang="en-US" sz="800" dirty="0"/>
          </a:p>
        </p:txBody>
      </p:sp>
      <p:sp>
        <p:nvSpPr>
          <p:cNvPr id="37" name="Text 34"/>
          <p:cNvSpPr/>
          <p:nvPr/>
        </p:nvSpPr>
        <p:spPr>
          <a:xfrm>
            <a:off x="2103120" y="2057400"/>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38" name="Text 35"/>
          <p:cNvSpPr/>
          <p:nvPr/>
        </p:nvSpPr>
        <p:spPr>
          <a:xfrm>
            <a:off x="2468880" y="2057400"/>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46h</a:t>
            </a:r>
            <a:endParaRPr lang="en-US" sz="800" dirty="0"/>
          </a:p>
        </p:txBody>
      </p:sp>
      <p:sp>
        <p:nvSpPr>
          <p:cNvPr id="39" name="Text 36"/>
          <p:cNvSpPr/>
          <p:nvPr/>
        </p:nvSpPr>
        <p:spPr>
          <a:xfrm>
            <a:off x="2926080" y="2057400"/>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24h</a:t>
            </a:r>
            <a:endParaRPr lang="en-US" sz="800" dirty="0"/>
          </a:p>
        </p:txBody>
      </p:sp>
      <p:sp>
        <p:nvSpPr>
          <p:cNvPr id="40" name="Text 37"/>
          <p:cNvSpPr/>
          <p:nvPr/>
        </p:nvSpPr>
        <p:spPr>
          <a:xfrm>
            <a:off x="3383280" y="2057400"/>
            <a:ext cx="457200" cy="411480"/>
          </a:xfrm>
          <a:prstGeom prst="rect">
            <a:avLst/>
          </a:prstGeom>
          <a:noFill/>
          <a:ln/>
        </p:spPr>
        <p:txBody>
          <a:bodyPr wrap="square" lIns="0" tIns="0" rIns="0" bIns="0" rtlCol="0" anchor="ctr"/>
          <a:lstStyle/>
          <a:p>
            <a:pPr marL="0" indent="0" algn="ctr">
              <a:buNone/>
            </a:pPr>
            <a:r>
              <a:rPr lang="en-US" sz="900" b="1" dirty="0">
                <a:solidFill>
                  <a:srgbClr val="27AE60"/>
                </a:solidFill>
                <a:latin typeface="Calibri" pitchFamily="34" charset="0"/>
                <a:ea typeface="Calibri" pitchFamily="34" charset="-122"/>
                <a:cs typeface="Calibri" pitchFamily="34" charset="-120"/>
              </a:rPr>
              <a:t>48%</a:t>
            </a:r>
            <a:endParaRPr lang="en-US" sz="900" dirty="0"/>
          </a:p>
        </p:txBody>
      </p:sp>
      <p:sp>
        <p:nvSpPr>
          <p:cNvPr id="41" name="Text 38"/>
          <p:cNvSpPr/>
          <p:nvPr/>
        </p:nvSpPr>
        <p:spPr>
          <a:xfrm>
            <a:off x="3886200" y="2057400"/>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Questionnaire design halves (20→10h). AI drafts from objectives + benchmarks. Alignment least compressible (33%).</a:t>
            </a:r>
            <a:endParaRPr lang="en-US" sz="750" dirty="0"/>
          </a:p>
        </p:txBody>
      </p:sp>
      <p:sp>
        <p:nvSpPr>
          <p:cNvPr id="42" name="Shape 39"/>
          <p:cNvSpPr/>
          <p:nvPr/>
        </p:nvSpPr>
        <p:spPr>
          <a:xfrm>
            <a:off x="457200" y="2487168"/>
            <a:ext cx="8229600" cy="411480"/>
          </a:xfrm>
          <a:prstGeom prst="rect">
            <a:avLst/>
          </a:prstGeom>
          <a:solidFill>
            <a:srgbClr val="FFFFFF"/>
          </a:solidFill>
          <a:ln/>
        </p:spPr>
        <p:txBody>
          <a:bodyPr/>
          <a:lstStyle/>
          <a:p>
            <a:endParaRPr lang="nl-NL"/>
          </a:p>
        </p:txBody>
      </p:sp>
      <p:sp>
        <p:nvSpPr>
          <p:cNvPr id="43" name="Shape 40"/>
          <p:cNvSpPr/>
          <p:nvPr/>
        </p:nvSpPr>
        <p:spPr>
          <a:xfrm>
            <a:off x="457200" y="2487168"/>
            <a:ext cx="36576" cy="411480"/>
          </a:xfrm>
          <a:prstGeom prst="rect">
            <a:avLst/>
          </a:prstGeom>
          <a:solidFill>
            <a:srgbClr val="E67E22"/>
          </a:solidFill>
          <a:ln/>
        </p:spPr>
        <p:txBody>
          <a:bodyPr/>
          <a:lstStyle/>
          <a:p>
            <a:endParaRPr lang="nl-NL"/>
          </a:p>
        </p:txBody>
      </p:sp>
      <p:sp>
        <p:nvSpPr>
          <p:cNvPr id="44" name="Text 41"/>
          <p:cNvSpPr/>
          <p:nvPr/>
        </p:nvSpPr>
        <p:spPr>
          <a:xfrm>
            <a:off x="530352" y="2487168"/>
            <a:ext cx="1554480" cy="411480"/>
          </a:xfrm>
          <a:prstGeom prst="rect">
            <a:avLst/>
          </a:prstGeom>
          <a:noFill/>
          <a:ln/>
        </p:spPr>
        <p:txBody>
          <a:bodyPr wrap="square" lIns="0" tIns="0" rIns="0" bIns="0" rtlCol="0" anchor="ctr"/>
          <a:lstStyle/>
          <a:p>
            <a:pPr marL="0" indent="0">
              <a:buNone/>
            </a:pPr>
            <a:r>
              <a:rPr lang="en-US" sz="800" b="1" dirty="0">
                <a:solidFill>
                  <a:srgbClr val="E67E22"/>
                </a:solidFill>
                <a:latin typeface="Calibri" pitchFamily="34" charset="0"/>
                <a:ea typeface="Calibri" pitchFamily="34" charset="-122"/>
                <a:cs typeface="Calibri" pitchFamily="34" charset="-120"/>
              </a:rPr>
              <a:t>4. Build (Configure)</a:t>
            </a:r>
            <a:endParaRPr lang="en-US" sz="800" dirty="0"/>
          </a:p>
        </p:txBody>
      </p:sp>
      <p:sp>
        <p:nvSpPr>
          <p:cNvPr id="45" name="Text 42"/>
          <p:cNvSpPr/>
          <p:nvPr/>
        </p:nvSpPr>
        <p:spPr>
          <a:xfrm>
            <a:off x="2103120" y="2487168"/>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46" name="Text 43"/>
          <p:cNvSpPr/>
          <p:nvPr/>
        </p:nvSpPr>
        <p:spPr>
          <a:xfrm>
            <a:off x="2468880" y="2487168"/>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50h</a:t>
            </a:r>
            <a:endParaRPr lang="en-US" sz="800" dirty="0"/>
          </a:p>
        </p:txBody>
      </p:sp>
      <p:sp>
        <p:nvSpPr>
          <p:cNvPr id="47" name="Text 44"/>
          <p:cNvSpPr/>
          <p:nvPr/>
        </p:nvSpPr>
        <p:spPr>
          <a:xfrm>
            <a:off x="2926080" y="2487168"/>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23h</a:t>
            </a:r>
            <a:endParaRPr lang="en-US" sz="800" dirty="0"/>
          </a:p>
        </p:txBody>
      </p:sp>
      <p:sp>
        <p:nvSpPr>
          <p:cNvPr id="48" name="Text 45"/>
          <p:cNvSpPr/>
          <p:nvPr/>
        </p:nvSpPr>
        <p:spPr>
          <a:xfrm>
            <a:off x="3383280" y="2487168"/>
            <a:ext cx="457200" cy="411480"/>
          </a:xfrm>
          <a:prstGeom prst="rect">
            <a:avLst/>
          </a:prstGeom>
          <a:noFill/>
          <a:ln/>
        </p:spPr>
        <p:txBody>
          <a:bodyPr wrap="square" lIns="0" tIns="0" rIns="0" bIns="0" rtlCol="0" anchor="ctr"/>
          <a:lstStyle/>
          <a:p>
            <a:pPr marL="0" indent="0" algn="ctr">
              <a:buNone/>
            </a:pPr>
            <a:r>
              <a:rPr lang="en-US" sz="900" b="1" dirty="0">
                <a:solidFill>
                  <a:srgbClr val="E67E22"/>
                </a:solidFill>
                <a:latin typeface="Calibri" pitchFamily="34" charset="0"/>
                <a:ea typeface="Calibri" pitchFamily="34" charset="-122"/>
                <a:cs typeface="Calibri" pitchFamily="34" charset="-120"/>
              </a:rPr>
              <a:t>54%</a:t>
            </a:r>
            <a:endParaRPr lang="en-US" sz="900" dirty="0"/>
          </a:p>
        </p:txBody>
      </p:sp>
      <p:sp>
        <p:nvSpPr>
          <p:cNvPr id="49" name="Text 46"/>
          <p:cNvSpPr/>
          <p:nvPr/>
        </p:nvSpPr>
        <p:spPr>
          <a:xfrm>
            <a:off x="3886200" y="2487168"/>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Highest gains. Translation 67%. Participant upload 67%. Survey config 50%.</a:t>
            </a:r>
            <a:endParaRPr lang="en-US" sz="750" dirty="0"/>
          </a:p>
        </p:txBody>
      </p:sp>
      <p:sp>
        <p:nvSpPr>
          <p:cNvPr id="50" name="Shape 47"/>
          <p:cNvSpPr/>
          <p:nvPr/>
        </p:nvSpPr>
        <p:spPr>
          <a:xfrm>
            <a:off x="457200" y="2916936"/>
            <a:ext cx="8229600" cy="411480"/>
          </a:xfrm>
          <a:prstGeom prst="rect">
            <a:avLst/>
          </a:prstGeom>
          <a:solidFill>
            <a:srgbClr val="F5F5F5"/>
          </a:solidFill>
          <a:ln/>
        </p:spPr>
        <p:txBody>
          <a:bodyPr/>
          <a:lstStyle/>
          <a:p>
            <a:endParaRPr lang="nl-NL"/>
          </a:p>
        </p:txBody>
      </p:sp>
      <p:sp>
        <p:nvSpPr>
          <p:cNvPr id="51" name="Shape 48"/>
          <p:cNvSpPr/>
          <p:nvPr/>
        </p:nvSpPr>
        <p:spPr>
          <a:xfrm>
            <a:off x="457200" y="2916936"/>
            <a:ext cx="36576" cy="411480"/>
          </a:xfrm>
          <a:prstGeom prst="rect">
            <a:avLst/>
          </a:prstGeom>
          <a:solidFill>
            <a:srgbClr val="8E44AD"/>
          </a:solidFill>
          <a:ln/>
        </p:spPr>
        <p:txBody>
          <a:bodyPr/>
          <a:lstStyle/>
          <a:p>
            <a:endParaRPr lang="nl-NL"/>
          </a:p>
        </p:txBody>
      </p:sp>
      <p:sp>
        <p:nvSpPr>
          <p:cNvPr id="52" name="Text 49"/>
          <p:cNvSpPr/>
          <p:nvPr/>
        </p:nvSpPr>
        <p:spPr>
          <a:xfrm>
            <a:off x="530352" y="2916936"/>
            <a:ext cx="1554480" cy="411480"/>
          </a:xfrm>
          <a:prstGeom prst="rect">
            <a:avLst/>
          </a:prstGeom>
          <a:noFill/>
          <a:ln/>
        </p:spPr>
        <p:txBody>
          <a:bodyPr wrap="square" lIns="0" tIns="0" rIns="0" bIns="0" rtlCol="0" anchor="ctr"/>
          <a:lstStyle/>
          <a:p>
            <a:pPr marL="0" indent="0">
              <a:buNone/>
            </a:pPr>
            <a:r>
              <a:rPr lang="en-US" sz="800" b="1" dirty="0">
                <a:solidFill>
                  <a:srgbClr val="8E44AD"/>
                </a:solidFill>
                <a:latin typeface="Calibri" pitchFamily="34" charset="0"/>
                <a:ea typeface="Calibri" pitchFamily="34" charset="-122"/>
                <a:cs typeface="Calibri" pitchFamily="34" charset="-120"/>
              </a:rPr>
              <a:t>5. Launch &amp; Close</a:t>
            </a:r>
            <a:endParaRPr lang="en-US" sz="800" dirty="0"/>
          </a:p>
        </p:txBody>
      </p:sp>
      <p:sp>
        <p:nvSpPr>
          <p:cNvPr id="53" name="Text 50"/>
          <p:cNvSpPr/>
          <p:nvPr/>
        </p:nvSpPr>
        <p:spPr>
          <a:xfrm>
            <a:off x="2103120" y="2916936"/>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54" name="Text 51"/>
          <p:cNvSpPr/>
          <p:nvPr/>
        </p:nvSpPr>
        <p:spPr>
          <a:xfrm>
            <a:off x="2468880" y="2916936"/>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21h</a:t>
            </a:r>
            <a:endParaRPr lang="en-US" sz="800" dirty="0"/>
          </a:p>
        </p:txBody>
      </p:sp>
      <p:sp>
        <p:nvSpPr>
          <p:cNvPr id="55" name="Text 52"/>
          <p:cNvSpPr/>
          <p:nvPr/>
        </p:nvSpPr>
        <p:spPr>
          <a:xfrm>
            <a:off x="2926080" y="2916936"/>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12h</a:t>
            </a:r>
            <a:endParaRPr lang="en-US" sz="800" dirty="0"/>
          </a:p>
        </p:txBody>
      </p:sp>
      <p:sp>
        <p:nvSpPr>
          <p:cNvPr id="56" name="Text 53"/>
          <p:cNvSpPr/>
          <p:nvPr/>
        </p:nvSpPr>
        <p:spPr>
          <a:xfrm>
            <a:off x="3383280" y="2916936"/>
            <a:ext cx="457200" cy="411480"/>
          </a:xfrm>
          <a:prstGeom prst="rect">
            <a:avLst/>
          </a:prstGeom>
          <a:noFill/>
          <a:ln/>
        </p:spPr>
        <p:txBody>
          <a:bodyPr wrap="square" lIns="0" tIns="0" rIns="0" bIns="0" rtlCol="0" anchor="ctr"/>
          <a:lstStyle/>
          <a:p>
            <a:pPr marL="0" indent="0" algn="ctr">
              <a:buNone/>
            </a:pPr>
            <a:r>
              <a:rPr lang="en-US" sz="900" b="1" dirty="0">
                <a:solidFill>
                  <a:srgbClr val="8E44AD"/>
                </a:solidFill>
                <a:latin typeface="Calibri" pitchFamily="34" charset="0"/>
                <a:ea typeface="Calibri" pitchFamily="34" charset="-122"/>
                <a:cs typeface="Calibri" pitchFamily="34" charset="-120"/>
              </a:rPr>
              <a:t>43%</a:t>
            </a:r>
            <a:endParaRPr lang="en-US" sz="900" dirty="0"/>
          </a:p>
        </p:txBody>
      </p:sp>
      <p:sp>
        <p:nvSpPr>
          <p:cNvPr id="57" name="Text 54"/>
          <p:cNvSpPr/>
          <p:nvPr/>
        </p:nvSpPr>
        <p:spPr>
          <a:xfrm>
            <a:off x="3886200" y="2916936"/>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Response tracking near-fully automated. Go/no-go call is human.</a:t>
            </a:r>
            <a:endParaRPr lang="en-US" sz="750" dirty="0"/>
          </a:p>
        </p:txBody>
      </p:sp>
      <p:sp>
        <p:nvSpPr>
          <p:cNvPr id="58" name="Shape 55"/>
          <p:cNvSpPr/>
          <p:nvPr/>
        </p:nvSpPr>
        <p:spPr>
          <a:xfrm>
            <a:off x="457200" y="3346704"/>
            <a:ext cx="8229600" cy="411480"/>
          </a:xfrm>
          <a:prstGeom prst="rect">
            <a:avLst/>
          </a:prstGeom>
          <a:solidFill>
            <a:srgbClr val="FFFFFF"/>
          </a:solidFill>
          <a:ln/>
        </p:spPr>
        <p:txBody>
          <a:bodyPr/>
          <a:lstStyle/>
          <a:p>
            <a:endParaRPr lang="nl-NL"/>
          </a:p>
        </p:txBody>
      </p:sp>
      <p:sp>
        <p:nvSpPr>
          <p:cNvPr id="59" name="Shape 56"/>
          <p:cNvSpPr/>
          <p:nvPr/>
        </p:nvSpPr>
        <p:spPr>
          <a:xfrm>
            <a:off x="457200" y="3346704"/>
            <a:ext cx="36576" cy="411480"/>
          </a:xfrm>
          <a:prstGeom prst="rect">
            <a:avLst/>
          </a:prstGeom>
          <a:solidFill>
            <a:srgbClr val="1ABC9C"/>
          </a:solidFill>
          <a:ln/>
        </p:spPr>
        <p:txBody>
          <a:bodyPr/>
          <a:lstStyle/>
          <a:p>
            <a:endParaRPr lang="nl-NL"/>
          </a:p>
        </p:txBody>
      </p:sp>
      <p:sp>
        <p:nvSpPr>
          <p:cNvPr id="60" name="Text 57"/>
          <p:cNvSpPr/>
          <p:nvPr/>
        </p:nvSpPr>
        <p:spPr>
          <a:xfrm>
            <a:off x="530352" y="3346704"/>
            <a:ext cx="1554480" cy="411480"/>
          </a:xfrm>
          <a:prstGeom prst="rect">
            <a:avLst/>
          </a:prstGeom>
          <a:noFill/>
          <a:ln/>
        </p:spPr>
        <p:txBody>
          <a:bodyPr wrap="square" lIns="0" tIns="0" rIns="0" bIns="0" rtlCol="0" anchor="ctr"/>
          <a:lstStyle/>
          <a:p>
            <a:pPr marL="0" indent="0">
              <a:buNone/>
            </a:pPr>
            <a:r>
              <a:rPr lang="en-US" sz="800" b="1" dirty="0">
                <a:solidFill>
                  <a:srgbClr val="1ABC9C"/>
                </a:solidFill>
                <a:latin typeface="Calibri" pitchFamily="34" charset="0"/>
                <a:ea typeface="Calibri" pitchFamily="34" charset="-122"/>
                <a:cs typeface="Calibri" pitchFamily="34" charset="-120"/>
              </a:rPr>
              <a:t>6. Reporting</a:t>
            </a:r>
            <a:endParaRPr lang="en-US" sz="800" dirty="0"/>
          </a:p>
        </p:txBody>
      </p:sp>
      <p:sp>
        <p:nvSpPr>
          <p:cNvPr id="61" name="Text 58"/>
          <p:cNvSpPr/>
          <p:nvPr/>
        </p:nvSpPr>
        <p:spPr>
          <a:xfrm>
            <a:off x="2103120" y="3346704"/>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62" name="Text 59"/>
          <p:cNvSpPr/>
          <p:nvPr/>
        </p:nvSpPr>
        <p:spPr>
          <a:xfrm>
            <a:off x="2468880" y="3346704"/>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48h</a:t>
            </a:r>
            <a:endParaRPr lang="en-US" sz="800" dirty="0"/>
          </a:p>
        </p:txBody>
      </p:sp>
      <p:sp>
        <p:nvSpPr>
          <p:cNvPr id="63" name="Text 60"/>
          <p:cNvSpPr/>
          <p:nvPr/>
        </p:nvSpPr>
        <p:spPr>
          <a:xfrm>
            <a:off x="2926080" y="3346704"/>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26h</a:t>
            </a:r>
            <a:endParaRPr lang="en-US" sz="800" dirty="0"/>
          </a:p>
        </p:txBody>
      </p:sp>
      <p:sp>
        <p:nvSpPr>
          <p:cNvPr id="64" name="Text 61"/>
          <p:cNvSpPr/>
          <p:nvPr/>
        </p:nvSpPr>
        <p:spPr>
          <a:xfrm>
            <a:off x="3383280" y="3346704"/>
            <a:ext cx="457200" cy="411480"/>
          </a:xfrm>
          <a:prstGeom prst="rect">
            <a:avLst/>
          </a:prstGeom>
          <a:noFill/>
          <a:ln/>
        </p:spPr>
        <p:txBody>
          <a:bodyPr wrap="square" lIns="0" tIns="0" rIns="0" bIns="0" rtlCol="0" anchor="ctr"/>
          <a:lstStyle/>
          <a:p>
            <a:pPr marL="0" indent="0" algn="ctr">
              <a:buNone/>
            </a:pPr>
            <a:r>
              <a:rPr lang="en-US" sz="900" b="1" dirty="0">
                <a:solidFill>
                  <a:srgbClr val="1ABC9C"/>
                </a:solidFill>
                <a:latin typeface="Calibri" pitchFamily="34" charset="0"/>
                <a:ea typeface="Calibri" pitchFamily="34" charset="-122"/>
                <a:cs typeface="Calibri" pitchFamily="34" charset="-120"/>
              </a:rPr>
              <a:t>46%</a:t>
            </a:r>
            <a:endParaRPr lang="en-US" sz="900" dirty="0"/>
          </a:p>
        </p:txBody>
      </p:sp>
      <p:sp>
        <p:nvSpPr>
          <p:cNvPr id="65" name="Text 62"/>
          <p:cNvSpPr/>
          <p:nvPr/>
        </p:nvSpPr>
        <p:spPr>
          <a:xfrm>
            <a:off x="3886200" y="3346704"/>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Dashboard design halves. More iterations possible. Clients choose between options.</a:t>
            </a:r>
            <a:endParaRPr lang="en-US" sz="750" dirty="0"/>
          </a:p>
        </p:txBody>
      </p:sp>
      <p:sp>
        <p:nvSpPr>
          <p:cNvPr id="66" name="Shape 63"/>
          <p:cNvSpPr/>
          <p:nvPr/>
        </p:nvSpPr>
        <p:spPr>
          <a:xfrm>
            <a:off x="457200" y="3776472"/>
            <a:ext cx="8229600" cy="411480"/>
          </a:xfrm>
          <a:prstGeom prst="rect">
            <a:avLst/>
          </a:prstGeom>
          <a:solidFill>
            <a:srgbClr val="F5F5F5"/>
          </a:solidFill>
          <a:ln/>
        </p:spPr>
        <p:txBody>
          <a:bodyPr/>
          <a:lstStyle/>
          <a:p>
            <a:endParaRPr lang="nl-NL"/>
          </a:p>
        </p:txBody>
      </p:sp>
      <p:sp>
        <p:nvSpPr>
          <p:cNvPr id="67" name="Shape 64"/>
          <p:cNvSpPr/>
          <p:nvPr/>
        </p:nvSpPr>
        <p:spPr>
          <a:xfrm>
            <a:off x="457200" y="3776472"/>
            <a:ext cx="36576" cy="411480"/>
          </a:xfrm>
          <a:prstGeom prst="rect">
            <a:avLst/>
          </a:prstGeom>
          <a:solidFill>
            <a:srgbClr val="C0392B"/>
          </a:solidFill>
          <a:ln/>
        </p:spPr>
        <p:txBody>
          <a:bodyPr/>
          <a:lstStyle/>
          <a:p>
            <a:endParaRPr lang="nl-NL"/>
          </a:p>
        </p:txBody>
      </p:sp>
      <p:sp>
        <p:nvSpPr>
          <p:cNvPr id="68" name="Text 65"/>
          <p:cNvSpPr/>
          <p:nvPr/>
        </p:nvSpPr>
        <p:spPr>
          <a:xfrm>
            <a:off x="530352" y="3776472"/>
            <a:ext cx="1554480" cy="411480"/>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7. Closure</a:t>
            </a:r>
            <a:endParaRPr lang="en-US" sz="800" dirty="0"/>
          </a:p>
        </p:txBody>
      </p:sp>
      <p:sp>
        <p:nvSpPr>
          <p:cNvPr id="69" name="Text 66"/>
          <p:cNvSpPr/>
          <p:nvPr/>
        </p:nvSpPr>
        <p:spPr>
          <a:xfrm>
            <a:off x="2103120" y="3776472"/>
            <a:ext cx="36576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4</a:t>
            </a:r>
            <a:endParaRPr lang="en-US" sz="800" dirty="0"/>
          </a:p>
        </p:txBody>
      </p:sp>
      <p:sp>
        <p:nvSpPr>
          <p:cNvPr id="70" name="Text 67"/>
          <p:cNvSpPr/>
          <p:nvPr/>
        </p:nvSpPr>
        <p:spPr>
          <a:xfrm>
            <a:off x="2468880" y="3776472"/>
            <a:ext cx="457200" cy="41148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16h</a:t>
            </a:r>
            <a:endParaRPr lang="en-US" sz="800" dirty="0"/>
          </a:p>
        </p:txBody>
      </p:sp>
      <p:sp>
        <p:nvSpPr>
          <p:cNvPr id="71" name="Text 68"/>
          <p:cNvSpPr/>
          <p:nvPr/>
        </p:nvSpPr>
        <p:spPr>
          <a:xfrm>
            <a:off x="2926080" y="3776472"/>
            <a:ext cx="457200" cy="41148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8h</a:t>
            </a:r>
            <a:endParaRPr lang="en-US" sz="800" dirty="0"/>
          </a:p>
        </p:txBody>
      </p:sp>
      <p:sp>
        <p:nvSpPr>
          <p:cNvPr id="72" name="Text 69"/>
          <p:cNvSpPr/>
          <p:nvPr/>
        </p:nvSpPr>
        <p:spPr>
          <a:xfrm>
            <a:off x="3383280" y="3776472"/>
            <a:ext cx="457200" cy="411480"/>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50%</a:t>
            </a:r>
            <a:endParaRPr lang="en-US" sz="900" dirty="0"/>
          </a:p>
        </p:txBody>
      </p:sp>
      <p:sp>
        <p:nvSpPr>
          <p:cNvPr id="73" name="Text 70"/>
          <p:cNvSpPr/>
          <p:nvPr/>
        </p:nvSpPr>
        <p:spPr>
          <a:xfrm>
            <a:off x="3886200" y="3776472"/>
            <a:ext cx="4754880" cy="411480"/>
          </a:xfrm>
          <a:prstGeom prst="rect">
            <a:avLst/>
          </a:prstGeom>
          <a:noFill/>
          <a:ln/>
        </p:spPr>
        <p:txBody>
          <a:bodyPr wrap="square" lIns="0" tIns="0" rIns="0" bIns="0" rtlCol="0" anchor="ctr"/>
          <a:lstStyle/>
          <a:p>
            <a:pPr marL="0" indent="0">
              <a:lnSpc>
                <a:spcPct val="110000"/>
              </a:lnSpc>
              <a:buNone/>
            </a:pPr>
            <a:r>
              <a:rPr lang="en-US" sz="750" dirty="0">
                <a:solidFill>
                  <a:srgbClr val="333333"/>
                </a:solidFill>
                <a:latin typeface="Calibri" pitchFamily="34" charset="0"/>
                <a:ea typeface="Calibri" pitchFamily="34" charset="-122"/>
                <a:cs typeface="Calibri" pitchFamily="34" charset="-120"/>
              </a:rPr>
              <a:t>Documentation auto-compiles (67%). Projects actually close properly.</a:t>
            </a:r>
            <a:endParaRPr lang="en-US" sz="750" dirty="0"/>
          </a:p>
        </p:txBody>
      </p:sp>
      <p:sp>
        <p:nvSpPr>
          <p:cNvPr id="74" name="Shape 71"/>
          <p:cNvSpPr/>
          <p:nvPr/>
        </p:nvSpPr>
        <p:spPr>
          <a:xfrm>
            <a:off x="457200" y="4251960"/>
            <a:ext cx="8229600" cy="292608"/>
          </a:xfrm>
          <a:prstGeom prst="rect">
            <a:avLst/>
          </a:prstGeom>
          <a:solidFill>
            <a:srgbClr val="FFF8E1"/>
          </a:solidFill>
          <a:ln/>
        </p:spPr>
        <p:txBody>
          <a:bodyPr/>
          <a:lstStyle/>
          <a:p>
            <a:endParaRPr lang="nl-NL"/>
          </a:p>
        </p:txBody>
      </p:sp>
      <p:sp>
        <p:nvSpPr>
          <p:cNvPr id="75" name="Text 72"/>
          <p:cNvSpPr/>
          <p:nvPr/>
        </p:nvSpPr>
        <p:spPr>
          <a:xfrm>
            <a:off x="530352" y="4251960"/>
            <a:ext cx="1645920" cy="292608"/>
          </a:xfrm>
          <a:prstGeom prst="rect">
            <a:avLst/>
          </a:prstGeom>
          <a:noFill/>
          <a:ln/>
        </p:spPr>
        <p:txBody>
          <a:bodyPr wrap="square" lIns="0" tIns="0" rIns="0" bIns="0" rtlCol="0" anchor="ctr"/>
          <a:lstStyle/>
          <a:p>
            <a:pPr marL="0" indent="0">
              <a:buNone/>
            </a:pPr>
            <a:r>
              <a:rPr lang="en-US" sz="900" b="1" dirty="0">
                <a:solidFill>
                  <a:srgbClr val="F0AC00"/>
                </a:solidFill>
                <a:latin typeface="Calibri" pitchFamily="34" charset="0"/>
                <a:ea typeface="Calibri" pitchFamily="34" charset="-122"/>
                <a:cs typeface="Calibri" pitchFamily="34" charset="-120"/>
              </a:rPr>
              <a:t>TOTAL: 34 tasks</a:t>
            </a:r>
            <a:endParaRPr lang="en-US" sz="900" dirty="0"/>
          </a:p>
        </p:txBody>
      </p:sp>
      <p:sp>
        <p:nvSpPr>
          <p:cNvPr id="76" name="Text 73"/>
          <p:cNvSpPr/>
          <p:nvPr/>
        </p:nvSpPr>
        <p:spPr>
          <a:xfrm>
            <a:off x="2468880" y="4251960"/>
            <a:ext cx="457200" cy="292608"/>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252h</a:t>
            </a:r>
            <a:endParaRPr lang="en-US" sz="900" dirty="0"/>
          </a:p>
        </p:txBody>
      </p:sp>
      <p:sp>
        <p:nvSpPr>
          <p:cNvPr id="77" name="Text 74"/>
          <p:cNvSpPr/>
          <p:nvPr/>
        </p:nvSpPr>
        <p:spPr>
          <a:xfrm>
            <a:off x="2926080" y="4251960"/>
            <a:ext cx="457200" cy="292608"/>
          </a:xfrm>
          <a:prstGeom prst="rect">
            <a:avLst/>
          </a:prstGeom>
          <a:noFill/>
          <a:ln/>
        </p:spPr>
        <p:txBody>
          <a:bodyPr wrap="square" lIns="0" tIns="0" rIns="0" bIns="0" rtlCol="0" anchor="ctr"/>
          <a:lstStyle/>
          <a:p>
            <a:pPr marL="0" indent="0" algn="ctr">
              <a:buNone/>
            </a:pPr>
            <a:r>
              <a:rPr lang="en-US" sz="900" b="1" dirty="0">
                <a:solidFill>
                  <a:srgbClr val="27AE60"/>
                </a:solidFill>
                <a:latin typeface="Calibri" pitchFamily="34" charset="0"/>
                <a:ea typeface="Calibri" pitchFamily="34" charset="-122"/>
                <a:cs typeface="Calibri" pitchFamily="34" charset="-120"/>
              </a:rPr>
              <a:t>135.5h</a:t>
            </a:r>
            <a:endParaRPr lang="en-US" sz="900" dirty="0"/>
          </a:p>
        </p:txBody>
      </p:sp>
      <p:sp>
        <p:nvSpPr>
          <p:cNvPr id="78" name="Text 75"/>
          <p:cNvSpPr/>
          <p:nvPr/>
        </p:nvSpPr>
        <p:spPr>
          <a:xfrm>
            <a:off x="3383280" y="4251960"/>
            <a:ext cx="457200" cy="292608"/>
          </a:xfrm>
          <a:prstGeom prst="rect">
            <a:avLst/>
          </a:prstGeom>
          <a:noFill/>
          <a:ln/>
        </p:spPr>
        <p:txBody>
          <a:bodyPr wrap="square" lIns="0" tIns="0" rIns="0" bIns="0" rtlCol="0" anchor="ctr"/>
          <a:lstStyle/>
          <a:p>
            <a:pPr marL="0" indent="0" algn="ctr">
              <a:buNone/>
            </a:pPr>
            <a:r>
              <a:rPr lang="en-US" sz="1000" b="1" dirty="0">
                <a:solidFill>
                  <a:srgbClr val="F0AC00"/>
                </a:solidFill>
                <a:latin typeface="Calibri" pitchFamily="34" charset="0"/>
                <a:ea typeface="Calibri" pitchFamily="34" charset="-122"/>
                <a:cs typeface="Calibri" pitchFamily="34" charset="-120"/>
              </a:rPr>
              <a:t>46%</a:t>
            </a:r>
            <a:endParaRPr lang="en-US" sz="1000" dirty="0"/>
          </a:p>
        </p:txBody>
      </p:sp>
      <p:sp>
        <p:nvSpPr>
          <p:cNvPr id="79" name="Text 76"/>
          <p:cNvSpPr/>
          <p:nvPr/>
        </p:nvSpPr>
        <p:spPr>
          <a:xfrm>
            <a:off x="3886200" y="4251960"/>
            <a:ext cx="475488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27 freed hours per project — margin or reinvestment in new capability?</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14</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How we worked: process and iterations</a:t>
            </a:r>
            <a:endParaRPr lang="en-US" sz="2000" dirty="0"/>
          </a:p>
        </p:txBody>
      </p:sp>
      <p:sp>
        <p:nvSpPr>
          <p:cNvPr id="5" name="Shape 2"/>
          <p:cNvSpPr/>
          <p:nvPr/>
        </p:nvSpPr>
        <p:spPr>
          <a:xfrm>
            <a:off x="457200" y="777240"/>
            <a:ext cx="8229600" cy="274320"/>
          </a:xfrm>
          <a:prstGeom prst="rect">
            <a:avLst/>
          </a:prstGeom>
          <a:solidFill>
            <a:srgbClr val="FFF8E1"/>
          </a:solidFill>
          <a:ln/>
        </p:spPr>
        <p:txBody>
          <a:bodyPr/>
          <a:lstStyle/>
          <a:p>
            <a:endParaRPr lang="nl-NL"/>
          </a:p>
        </p:txBody>
      </p:sp>
      <p:sp>
        <p:nvSpPr>
          <p:cNvPr id="7" name="Shape 4"/>
          <p:cNvSpPr/>
          <p:nvPr/>
        </p:nvSpPr>
        <p:spPr>
          <a:xfrm>
            <a:off x="457200" y="1143000"/>
            <a:ext cx="1828800" cy="201168"/>
          </a:xfrm>
          <a:prstGeom prst="rect">
            <a:avLst/>
          </a:prstGeom>
          <a:solidFill>
            <a:srgbClr val="000000"/>
          </a:solidFill>
          <a:ln/>
        </p:spPr>
        <p:txBody>
          <a:bodyPr/>
          <a:lstStyle/>
          <a:p>
            <a:endParaRPr lang="nl-NL"/>
          </a:p>
        </p:txBody>
      </p:sp>
      <p:sp>
        <p:nvSpPr>
          <p:cNvPr id="8" name="Text 5"/>
          <p:cNvSpPr/>
          <p:nvPr/>
        </p:nvSpPr>
        <p:spPr>
          <a:xfrm>
            <a:off x="502920" y="1143000"/>
            <a:ext cx="1737360" cy="201168"/>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Deliverable</a:t>
            </a:r>
            <a:endParaRPr lang="en-US" sz="750" dirty="0"/>
          </a:p>
        </p:txBody>
      </p:sp>
      <p:sp>
        <p:nvSpPr>
          <p:cNvPr id="9" name="Shape 6"/>
          <p:cNvSpPr/>
          <p:nvPr/>
        </p:nvSpPr>
        <p:spPr>
          <a:xfrm>
            <a:off x="2286000" y="1143000"/>
            <a:ext cx="457200" cy="201168"/>
          </a:xfrm>
          <a:prstGeom prst="rect">
            <a:avLst/>
          </a:prstGeom>
          <a:solidFill>
            <a:srgbClr val="000000"/>
          </a:solidFill>
          <a:ln/>
        </p:spPr>
        <p:txBody>
          <a:bodyPr/>
          <a:lstStyle/>
          <a:p>
            <a:endParaRPr lang="nl-NL"/>
          </a:p>
        </p:txBody>
      </p:sp>
      <p:sp>
        <p:nvSpPr>
          <p:cNvPr id="10" name="Text 7"/>
          <p:cNvSpPr/>
          <p:nvPr/>
        </p:nvSpPr>
        <p:spPr>
          <a:xfrm>
            <a:off x="2331720" y="1143000"/>
            <a:ext cx="365760" cy="201168"/>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Iter</a:t>
            </a:r>
            <a:endParaRPr lang="en-US" sz="750" dirty="0"/>
          </a:p>
        </p:txBody>
      </p:sp>
      <p:sp>
        <p:nvSpPr>
          <p:cNvPr id="11" name="Shape 8"/>
          <p:cNvSpPr/>
          <p:nvPr/>
        </p:nvSpPr>
        <p:spPr>
          <a:xfrm>
            <a:off x="2743200" y="1143000"/>
            <a:ext cx="5943600" cy="201168"/>
          </a:xfrm>
          <a:prstGeom prst="rect">
            <a:avLst/>
          </a:prstGeom>
          <a:solidFill>
            <a:srgbClr val="000000"/>
          </a:solidFill>
          <a:ln/>
        </p:spPr>
        <p:txBody>
          <a:bodyPr/>
          <a:lstStyle/>
          <a:p>
            <a:endParaRPr lang="nl-NL"/>
          </a:p>
        </p:txBody>
      </p:sp>
      <p:sp>
        <p:nvSpPr>
          <p:cNvPr id="12" name="Text 9"/>
          <p:cNvSpPr/>
          <p:nvPr/>
        </p:nvSpPr>
        <p:spPr>
          <a:xfrm>
            <a:off x="2788920" y="1143000"/>
            <a:ext cx="5852160" cy="201168"/>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What happened</a:t>
            </a:r>
            <a:endParaRPr lang="en-US" sz="750" dirty="0"/>
          </a:p>
        </p:txBody>
      </p:sp>
      <p:sp>
        <p:nvSpPr>
          <p:cNvPr id="13" name="Shape 10"/>
          <p:cNvSpPr/>
          <p:nvPr/>
        </p:nvSpPr>
        <p:spPr>
          <a:xfrm>
            <a:off x="457200" y="1362456"/>
            <a:ext cx="8229600" cy="329184"/>
          </a:xfrm>
          <a:prstGeom prst="rect">
            <a:avLst/>
          </a:prstGeom>
          <a:solidFill>
            <a:srgbClr val="F5F5F5"/>
          </a:solidFill>
          <a:ln/>
        </p:spPr>
        <p:txBody>
          <a:bodyPr/>
          <a:lstStyle/>
          <a:p>
            <a:endParaRPr lang="nl-NL"/>
          </a:p>
        </p:txBody>
      </p:sp>
      <p:sp>
        <p:nvSpPr>
          <p:cNvPr id="14" name="Text 11"/>
          <p:cNvSpPr/>
          <p:nvPr/>
        </p:nvSpPr>
        <p:spPr>
          <a:xfrm>
            <a:off x="530352" y="1362456"/>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Scenario model</a:t>
            </a:r>
            <a:endParaRPr lang="en-US" sz="800" dirty="0"/>
          </a:p>
        </p:txBody>
      </p:sp>
      <p:sp>
        <p:nvSpPr>
          <p:cNvPr id="15" name="Text 12"/>
          <p:cNvSpPr/>
          <p:nvPr/>
        </p:nvSpPr>
        <p:spPr>
          <a:xfrm>
            <a:off x="2286000" y="1362456"/>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4</a:t>
            </a:r>
            <a:endParaRPr lang="en-US" sz="900" dirty="0"/>
          </a:p>
        </p:txBody>
      </p:sp>
      <p:sp>
        <p:nvSpPr>
          <p:cNvPr id="16" name="Text 13"/>
          <p:cNvSpPr/>
          <p:nvPr/>
        </p:nvSpPr>
        <p:spPr>
          <a:xfrm>
            <a:off x="2788920" y="1362456"/>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Started with demand × readiness (wrong). Reframed to speed × ambition. Tested against value-creation criteria. Final model drives all deliverables.</a:t>
            </a:r>
            <a:endParaRPr lang="en-US" sz="750" dirty="0"/>
          </a:p>
        </p:txBody>
      </p:sp>
      <p:sp>
        <p:nvSpPr>
          <p:cNvPr id="17" name="Shape 14"/>
          <p:cNvSpPr/>
          <p:nvPr/>
        </p:nvSpPr>
        <p:spPr>
          <a:xfrm>
            <a:off x="457200" y="1709928"/>
            <a:ext cx="8229600" cy="329184"/>
          </a:xfrm>
          <a:prstGeom prst="rect">
            <a:avLst/>
          </a:prstGeom>
          <a:solidFill>
            <a:srgbClr val="FFFFFF"/>
          </a:solidFill>
          <a:ln/>
        </p:spPr>
        <p:txBody>
          <a:bodyPr/>
          <a:lstStyle/>
          <a:p>
            <a:endParaRPr lang="nl-NL"/>
          </a:p>
        </p:txBody>
      </p:sp>
      <p:sp>
        <p:nvSpPr>
          <p:cNvPr id="18" name="Text 15"/>
          <p:cNvSpPr/>
          <p:nvPr/>
        </p:nvSpPr>
        <p:spPr>
          <a:xfrm>
            <a:off x="530352" y="1709928"/>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Efficiency analysis</a:t>
            </a:r>
            <a:endParaRPr lang="en-US" sz="800" dirty="0"/>
          </a:p>
        </p:txBody>
      </p:sp>
      <p:sp>
        <p:nvSpPr>
          <p:cNvPr id="19" name="Text 16"/>
          <p:cNvSpPr/>
          <p:nvPr/>
        </p:nvSpPr>
        <p:spPr>
          <a:xfrm>
            <a:off x="2286000" y="1709928"/>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3</a:t>
            </a:r>
            <a:endParaRPr lang="en-US" sz="900" dirty="0"/>
          </a:p>
        </p:txBody>
      </p:sp>
      <p:sp>
        <p:nvSpPr>
          <p:cNvPr id="20" name="Text 17"/>
          <p:cNvSpPr/>
          <p:nvPr/>
        </p:nvSpPr>
        <p:spPr>
          <a:xfrm>
            <a:off x="2788920" y="1709928"/>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BigOne OpEx (7 stages, 34 tasks, 252h). Hour estimates reviewed and corrected (SA: 90→20). Rebuilt: 135.5h = 46% compression.</a:t>
            </a:r>
            <a:endParaRPr lang="en-US" sz="750" dirty="0"/>
          </a:p>
        </p:txBody>
      </p:sp>
      <p:sp>
        <p:nvSpPr>
          <p:cNvPr id="21" name="Shape 18"/>
          <p:cNvSpPr/>
          <p:nvPr/>
        </p:nvSpPr>
        <p:spPr>
          <a:xfrm>
            <a:off x="457200" y="2057400"/>
            <a:ext cx="8229600" cy="329184"/>
          </a:xfrm>
          <a:prstGeom prst="rect">
            <a:avLst/>
          </a:prstGeom>
          <a:solidFill>
            <a:srgbClr val="F5F5F5"/>
          </a:solidFill>
          <a:ln/>
        </p:spPr>
        <p:txBody>
          <a:bodyPr/>
          <a:lstStyle/>
          <a:p>
            <a:endParaRPr lang="nl-NL"/>
          </a:p>
        </p:txBody>
      </p:sp>
      <p:sp>
        <p:nvSpPr>
          <p:cNvPr id="22" name="Text 19"/>
          <p:cNvSpPr/>
          <p:nvPr/>
        </p:nvSpPr>
        <p:spPr>
          <a:xfrm>
            <a:off x="530352" y="2057400"/>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Competitive landscape</a:t>
            </a:r>
            <a:endParaRPr lang="en-US" sz="800" dirty="0"/>
          </a:p>
        </p:txBody>
      </p:sp>
      <p:sp>
        <p:nvSpPr>
          <p:cNvPr id="23" name="Text 20"/>
          <p:cNvSpPr/>
          <p:nvPr/>
        </p:nvSpPr>
        <p:spPr>
          <a:xfrm>
            <a:off x="2286000" y="2057400"/>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2</a:t>
            </a:r>
            <a:endParaRPr lang="en-US" sz="900" dirty="0"/>
          </a:p>
        </p:txBody>
      </p:sp>
      <p:sp>
        <p:nvSpPr>
          <p:cNvPr id="24" name="Text 21"/>
          <p:cNvSpPr/>
          <p:nvPr/>
        </p:nvSpPr>
        <p:spPr>
          <a:xfrm>
            <a:off x="2788920" y="2057400"/>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Accenture, Walker, Ipsos, Kantar from public sources. Walker deep dive: 43% adoption claim unsubstantiated.</a:t>
            </a:r>
            <a:endParaRPr lang="en-US" sz="750" dirty="0"/>
          </a:p>
        </p:txBody>
      </p:sp>
      <p:sp>
        <p:nvSpPr>
          <p:cNvPr id="25" name="Shape 22"/>
          <p:cNvSpPr/>
          <p:nvPr/>
        </p:nvSpPr>
        <p:spPr>
          <a:xfrm>
            <a:off x="457200" y="2404872"/>
            <a:ext cx="8229600" cy="329184"/>
          </a:xfrm>
          <a:prstGeom prst="rect">
            <a:avLst/>
          </a:prstGeom>
          <a:solidFill>
            <a:srgbClr val="FFFFFF"/>
          </a:solidFill>
          <a:ln/>
        </p:spPr>
        <p:txBody>
          <a:bodyPr/>
          <a:lstStyle/>
          <a:p>
            <a:endParaRPr lang="nl-NL"/>
          </a:p>
        </p:txBody>
      </p:sp>
      <p:sp>
        <p:nvSpPr>
          <p:cNvPr id="26" name="Text 23"/>
          <p:cNvSpPr/>
          <p:nvPr/>
        </p:nvSpPr>
        <p:spPr>
          <a:xfrm>
            <a:off x="530352" y="2404872"/>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Investment case</a:t>
            </a:r>
            <a:endParaRPr lang="en-US" sz="800" dirty="0"/>
          </a:p>
        </p:txBody>
      </p:sp>
      <p:sp>
        <p:nvSpPr>
          <p:cNvPr id="27" name="Text 24"/>
          <p:cNvSpPr/>
          <p:nvPr/>
        </p:nvSpPr>
        <p:spPr>
          <a:xfrm>
            <a:off x="2286000" y="2404872"/>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2</a:t>
            </a:r>
            <a:endParaRPr lang="en-US" sz="900" dirty="0"/>
          </a:p>
        </p:txBody>
      </p:sp>
      <p:sp>
        <p:nvSpPr>
          <p:cNvPr id="28" name="Text 25"/>
          <p:cNvSpPr/>
          <p:nvPr/>
        </p:nvSpPr>
        <p:spPr>
          <a:xfrm>
            <a:off x="2788920" y="2404872"/>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Four scenarios S0–S3. S2 recommended. Stress-tested against Year 2+ costs.</a:t>
            </a:r>
            <a:endParaRPr lang="en-US" sz="750" dirty="0"/>
          </a:p>
        </p:txBody>
      </p:sp>
      <p:sp>
        <p:nvSpPr>
          <p:cNvPr id="29" name="Shape 26"/>
          <p:cNvSpPr/>
          <p:nvPr/>
        </p:nvSpPr>
        <p:spPr>
          <a:xfrm>
            <a:off x="457200" y="2752344"/>
            <a:ext cx="8229600" cy="329184"/>
          </a:xfrm>
          <a:prstGeom prst="rect">
            <a:avLst/>
          </a:prstGeom>
          <a:solidFill>
            <a:srgbClr val="F5F5F5"/>
          </a:solidFill>
          <a:ln/>
        </p:spPr>
        <p:txBody>
          <a:bodyPr/>
          <a:lstStyle/>
          <a:p>
            <a:endParaRPr lang="nl-NL"/>
          </a:p>
        </p:txBody>
      </p:sp>
      <p:sp>
        <p:nvSpPr>
          <p:cNvPr id="30" name="Text 27"/>
          <p:cNvSpPr/>
          <p:nvPr/>
        </p:nvSpPr>
        <p:spPr>
          <a:xfrm>
            <a:off x="530352" y="2752344"/>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Product portfolio</a:t>
            </a:r>
            <a:endParaRPr lang="en-US" sz="800" dirty="0"/>
          </a:p>
        </p:txBody>
      </p:sp>
      <p:sp>
        <p:nvSpPr>
          <p:cNvPr id="31" name="Text 28"/>
          <p:cNvSpPr/>
          <p:nvPr/>
        </p:nvSpPr>
        <p:spPr>
          <a:xfrm>
            <a:off x="2286000" y="2752344"/>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2</a:t>
            </a:r>
            <a:endParaRPr lang="en-US" sz="900" dirty="0"/>
          </a:p>
        </p:txBody>
      </p:sp>
      <p:sp>
        <p:nvSpPr>
          <p:cNvPr id="32" name="Text 29"/>
          <p:cNvSpPr/>
          <p:nvPr/>
        </p:nvSpPr>
        <p:spPr>
          <a:xfrm>
            <a:off x="2788920" y="2752344"/>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Existing packages mapped to AI-augmented delivery. Revenue protection validated within existing structure.</a:t>
            </a:r>
            <a:endParaRPr lang="en-US" sz="750" dirty="0"/>
          </a:p>
        </p:txBody>
      </p:sp>
      <p:sp>
        <p:nvSpPr>
          <p:cNvPr id="33" name="Shape 30"/>
          <p:cNvSpPr/>
          <p:nvPr/>
        </p:nvSpPr>
        <p:spPr>
          <a:xfrm>
            <a:off x="457200" y="3099816"/>
            <a:ext cx="8229600" cy="329184"/>
          </a:xfrm>
          <a:prstGeom prst="rect">
            <a:avLst/>
          </a:prstGeom>
          <a:solidFill>
            <a:srgbClr val="FFFFFF"/>
          </a:solidFill>
          <a:ln/>
        </p:spPr>
        <p:txBody>
          <a:bodyPr/>
          <a:lstStyle/>
          <a:p>
            <a:endParaRPr lang="nl-NL"/>
          </a:p>
        </p:txBody>
      </p:sp>
      <p:sp>
        <p:nvSpPr>
          <p:cNvPr id="34" name="Text 31"/>
          <p:cNvSpPr/>
          <p:nvPr/>
        </p:nvSpPr>
        <p:spPr>
          <a:xfrm>
            <a:off x="530352" y="3099816"/>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New product concepts</a:t>
            </a:r>
            <a:endParaRPr lang="en-US" sz="800" dirty="0"/>
          </a:p>
        </p:txBody>
      </p:sp>
      <p:sp>
        <p:nvSpPr>
          <p:cNvPr id="35" name="Text 32"/>
          <p:cNvSpPr/>
          <p:nvPr/>
        </p:nvSpPr>
        <p:spPr>
          <a:xfrm>
            <a:off x="2286000" y="3099816"/>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1</a:t>
            </a:r>
            <a:endParaRPr lang="en-US" sz="900" dirty="0"/>
          </a:p>
        </p:txBody>
      </p:sp>
      <p:sp>
        <p:nvSpPr>
          <p:cNvPr id="36" name="Text 33"/>
          <p:cNvSpPr/>
          <p:nvPr/>
        </p:nvSpPr>
        <p:spPr>
          <a:xfrm>
            <a:off x="2788920" y="3099816"/>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Six concepts generated. Concepts only — not validated.</a:t>
            </a:r>
            <a:endParaRPr lang="en-US" sz="750" dirty="0"/>
          </a:p>
        </p:txBody>
      </p:sp>
      <p:sp>
        <p:nvSpPr>
          <p:cNvPr id="37" name="Shape 34"/>
          <p:cNvSpPr/>
          <p:nvPr/>
        </p:nvSpPr>
        <p:spPr>
          <a:xfrm>
            <a:off x="457200" y="3447288"/>
            <a:ext cx="8229600" cy="329184"/>
          </a:xfrm>
          <a:prstGeom prst="rect">
            <a:avLst/>
          </a:prstGeom>
          <a:solidFill>
            <a:srgbClr val="F5F5F5"/>
          </a:solidFill>
          <a:ln/>
        </p:spPr>
        <p:txBody>
          <a:bodyPr/>
          <a:lstStyle/>
          <a:p>
            <a:endParaRPr lang="nl-NL"/>
          </a:p>
        </p:txBody>
      </p:sp>
      <p:sp>
        <p:nvSpPr>
          <p:cNvPr id="38" name="Text 35"/>
          <p:cNvSpPr/>
          <p:nvPr/>
        </p:nvSpPr>
        <p:spPr>
          <a:xfrm>
            <a:off x="530352" y="3447288"/>
            <a:ext cx="1719072" cy="329184"/>
          </a:xfrm>
          <a:prstGeom prst="rect">
            <a:avLst/>
          </a:prstGeom>
          <a:noFill/>
          <a:ln/>
        </p:spPr>
        <p:txBody>
          <a:bodyPr wrap="square" lIns="0" tIns="0" rIns="0" bIns="0" rtlCol="0" anchor="ctr"/>
          <a:lstStyle/>
          <a:p>
            <a:pPr marL="0" indent="0">
              <a:buNone/>
            </a:pPr>
            <a:r>
              <a:rPr lang="en-US" sz="800" b="1" dirty="0">
                <a:solidFill>
                  <a:srgbClr val="333333"/>
                </a:solidFill>
                <a:latin typeface="Calibri" pitchFamily="34" charset="0"/>
                <a:ea typeface="Calibri" pitchFamily="34" charset="-122"/>
                <a:cs typeface="Calibri" pitchFamily="34" charset="-120"/>
              </a:rPr>
              <a:t>Board materials</a:t>
            </a:r>
            <a:endParaRPr lang="en-US" sz="800" dirty="0"/>
          </a:p>
        </p:txBody>
      </p:sp>
      <p:sp>
        <p:nvSpPr>
          <p:cNvPr id="39" name="Text 36"/>
          <p:cNvSpPr/>
          <p:nvPr/>
        </p:nvSpPr>
        <p:spPr>
          <a:xfrm>
            <a:off x="2286000" y="3447288"/>
            <a:ext cx="457200" cy="329184"/>
          </a:xfrm>
          <a:prstGeom prst="rect">
            <a:avLst/>
          </a:prstGeom>
          <a:noFill/>
          <a:ln/>
        </p:spPr>
        <p:txBody>
          <a:bodyPr wrap="square" lIns="0" tIns="0" rIns="0" bIns="0" rtlCol="0" anchor="ctr"/>
          <a:lstStyle/>
          <a:p>
            <a:pPr marL="0" indent="0" algn="ctr">
              <a:buNone/>
            </a:pPr>
            <a:r>
              <a:rPr lang="en-US" sz="900" b="1" dirty="0">
                <a:solidFill>
                  <a:srgbClr val="F0AC00"/>
                </a:solidFill>
                <a:latin typeface="Calibri" pitchFamily="34" charset="0"/>
                <a:ea typeface="Calibri" pitchFamily="34" charset="-122"/>
                <a:cs typeface="Calibri" pitchFamily="34" charset="-120"/>
              </a:rPr>
              <a:t>3</a:t>
            </a:r>
            <a:endParaRPr lang="en-US" sz="900" dirty="0"/>
          </a:p>
        </p:txBody>
      </p:sp>
      <p:sp>
        <p:nvSpPr>
          <p:cNvPr id="40" name="Text 37"/>
          <p:cNvSpPr/>
          <p:nvPr/>
        </p:nvSpPr>
        <p:spPr>
          <a:xfrm>
            <a:off x="2788920" y="3447288"/>
            <a:ext cx="5852160" cy="329184"/>
          </a:xfrm>
          <a:prstGeom prst="rect">
            <a:avLst/>
          </a:prstGeom>
          <a:noFill/>
          <a:ln/>
        </p:spPr>
        <p:txBody>
          <a:bodyPr wrap="square" lIns="0" tIns="0" rIns="0" bIns="0" rtlCol="0" anchor="ctr"/>
          <a:lstStyle/>
          <a:p>
            <a:pPr marL="0" indent="0">
              <a:buNone/>
            </a:pPr>
            <a:r>
              <a:rPr lang="en-US" sz="750" dirty="0">
                <a:solidFill>
                  <a:srgbClr val="666666"/>
                </a:solidFill>
                <a:latin typeface="Calibri" pitchFamily="34" charset="0"/>
                <a:ea typeface="Calibri" pitchFamily="34" charset="-122"/>
                <a:cs typeface="Calibri" pitchFamily="34" charset="-120"/>
              </a:rPr>
              <a:t>v6 (19 slides, detailed), v7 (too thin), v8 (this deck). Plus Word summary and scenario modeller app.</a:t>
            </a:r>
            <a:endParaRPr lang="en-US" sz="750" dirty="0"/>
          </a:p>
        </p:txBody>
      </p:sp>
      <p:sp>
        <p:nvSpPr>
          <p:cNvPr id="41" name="Text 38"/>
          <p:cNvSpPr/>
          <p:nvPr/>
        </p:nvSpPr>
        <p:spPr>
          <a:xfrm>
            <a:off x="457200" y="3799962"/>
            <a:ext cx="8229600" cy="182880"/>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The constraints we worked under</a:t>
            </a:r>
            <a:endParaRPr lang="en-US" sz="800" dirty="0"/>
          </a:p>
        </p:txBody>
      </p:sp>
      <p:sp>
        <p:nvSpPr>
          <p:cNvPr id="42" name="Text 39"/>
          <p:cNvSpPr/>
          <p:nvPr/>
        </p:nvSpPr>
        <p:spPr>
          <a:xfrm>
            <a:off x="548640" y="4028562"/>
            <a:ext cx="8046720" cy="182880"/>
          </a:xfrm>
          <a:prstGeom prst="rect">
            <a:avLst/>
          </a:prstGeom>
          <a:noFill/>
          <a:ln/>
        </p:spPr>
        <p:txBody>
          <a:bodyPr wrap="square" lIns="0" tIns="0" rIns="0" bIns="0" rtlCol="0" anchor="t"/>
          <a:lstStyle/>
          <a:p>
            <a:pPr marL="0" indent="0">
              <a:buNone/>
            </a:pPr>
            <a:r>
              <a:rPr lang="en-US" sz="750" dirty="0">
                <a:solidFill>
                  <a:srgbClr val="333333"/>
                </a:solidFill>
                <a:latin typeface="Calibri" pitchFamily="34" charset="0"/>
                <a:ea typeface="Calibri" pitchFamily="34" charset="-122"/>
                <a:cs typeface="Calibri" pitchFamily="34" charset="-120"/>
              </a:rPr>
              <a:t>•  No one can predict how AI reshapes advisory in 18 months / we built a framework to decide, not a forecast to follow.</a:t>
            </a:r>
            <a:endParaRPr lang="en-US" sz="750" dirty="0"/>
          </a:p>
        </p:txBody>
      </p:sp>
      <p:sp>
        <p:nvSpPr>
          <p:cNvPr id="43" name="Text 40"/>
          <p:cNvSpPr/>
          <p:nvPr/>
        </p:nvSpPr>
        <p:spPr>
          <a:xfrm>
            <a:off x="548640" y="4229730"/>
            <a:ext cx="8046720" cy="182880"/>
          </a:xfrm>
          <a:prstGeom prst="rect">
            <a:avLst/>
          </a:prstGeom>
          <a:noFill/>
          <a:ln/>
        </p:spPr>
        <p:txBody>
          <a:bodyPr wrap="square" lIns="0" tIns="0" rIns="0" bIns="0" rtlCol="0" anchor="t"/>
          <a:lstStyle/>
          <a:p>
            <a:pPr marL="0" indent="0">
              <a:buNone/>
            </a:pPr>
            <a:r>
              <a:rPr lang="en-US" sz="750" dirty="0">
                <a:solidFill>
                  <a:srgbClr val="333333"/>
                </a:solidFill>
                <a:latin typeface="Calibri" pitchFamily="34" charset="0"/>
                <a:ea typeface="Calibri" pitchFamily="34" charset="-122"/>
                <a:cs typeface="Calibri" pitchFamily="34" charset="-120"/>
              </a:rPr>
              <a:t>•  All data from public sources / no primary research, no interviews with competitors or analysts.</a:t>
            </a:r>
            <a:endParaRPr lang="en-US" sz="750" dirty="0"/>
          </a:p>
        </p:txBody>
      </p:sp>
      <p:sp>
        <p:nvSpPr>
          <p:cNvPr id="44" name="Text 41"/>
          <p:cNvSpPr/>
          <p:nvPr/>
        </p:nvSpPr>
        <p:spPr>
          <a:xfrm>
            <a:off x="548640" y="4430898"/>
            <a:ext cx="8046720" cy="182880"/>
          </a:xfrm>
          <a:prstGeom prst="rect">
            <a:avLst/>
          </a:prstGeom>
          <a:noFill/>
          <a:ln/>
        </p:spPr>
        <p:txBody>
          <a:bodyPr wrap="square" lIns="0" tIns="0" rIns="0" bIns="0" rtlCol="0" anchor="t"/>
          <a:lstStyle/>
          <a:p>
            <a:pPr marL="0" indent="0">
              <a:buNone/>
            </a:pPr>
            <a:r>
              <a:rPr lang="en-US" sz="750" dirty="0">
                <a:solidFill>
                  <a:srgbClr val="333333"/>
                </a:solidFill>
                <a:latin typeface="Calibri" pitchFamily="34" charset="0"/>
                <a:ea typeface="Calibri" pitchFamily="34" charset="-122"/>
                <a:cs typeface="Calibri" pitchFamily="34" charset="-120"/>
              </a:rPr>
              <a:t>•  Very little published evidence of successful AI adoption inside small consultancies / navigating without a map.</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3460"/>
            <a:ext cx="3657600" cy="228600"/>
          </a:xfrm>
          <a:prstGeom prst="rect">
            <a:avLst/>
          </a:prstGeom>
          <a:noFill/>
          <a:ln/>
        </p:spPr>
        <p:txBody>
          <a:bodyPr wrap="square" lIns="0" tIns="0" rIns="0" bIns="0" rtlCol="0" anchor="ctr"/>
          <a:lstStyle/>
          <a:p>
            <a:pPr marL="0" indent="0">
              <a:buNone/>
            </a:pPr>
            <a:r>
              <a:rPr lang="en-US" sz="700" dirty="0">
                <a:solidFill>
                  <a:srgbClr val="999999"/>
                </a:solidFill>
                <a:latin typeface="Calibri" pitchFamily="34" charset="0"/>
                <a:ea typeface="Calibri" pitchFamily="34" charset="-122"/>
                <a:cs typeface="Calibri" pitchFamily="34" charset="-120"/>
              </a:rPr>
              <a:t>AKT Confidential &amp; Proprietary  |  15</a:t>
            </a:r>
            <a:endParaRPr lang="en-US" sz="700" dirty="0"/>
          </a:p>
        </p:txBody>
      </p:sp>
      <p:pic>
        <p:nvPicPr>
          <p:cNvPr id="3" name="Image 0" descr="preencoded.png"/>
          <p:cNvPicPr>
            <a:picLocks noChangeAspect="1"/>
          </p:cNvPicPr>
          <p:nvPr/>
        </p:nvPicPr>
        <p:blipFill>
          <a:blip r:embed="rId3"/>
          <a:stretch>
            <a:fillRect/>
          </a:stretch>
        </p:blipFill>
        <p:spPr>
          <a:xfrm>
            <a:off x="8092440" y="4777740"/>
            <a:ext cx="548640" cy="292608"/>
          </a:xfrm>
          <a:prstGeom prst="rect">
            <a:avLst/>
          </a:prstGeom>
        </p:spPr>
      </p:pic>
      <p:sp>
        <p:nvSpPr>
          <p:cNvPr id="4" name="Text 1"/>
          <p:cNvSpPr/>
          <p:nvPr/>
        </p:nvSpPr>
        <p:spPr>
          <a:xfrm>
            <a:off x="457200" y="320040"/>
            <a:ext cx="8229600" cy="411480"/>
          </a:xfrm>
          <a:prstGeom prst="rect">
            <a:avLst/>
          </a:prstGeom>
          <a:noFill/>
          <a:ln/>
        </p:spPr>
        <p:txBody>
          <a:bodyPr wrap="square" lIns="0" tIns="0" rIns="0" bIns="0"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Sources applied: full inventory</a:t>
            </a:r>
            <a:endParaRPr lang="en-US" sz="2000" dirty="0"/>
          </a:p>
        </p:txBody>
      </p:sp>
      <p:sp>
        <p:nvSpPr>
          <p:cNvPr id="5" name="Text 2"/>
          <p:cNvSpPr/>
          <p:nvPr/>
        </p:nvSpPr>
        <p:spPr>
          <a:xfrm>
            <a:off x="457200" y="622462"/>
            <a:ext cx="8229600" cy="2286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Every external and internal source used. No hidden inputs.</a:t>
            </a:r>
            <a:endParaRPr lang="en-US" sz="1100" dirty="0"/>
          </a:p>
        </p:txBody>
      </p:sp>
      <p:sp>
        <p:nvSpPr>
          <p:cNvPr id="6" name="Text 3"/>
          <p:cNvSpPr/>
          <p:nvPr/>
        </p:nvSpPr>
        <p:spPr>
          <a:xfrm>
            <a:off x="457200" y="868680"/>
            <a:ext cx="8229600" cy="182880"/>
          </a:xfrm>
          <a:prstGeom prst="rect">
            <a:avLst/>
          </a:prstGeom>
          <a:noFill/>
          <a:ln/>
        </p:spPr>
        <p:txBody>
          <a:bodyPr wrap="square" lIns="0" tIns="0" rIns="0" bIns="0" rtlCol="0" anchor="ctr"/>
          <a:lstStyle/>
          <a:p>
            <a:pPr marL="0" indent="0">
              <a:buNone/>
            </a:pPr>
            <a:r>
              <a:rPr lang="en-US" sz="900" b="1" dirty="0">
                <a:solidFill>
                  <a:srgbClr val="F0AC00"/>
                </a:solidFill>
                <a:latin typeface="Calibri" pitchFamily="34" charset="0"/>
                <a:ea typeface="Calibri" pitchFamily="34" charset="-122"/>
                <a:cs typeface="Calibri" pitchFamily="34" charset="-120"/>
              </a:rPr>
              <a:t>Market &amp; industry data</a:t>
            </a:r>
            <a:endParaRPr lang="en-US" sz="900" dirty="0"/>
          </a:p>
        </p:txBody>
      </p:sp>
      <p:sp>
        <p:nvSpPr>
          <p:cNvPr id="7" name="Shape 4"/>
          <p:cNvSpPr/>
          <p:nvPr/>
        </p:nvSpPr>
        <p:spPr>
          <a:xfrm>
            <a:off x="457200" y="1051560"/>
            <a:ext cx="8229600" cy="0"/>
          </a:xfrm>
          <a:prstGeom prst="line">
            <a:avLst/>
          </a:prstGeom>
          <a:noFill/>
          <a:ln w="12700">
            <a:solidFill>
              <a:srgbClr val="F0AC00"/>
            </a:solidFill>
            <a:prstDash val="solid"/>
          </a:ln>
        </p:spPr>
        <p:txBody>
          <a:bodyPr/>
          <a:lstStyle/>
          <a:p>
            <a:endParaRPr lang="nl-NL"/>
          </a:p>
        </p:txBody>
      </p:sp>
      <p:sp>
        <p:nvSpPr>
          <p:cNvPr id="8" name="Text 5"/>
          <p:cNvSpPr/>
          <p:nvPr/>
        </p:nvSpPr>
        <p:spPr>
          <a:xfrm>
            <a:off x="457200" y="108813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AI consulting: USD 11.07bn (2026), 26.2% CAGR — Grand View Research</a:t>
            </a:r>
            <a:endParaRPr lang="en-US" sz="700" dirty="0"/>
          </a:p>
        </p:txBody>
      </p:sp>
      <p:sp>
        <p:nvSpPr>
          <p:cNvPr id="9" name="Text 6"/>
          <p:cNvSpPr/>
          <p:nvPr/>
        </p:nvSpPr>
        <p:spPr>
          <a:xfrm>
            <a:off x="457200" y="1243584"/>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CX outsourcing: USD 106.72bn, 8.26% CAGR — Mordor Intelligence</a:t>
            </a:r>
            <a:endParaRPr lang="en-US" sz="700" dirty="0"/>
          </a:p>
        </p:txBody>
      </p:sp>
      <p:sp>
        <p:nvSpPr>
          <p:cNvPr id="10" name="Text 7"/>
          <p:cNvSpPr/>
          <p:nvPr/>
        </p:nvSpPr>
        <p:spPr>
          <a:xfrm>
            <a:off x="457200" y="1399032"/>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87% AI projects fail at scale — McKinsey/BCG composite</a:t>
            </a:r>
            <a:endParaRPr lang="en-US" sz="700" dirty="0"/>
          </a:p>
        </p:txBody>
      </p:sp>
      <p:sp>
        <p:nvSpPr>
          <p:cNvPr id="11" name="Text 8"/>
          <p:cNvSpPr/>
          <p:nvPr/>
        </p:nvSpPr>
        <p:spPr>
          <a:xfrm>
            <a:off x="4663440" y="108813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72% of XM investments fail to deliver financial impact — Qualtrics XM Institute</a:t>
            </a:r>
            <a:endParaRPr lang="en-US" sz="700" dirty="0"/>
          </a:p>
        </p:txBody>
      </p:sp>
      <p:sp>
        <p:nvSpPr>
          <p:cNvPr id="12" name="Text 9"/>
          <p:cNvSpPr/>
          <p:nvPr/>
        </p:nvSpPr>
        <p:spPr>
          <a:xfrm>
            <a:off x="4663440" y="1243584"/>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30–40% of departments take no action after CX data — Medallia, 2026</a:t>
            </a:r>
            <a:endParaRPr lang="en-US" sz="700" dirty="0"/>
          </a:p>
        </p:txBody>
      </p:sp>
      <p:sp>
        <p:nvSpPr>
          <p:cNvPr id="13" name="Text 10"/>
          <p:cNvSpPr/>
          <p:nvPr/>
        </p:nvSpPr>
        <p:spPr>
          <a:xfrm>
            <a:off x="4663440" y="1399032"/>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Companies closing loop in &lt;48h see 12% retention increase — Desk365</a:t>
            </a:r>
            <a:endParaRPr lang="en-US" sz="700" dirty="0"/>
          </a:p>
        </p:txBody>
      </p:sp>
      <p:sp>
        <p:nvSpPr>
          <p:cNvPr id="14" name="Text 11"/>
          <p:cNvSpPr/>
          <p:nvPr/>
        </p:nvSpPr>
        <p:spPr>
          <a:xfrm>
            <a:off x="457200" y="1645920"/>
            <a:ext cx="8229600" cy="182880"/>
          </a:xfrm>
          <a:prstGeom prst="rect">
            <a:avLst/>
          </a:prstGeom>
          <a:noFill/>
          <a:ln/>
        </p:spPr>
        <p:txBody>
          <a:bodyPr wrap="square" lIns="0" tIns="0" rIns="0" bIns="0" rtlCol="0" anchor="ctr"/>
          <a:lstStyle/>
          <a:p>
            <a:pPr marL="0" indent="0">
              <a:buNone/>
            </a:pPr>
            <a:r>
              <a:rPr lang="en-US" sz="900" b="1" dirty="0">
                <a:solidFill>
                  <a:srgbClr val="2980B9"/>
                </a:solidFill>
                <a:latin typeface="Calibri" pitchFamily="34" charset="0"/>
                <a:ea typeface="Calibri" pitchFamily="34" charset="-122"/>
                <a:cs typeface="Calibri" pitchFamily="34" charset="-120"/>
              </a:rPr>
              <a:t>Competitor intelligence</a:t>
            </a:r>
            <a:endParaRPr lang="en-US" sz="900" dirty="0"/>
          </a:p>
        </p:txBody>
      </p:sp>
      <p:sp>
        <p:nvSpPr>
          <p:cNvPr id="15" name="Shape 12"/>
          <p:cNvSpPr/>
          <p:nvPr/>
        </p:nvSpPr>
        <p:spPr>
          <a:xfrm>
            <a:off x="457200" y="1828800"/>
            <a:ext cx="8229600" cy="0"/>
          </a:xfrm>
          <a:prstGeom prst="line">
            <a:avLst/>
          </a:prstGeom>
          <a:noFill/>
          <a:ln w="12700">
            <a:solidFill>
              <a:srgbClr val="2980B9"/>
            </a:solidFill>
            <a:prstDash val="solid"/>
          </a:ln>
        </p:spPr>
        <p:txBody>
          <a:bodyPr/>
          <a:lstStyle/>
          <a:p>
            <a:endParaRPr lang="nl-NL"/>
          </a:p>
        </p:txBody>
      </p:sp>
      <p:sp>
        <p:nvSpPr>
          <p:cNvPr id="16" name="Text 13"/>
          <p:cNvSpPr/>
          <p:nvPr/>
        </p:nvSpPr>
        <p:spPr>
          <a:xfrm>
            <a:off x="457200" y="186537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Walker: walkerxm.com, Qualtrics partner page, LinkedIn, BusinessWire</a:t>
            </a:r>
            <a:endParaRPr lang="en-US" sz="700" dirty="0"/>
          </a:p>
        </p:txBody>
      </p:sp>
      <p:sp>
        <p:nvSpPr>
          <p:cNvPr id="17" name="Text 14"/>
          <p:cNvSpPr/>
          <p:nvPr/>
        </p:nvSpPr>
        <p:spPr>
          <a:xfrm>
            <a:off x="457200" y="2020824"/>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Accenture: FY2025 earnings ($5.9bn AI bookings), investor presentations</a:t>
            </a:r>
            <a:endParaRPr lang="en-US" sz="700" dirty="0"/>
          </a:p>
        </p:txBody>
      </p:sp>
      <p:sp>
        <p:nvSpPr>
          <p:cNvPr id="18" name="Text 15"/>
          <p:cNvSpPr/>
          <p:nvPr/>
        </p:nvSpPr>
        <p:spPr>
          <a:xfrm>
            <a:off x="4663440" y="186537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Ipsos: €1bn AI commitment, annual report, Marketplace product listings</a:t>
            </a:r>
            <a:endParaRPr lang="en-US" sz="700" dirty="0"/>
          </a:p>
        </p:txBody>
      </p:sp>
      <p:sp>
        <p:nvSpPr>
          <p:cNvPr id="19" name="Text 16"/>
          <p:cNvSpPr/>
          <p:nvPr/>
        </p:nvSpPr>
        <p:spPr>
          <a:xfrm>
            <a:off x="4663440" y="2020824"/>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Kantar: AI Lab announcement, public strategy communications</a:t>
            </a:r>
            <a:endParaRPr lang="en-US" sz="700" dirty="0"/>
          </a:p>
        </p:txBody>
      </p:sp>
      <p:sp>
        <p:nvSpPr>
          <p:cNvPr id="20" name="Text 17"/>
          <p:cNvSpPr/>
          <p:nvPr/>
        </p:nvSpPr>
        <p:spPr>
          <a:xfrm>
            <a:off x="457200" y="2267712"/>
            <a:ext cx="8229600" cy="182880"/>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Qualtrics platform &amp; partner</a:t>
            </a:r>
            <a:endParaRPr lang="en-US" sz="900" dirty="0"/>
          </a:p>
        </p:txBody>
      </p:sp>
      <p:sp>
        <p:nvSpPr>
          <p:cNvPr id="21" name="Shape 18"/>
          <p:cNvSpPr/>
          <p:nvPr/>
        </p:nvSpPr>
        <p:spPr>
          <a:xfrm>
            <a:off x="457200" y="2450592"/>
            <a:ext cx="8229600" cy="0"/>
          </a:xfrm>
          <a:prstGeom prst="line">
            <a:avLst/>
          </a:prstGeom>
          <a:noFill/>
          <a:ln w="12700">
            <a:solidFill>
              <a:srgbClr val="27AE60"/>
            </a:solidFill>
            <a:prstDash val="solid"/>
          </a:ln>
        </p:spPr>
        <p:txBody>
          <a:bodyPr/>
          <a:lstStyle/>
          <a:p>
            <a:endParaRPr lang="nl-NL"/>
          </a:p>
        </p:txBody>
      </p:sp>
      <p:sp>
        <p:nvSpPr>
          <p:cNvPr id="22" name="Text 19"/>
          <p:cNvSpPr/>
          <p:nvPr/>
        </p:nvSpPr>
        <p:spPr>
          <a:xfrm>
            <a:off x="457200" y="2487168"/>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Forrester X4 2025: Experience Agents, Conversational Feedback</a:t>
            </a:r>
            <a:endParaRPr lang="en-US" sz="700" dirty="0"/>
          </a:p>
        </p:txBody>
      </p:sp>
      <p:sp>
        <p:nvSpPr>
          <p:cNvPr id="23" name="Text 20"/>
          <p:cNvSpPr/>
          <p:nvPr/>
        </p:nvSpPr>
        <p:spPr>
          <a:xfrm>
            <a:off x="457200" y="264261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QPN restructure July 2025: two-track announcement, tiering</a:t>
            </a:r>
            <a:endParaRPr lang="en-US" sz="700" dirty="0"/>
          </a:p>
        </p:txBody>
      </p:sp>
      <p:sp>
        <p:nvSpPr>
          <p:cNvPr id="24" name="Text 21"/>
          <p:cNvSpPr/>
          <p:nvPr/>
        </p:nvSpPr>
        <p:spPr>
          <a:xfrm>
            <a:off x="4663440" y="2487168"/>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Global Partner Summit Seattle 2026 deck (AKT internal)</a:t>
            </a:r>
            <a:endParaRPr lang="en-US" sz="700" dirty="0"/>
          </a:p>
        </p:txBody>
      </p:sp>
      <p:sp>
        <p:nvSpPr>
          <p:cNvPr id="25" name="Text 22"/>
          <p:cNvSpPr/>
          <p:nvPr/>
        </p:nvSpPr>
        <p:spPr>
          <a:xfrm>
            <a:off x="4663440" y="264261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Qualtrics product release notes: XM Discover AI Suite, Qualtrics Assist</a:t>
            </a:r>
            <a:endParaRPr lang="en-US" sz="700" dirty="0"/>
          </a:p>
        </p:txBody>
      </p:sp>
      <p:sp>
        <p:nvSpPr>
          <p:cNvPr id="26" name="Text 23"/>
          <p:cNvSpPr/>
          <p:nvPr/>
        </p:nvSpPr>
        <p:spPr>
          <a:xfrm>
            <a:off x="457200" y="2889504"/>
            <a:ext cx="8229600" cy="182880"/>
          </a:xfrm>
          <a:prstGeom prst="rect">
            <a:avLst/>
          </a:prstGeom>
          <a:noFill/>
          <a:ln/>
        </p:spPr>
        <p:txBody>
          <a:bodyPr wrap="square" lIns="0" tIns="0" rIns="0" bIns="0" rtlCol="0" anchor="ctr"/>
          <a:lstStyle/>
          <a:p>
            <a:pPr marL="0" indent="0">
              <a:buNone/>
            </a:pPr>
            <a:r>
              <a:rPr lang="en-US" sz="900" b="1" dirty="0">
                <a:solidFill>
                  <a:srgbClr val="8E44AD"/>
                </a:solidFill>
                <a:latin typeface="Calibri" pitchFamily="34" charset="0"/>
                <a:ea typeface="Calibri" pitchFamily="34" charset="-122"/>
                <a:cs typeface="Calibri" pitchFamily="34" charset="-120"/>
              </a:rPr>
              <a:t>AKT internal data</a:t>
            </a:r>
            <a:endParaRPr lang="en-US" sz="900" dirty="0"/>
          </a:p>
        </p:txBody>
      </p:sp>
      <p:sp>
        <p:nvSpPr>
          <p:cNvPr id="27" name="Shape 24"/>
          <p:cNvSpPr/>
          <p:nvPr/>
        </p:nvSpPr>
        <p:spPr>
          <a:xfrm>
            <a:off x="457200" y="3072384"/>
            <a:ext cx="8229600" cy="0"/>
          </a:xfrm>
          <a:prstGeom prst="line">
            <a:avLst/>
          </a:prstGeom>
          <a:noFill/>
          <a:ln w="12700">
            <a:solidFill>
              <a:srgbClr val="8E44AD"/>
            </a:solidFill>
            <a:prstDash val="solid"/>
          </a:ln>
        </p:spPr>
        <p:txBody>
          <a:bodyPr/>
          <a:lstStyle/>
          <a:p>
            <a:endParaRPr lang="nl-NL"/>
          </a:p>
        </p:txBody>
      </p:sp>
      <p:sp>
        <p:nvSpPr>
          <p:cNvPr id="28" name="Text 25"/>
          <p:cNvSpPr/>
          <p:nvPr/>
        </p:nvSpPr>
        <p:spPr>
          <a:xfrm>
            <a:off x="457200" y="3108960"/>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BigOne OpEx Methodology: 7 stages, 9 roles, 34 tasks (internal PDF)</a:t>
            </a:r>
            <a:endParaRPr lang="en-US" sz="700" dirty="0"/>
          </a:p>
        </p:txBody>
      </p:sp>
      <p:sp>
        <p:nvSpPr>
          <p:cNvPr id="29" name="Text 26"/>
          <p:cNvSpPr/>
          <p:nvPr/>
        </p:nvSpPr>
        <p:spPr>
          <a:xfrm>
            <a:off x="457200" y="3264408"/>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AKT efficiency analysis spreadsheet: task-level AI impact</a:t>
            </a:r>
            <a:endParaRPr lang="en-US" sz="700" dirty="0"/>
          </a:p>
        </p:txBody>
      </p:sp>
      <p:sp>
        <p:nvSpPr>
          <p:cNvPr id="30" name="Text 27"/>
          <p:cNvSpPr/>
          <p:nvPr/>
        </p:nvSpPr>
        <p:spPr>
          <a:xfrm>
            <a:off x="457200" y="341985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Success packages, managed services, acceleration packages — specs &amp; pricing</a:t>
            </a:r>
            <a:endParaRPr lang="en-US" sz="700" dirty="0"/>
          </a:p>
        </p:txBody>
      </p:sp>
      <p:sp>
        <p:nvSpPr>
          <p:cNvPr id="31" name="Text 28"/>
          <p:cNvSpPr/>
          <p:nvPr/>
        </p:nvSpPr>
        <p:spPr>
          <a:xfrm>
            <a:off x="4663440" y="3108960"/>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Rate card: L0 €250/hr through L4 €90/hr</a:t>
            </a:r>
            <a:endParaRPr lang="en-US" sz="700" dirty="0"/>
          </a:p>
        </p:txBody>
      </p:sp>
      <p:sp>
        <p:nvSpPr>
          <p:cNvPr id="32" name="Text 29"/>
          <p:cNvSpPr/>
          <p:nvPr/>
        </p:nvSpPr>
        <p:spPr>
          <a:xfrm>
            <a:off x="4663440" y="3264408"/>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Client footprint: 90+ customers, 200+ programmes, 7 countries</a:t>
            </a:r>
            <a:endParaRPr lang="en-US" sz="700" dirty="0"/>
          </a:p>
        </p:txBody>
      </p:sp>
      <p:sp>
        <p:nvSpPr>
          <p:cNvPr id="33" name="Text 30"/>
          <p:cNvSpPr/>
          <p:nvPr/>
        </p:nvSpPr>
        <p:spPr>
          <a:xfrm>
            <a:off x="4663440" y="3419856"/>
            <a:ext cx="4023360" cy="146304"/>
          </a:xfrm>
          <a:prstGeom prst="rect">
            <a:avLst/>
          </a:prstGeom>
          <a:noFill/>
          <a:ln/>
        </p:spPr>
        <p:txBody>
          <a:bodyPr wrap="square" lIns="0" tIns="0" rIns="0" bIns="0" rtlCol="0" anchor="ctr"/>
          <a:lstStyle/>
          <a:p>
            <a:pPr marL="0" indent="0">
              <a:buNone/>
            </a:pPr>
            <a:r>
              <a:rPr lang="en-US" sz="700" dirty="0">
                <a:solidFill>
                  <a:srgbClr val="333333"/>
                </a:solidFill>
                <a:latin typeface="Calibri" pitchFamily="34" charset="0"/>
                <a:ea typeface="Calibri" pitchFamily="34" charset="-122"/>
                <a:cs typeface="Calibri" pitchFamily="34" charset="-120"/>
              </a:rPr>
              <a:t>•  Brussels Masterclass: Nov 2025, 21 participants, barriers/objectives</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What I learned and the value we need to create</a:t>
            </a:r>
          </a:p>
        </p:txBody>
      </p:sp>
      <p:sp>
        <p:nvSpPr>
          <p:cNvPr id="5" name="Shape 3"/>
          <p:cNvSpPr/>
          <p:nvPr/>
        </p:nvSpPr>
        <p:spPr>
          <a:xfrm>
            <a:off x="457200" y="960119"/>
            <a:ext cx="3886200" cy="3468757"/>
          </a:xfrm>
          <a:prstGeom prst="rect">
            <a:avLst/>
          </a:prstGeom>
          <a:solidFill>
            <a:srgbClr val="F7F7F7"/>
          </a:solidFill>
          <a:ln/>
        </p:spPr>
        <p:txBody>
          <a:bodyPr/>
          <a:lstStyle/>
          <a:p>
            <a:pPr algn="l"/>
            <a:endParaRPr lang="nl-NL">
              <a:latin typeface="Calibri" panose="020F0502020204030204" pitchFamily="34" charset="0"/>
              <a:cs typeface="Calibri" panose="020F0502020204030204" pitchFamily="34" charset="0"/>
            </a:endParaRPr>
          </a:p>
        </p:txBody>
      </p:sp>
      <p:sp>
        <p:nvSpPr>
          <p:cNvPr id="6" name="Text 4"/>
          <p:cNvSpPr/>
          <p:nvPr/>
        </p:nvSpPr>
        <p:spPr>
          <a:xfrm>
            <a:off x="594360" y="1005840"/>
            <a:ext cx="3611880" cy="201168"/>
          </a:xfrm>
          <a:prstGeom prst="rect">
            <a:avLst/>
          </a:prstGeom>
          <a:noFill/>
          <a:ln/>
        </p:spPr>
        <p:txBody>
          <a:bodyPr wrap="square" rtlCol="0" anchor="ctr"/>
          <a:lstStyle/>
          <a:p>
            <a:pPr marL="0" indent="0" algn="l">
              <a:buNone/>
            </a:pPr>
            <a:r>
              <a:rPr lang="en-US" sz="1300" b="1" dirty="0">
                <a:solidFill>
                  <a:srgbClr val="F0AC00"/>
                </a:solidFill>
                <a:latin typeface="Calibri" panose="020F0502020204030204" pitchFamily="34" charset="0"/>
                <a:ea typeface="Arial" pitchFamily="34" charset="-122"/>
                <a:cs typeface="Calibri" panose="020F0502020204030204" pitchFamily="34" charset="0"/>
              </a:rPr>
              <a:t>What I learned</a:t>
            </a:r>
            <a:endParaRPr lang="en-US" sz="1300" dirty="0">
              <a:latin typeface="Calibri" panose="020F0502020204030204" pitchFamily="34" charset="0"/>
              <a:cs typeface="Calibri" panose="020F0502020204030204" pitchFamily="34" charset="0"/>
            </a:endParaRPr>
          </a:p>
        </p:txBody>
      </p:sp>
      <p:sp>
        <p:nvSpPr>
          <p:cNvPr id="7" name="Text 5"/>
          <p:cNvSpPr/>
          <p:nvPr/>
        </p:nvSpPr>
        <p:spPr>
          <a:xfrm>
            <a:off x="594360" y="1261872"/>
            <a:ext cx="3611880" cy="128016"/>
          </a:xfrm>
          <a:prstGeom prst="rect">
            <a:avLst/>
          </a:prstGeom>
          <a:noFill/>
          <a:ln/>
        </p:spPr>
        <p:txBody>
          <a:bodyPr wrap="square" rtlCol="0" anchor="ctr"/>
          <a:lstStyle/>
          <a:p>
            <a:pPr marL="0" indent="0" algn="l">
              <a:buNone/>
            </a:pPr>
            <a:r>
              <a:rPr lang="en-US" sz="850" b="1" dirty="0">
                <a:solidFill>
                  <a:srgbClr val="333333"/>
                </a:solidFill>
                <a:latin typeface="Calibri" panose="020F0502020204030204" pitchFamily="34" charset="0"/>
                <a:ea typeface="Arial" pitchFamily="34" charset="-122"/>
                <a:cs typeface="Calibri" panose="020F0502020204030204" pitchFamily="34" charset="0"/>
              </a:rPr>
              <a:t>The project factory is about to become obsolete</a:t>
            </a:r>
            <a:endParaRPr lang="en-US" sz="850" dirty="0">
              <a:latin typeface="Calibri" panose="020F0502020204030204" pitchFamily="34" charset="0"/>
              <a:cs typeface="Calibri" panose="020F0502020204030204" pitchFamily="34" charset="0"/>
            </a:endParaRPr>
          </a:p>
        </p:txBody>
      </p:sp>
      <p:sp>
        <p:nvSpPr>
          <p:cNvPr id="8" name="Text 6"/>
          <p:cNvSpPr/>
          <p:nvPr/>
        </p:nvSpPr>
        <p:spPr>
          <a:xfrm>
            <a:off x="594360" y="1399032"/>
            <a:ext cx="3611880" cy="475488"/>
          </a:xfrm>
          <a:prstGeom prst="rect">
            <a:avLst/>
          </a:prstGeom>
          <a:noFill/>
          <a:ln/>
        </p:spPr>
        <p:txBody>
          <a:bodyPr wrap="square" rtlCol="0" anchor="ctr"/>
          <a:lstStyle/>
          <a:p>
            <a:pPr marL="0" indent="0" algn="l">
              <a:lnSpc>
                <a:spcPct val="110000"/>
              </a:lnSpc>
              <a:buNone/>
            </a:pPr>
            <a:r>
              <a:rPr lang="en-US" sz="700" dirty="0">
                <a:solidFill>
                  <a:srgbClr val="333333"/>
                </a:solidFill>
                <a:latin typeface="Calibri" panose="020F0502020204030204" pitchFamily="34" charset="0"/>
                <a:ea typeface="Arial" pitchFamily="34" charset="-122"/>
                <a:cs typeface="Calibri" panose="020F0502020204030204" pitchFamily="34" charset="0"/>
              </a:rPr>
              <a:t>Clients are already building their own AI platforms. L'Oréal let agencies go at the click of a button. If our value is 'we configure Qualtrics,' that value is evaporating. This isn't a 5-year risk,  it's an 18-month reality.</a:t>
            </a:r>
            <a:endParaRPr lang="en-US" sz="700" dirty="0">
              <a:latin typeface="Calibri" panose="020F0502020204030204" pitchFamily="34" charset="0"/>
              <a:cs typeface="Calibri" panose="020F0502020204030204" pitchFamily="34" charset="0"/>
            </a:endParaRPr>
          </a:p>
        </p:txBody>
      </p:sp>
      <p:sp>
        <p:nvSpPr>
          <p:cNvPr id="9" name="Text 7"/>
          <p:cNvSpPr/>
          <p:nvPr/>
        </p:nvSpPr>
        <p:spPr>
          <a:xfrm>
            <a:off x="594360" y="1883664"/>
            <a:ext cx="3611880" cy="128016"/>
          </a:xfrm>
          <a:prstGeom prst="rect">
            <a:avLst/>
          </a:prstGeom>
          <a:noFill/>
          <a:ln/>
        </p:spPr>
        <p:txBody>
          <a:bodyPr wrap="square" rtlCol="0" anchor="ctr"/>
          <a:lstStyle/>
          <a:p>
            <a:pPr marL="0" indent="0" algn="l">
              <a:buNone/>
            </a:pPr>
            <a:r>
              <a:rPr lang="en-US" sz="850" b="1" dirty="0">
                <a:solidFill>
                  <a:srgbClr val="333333"/>
                </a:solidFill>
                <a:latin typeface="Calibri" panose="020F0502020204030204" pitchFamily="34" charset="0"/>
                <a:ea typeface="Arial" pitchFamily="34" charset="-122"/>
                <a:cs typeface="Calibri" panose="020F0502020204030204" pitchFamily="34" charset="0"/>
              </a:rPr>
              <a:t>Efficiency gains without new value destroy revenue</a:t>
            </a:r>
            <a:endParaRPr lang="en-US" sz="850" dirty="0">
              <a:latin typeface="Calibri" panose="020F0502020204030204" pitchFamily="34" charset="0"/>
              <a:cs typeface="Calibri" panose="020F0502020204030204" pitchFamily="34" charset="0"/>
            </a:endParaRPr>
          </a:p>
        </p:txBody>
      </p:sp>
      <p:sp>
        <p:nvSpPr>
          <p:cNvPr id="10" name="Text 8"/>
          <p:cNvSpPr/>
          <p:nvPr/>
        </p:nvSpPr>
        <p:spPr>
          <a:xfrm>
            <a:off x="594360" y="1981069"/>
            <a:ext cx="3611880" cy="475488"/>
          </a:xfrm>
          <a:prstGeom prst="rect">
            <a:avLst/>
          </a:prstGeom>
          <a:noFill/>
          <a:ln/>
        </p:spPr>
        <p:txBody>
          <a:bodyPr wrap="square" rtlCol="0" anchor="ctr"/>
          <a:lstStyle/>
          <a:p>
            <a:pPr marL="0" indent="0" algn="l">
              <a:lnSpc>
                <a:spcPct val="110000"/>
              </a:lnSpc>
              <a:buNone/>
            </a:pPr>
            <a:r>
              <a:rPr lang="en-US" sz="700" dirty="0">
                <a:solidFill>
                  <a:srgbClr val="333333"/>
                </a:solidFill>
                <a:latin typeface="Calibri" panose="020F0502020204030204" pitchFamily="34" charset="0"/>
                <a:ea typeface="Arial" pitchFamily="34" charset="-122"/>
                <a:cs typeface="Calibri" panose="020F0502020204030204" pitchFamily="34" charset="0"/>
              </a:rPr>
              <a:t>If we compress delivery by 35% but keep billing hourly, clients will renegotiate. Research across industries shows this leads to revenue decline, not growth. The efficiency is necessary but it's a foundation, not a strategy. The strategy is what we do with the freed capacity.</a:t>
            </a:r>
            <a:endParaRPr lang="en-US" sz="700" dirty="0">
              <a:latin typeface="Calibri" panose="020F0502020204030204" pitchFamily="34" charset="0"/>
              <a:cs typeface="Calibri" panose="020F0502020204030204" pitchFamily="34" charset="0"/>
            </a:endParaRPr>
          </a:p>
        </p:txBody>
      </p:sp>
      <p:sp>
        <p:nvSpPr>
          <p:cNvPr id="11" name="Text 9"/>
          <p:cNvSpPr/>
          <p:nvPr/>
        </p:nvSpPr>
        <p:spPr>
          <a:xfrm>
            <a:off x="594360" y="2505456"/>
            <a:ext cx="3611880" cy="128016"/>
          </a:xfrm>
          <a:prstGeom prst="rect">
            <a:avLst/>
          </a:prstGeom>
          <a:noFill/>
          <a:ln/>
        </p:spPr>
        <p:txBody>
          <a:bodyPr wrap="square" rtlCol="0" anchor="ctr"/>
          <a:lstStyle/>
          <a:p>
            <a:pPr marL="0" indent="0" algn="l">
              <a:buNone/>
            </a:pPr>
            <a:r>
              <a:rPr lang="en-US" sz="850" b="1" dirty="0">
                <a:solidFill>
                  <a:srgbClr val="333333"/>
                </a:solidFill>
                <a:latin typeface="Calibri" panose="020F0502020204030204" pitchFamily="34" charset="0"/>
                <a:ea typeface="Arial" pitchFamily="34" charset="-122"/>
                <a:cs typeface="Calibri" panose="020F0502020204030204" pitchFamily="34" charset="0"/>
              </a:rPr>
              <a:t>Our advisory DNA is our diamond  but only if we activate it</a:t>
            </a:r>
            <a:endParaRPr lang="en-US" sz="850" dirty="0">
              <a:latin typeface="Calibri" panose="020F0502020204030204" pitchFamily="34" charset="0"/>
              <a:cs typeface="Calibri" panose="020F0502020204030204" pitchFamily="34" charset="0"/>
            </a:endParaRPr>
          </a:p>
        </p:txBody>
      </p:sp>
      <p:sp>
        <p:nvSpPr>
          <p:cNvPr id="12" name="Text 10"/>
          <p:cNvSpPr/>
          <p:nvPr/>
        </p:nvSpPr>
        <p:spPr>
          <a:xfrm>
            <a:off x="594360" y="2642616"/>
            <a:ext cx="3611880" cy="475488"/>
          </a:xfrm>
          <a:prstGeom prst="rect">
            <a:avLst/>
          </a:prstGeom>
          <a:noFill/>
          <a:ln/>
        </p:spPr>
        <p:txBody>
          <a:bodyPr wrap="square" rtlCol="0" anchor="ctr"/>
          <a:lstStyle/>
          <a:p>
            <a:pPr marL="0" indent="0" algn="l">
              <a:lnSpc>
                <a:spcPct val="110000"/>
              </a:lnSpc>
              <a:buNone/>
            </a:pPr>
            <a:r>
              <a:rPr lang="en-US" sz="700" dirty="0">
                <a:solidFill>
                  <a:srgbClr val="333333"/>
                </a:solidFill>
                <a:latin typeface="Calibri" panose="020F0502020204030204" pitchFamily="34" charset="0"/>
                <a:ea typeface="Arial" pitchFamily="34" charset="-122"/>
                <a:cs typeface="Calibri" panose="020F0502020204030204" pitchFamily="34" charset="0"/>
              </a:rPr>
              <a:t>A finding alone doesn't tell a story. An insight is a finding plus </a:t>
            </a:r>
            <a:r>
              <a:rPr lang="en-US" sz="700" dirty="0" err="1">
                <a:solidFill>
                  <a:srgbClr val="333333"/>
                </a:solidFill>
                <a:latin typeface="Calibri" panose="020F0502020204030204" pitchFamily="34" charset="0"/>
                <a:ea typeface="Arial" pitchFamily="34" charset="-122"/>
                <a:cs typeface="Calibri" panose="020F0502020204030204" pitchFamily="34" charset="0"/>
              </a:rPr>
              <a:t>context.That</a:t>
            </a:r>
            <a:r>
              <a:rPr lang="en-US" sz="700" dirty="0">
                <a:solidFill>
                  <a:srgbClr val="333333"/>
                </a:solidFill>
                <a:latin typeface="Calibri" panose="020F0502020204030204" pitchFamily="34" charset="0"/>
                <a:ea typeface="Arial" pitchFamily="34" charset="-122"/>
                <a:cs typeface="Calibri" panose="020F0502020204030204" pitchFamily="34" charset="0"/>
              </a:rPr>
              <a:t> judgment can't be automated. But right now we're spending too much time on production and not enough on applying that judgment.</a:t>
            </a:r>
            <a:endParaRPr lang="en-US" sz="700" dirty="0">
              <a:latin typeface="Calibri" panose="020F0502020204030204" pitchFamily="34" charset="0"/>
              <a:cs typeface="Calibri" panose="020F0502020204030204" pitchFamily="34" charset="0"/>
            </a:endParaRPr>
          </a:p>
        </p:txBody>
      </p:sp>
      <p:sp>
        <p:nvSpPr>
          <p:cNvPr id="13" name="Text 11"/>
          <p:cNvSpPr/>
          <p:nvPr/>
        </p:nvSpPr>
        <p:spPr>
          <a:xfrm>
            <a:off x="594360" y="3127248"/>
            <a:ext cx="3611880" cy="128016"/>
          </a:xfrm>
          <a:prstGeom prst="rect">
            <a:avLst/>
          </a:prstGeom>
          <a:noFill/>
          <a:ln/>
        </p:spPr>
        <p:txBody>
          <a:bodyPr wrap="square" rtlCol="0" anchor="ctr"/>
          <a:lstStyle/>
          <a:p>
            <a:pPr marL="0" indent="0" algn="l">
              <a:buNone/>
            </a:pPr>
            <a:r>
              <a:rPr lang="en-US" sz="850" b="1" dirty="0">
                <a:solidFill>
                  <a:srgbClr val="333333"/>
                </a:solidFill>
                <a:latin typeface="Calibri" panose="020F0502020204030204" pitchFamily="34" charset="0"/>
                <a:ea typeface="Arial" pitchFamily="34" charset="-122"/>
                <a:cs typeface="Calibri" panose="020F0502020204030204" pitchFamily="34" charset="0"/>
              </a:rPr>
              <a:t>Proving outcomes is where the premium sits</a:t>
            </a:r>
            <a:endParaRPr lang="en-US" sz="850" dirty="0">
              <a:latin typeface="Calibri" panose="020F0502020204030204" pitchFamily="34" charset="0"/>
              <a:cs typeface="Calibri" panose="020F0502020204030204" pitchFamily="34" charset="0"/>
            </a:endParaRPr>
          </a:p>
        </p:txBody>
      </p:sp>
      <p:sp>
        <p:nvSpPr>
          <p:cNvPr id="14" name="Text 12"/>
          <p:cNvSpPr/>
          <p:nvPr/>
        </p:nvSpPr>
        <p:spPr>
          <a:xfrm>
            <a:off x="594360" y="3216702"/>
            <a:ext cx="3611880" cy="475488"/>
          </a:xfrm>
          <a:prstGeom prst="rect">
            <a:avLst/>
          </a:prstGeom>
          <a:noFill/>
          <a:ln/>
        </p:spPr>
        <p:txBody>
          <a:bodyPr wrap="square" rtlCol="0" anchor="ctr"/>
          <a:lstStyle/>
          <a:p>
            <a:pPr marL="0" indent="0" algn="l">
              <a:lnSpc>
                <a:spcPct val="110000"/>
              </a:lnSpc>
              <a:buNone/>
            </a:pPr>
            <a:r>
              <a:rPr lang="en-US" sz="700" dirty="0">
                <a:solidFill>
                  <a:srgbClr val="333333"/>
                </a:solidFill>
                <a:latin typeface="Calibri" panose="020F0502020204030204" pitchFamily="34" charset="0"/>
                <a:ea typeface="Arial" pitchFamily="34" charset="-122"/>
                <a:cs typeface="Calibri" panose="020F0502020204030204" pitchFamily="34" charset="0"/>
              </a:rPr>
              <a:t>Clients don't want faster reports — they want evidence that something changed. CMX™ gives us the ability to measure whether AI-generated insights actually led to new behaviour. That's what outcome-based pricing is built on: not hours consumed, but change delivered.</a:t>
            </a:r>
            <a:endParaRPr lang="en-US" sz="700" dirty="0">
              <a:latin typeface="Calibri" panose="020F0502020204030204" pitchFamily="34" charset="0"/>
              <a:cs typeface="Calibri" panose="020F0502020204030204" pitchFamily="34" charset="0"/>
            </a:endParaRPr>
          </a:p>
        </p:txBody>
      </p:sp>
      <p:sp>
        <p:nvSpPr>
          <p:cNvPr id="15" name="Text 13"/>
          <p:cNvSpPr/>
          <p:nvPr/>
        </p:nvSpPr>
        <p:spPr>
          <a:xfrm>
            <a:off x="594360" y="3749040"/>
            <a:ext cx="3611880" cy="128016"/>
          </a:xfrm>
          <a:prstGeom prst="rect">
            <a:avLst/>
          </a:prstGeom>
          <a:noFill/>
          <a:ln/>
        </p:spPr>
        <p:txBody>
          <a:bodyPr wrap="square" rtlCol="0" anchor="ctr"/>
          <a:lstStyle/>
          <a:p>
            <a:pPr marL="0" indent="0" algn="l">
              <a:buNone/>
            </a:pPr>
            <a:r>
              <a:rPr lang="en-US" sz="850" b="1" dirty="0">
                <a:solidFill>
                  <a:srgbClr val="333333"/>
                </a:solidFill>
                <a:latin typeface="Calibri" panose="020F0502020204030204" pitchFamily="34" charset="0"/>
                <a:ea typeface="Arial" pitchFamily="34" charset="-122"/>
                <a:cs typeface="Calibri" panose="020F0502020204030204" pitchFamily="34" charset="0"/>
              </a:rPr>
              <a:t>87% of AI transformations fail — and we're not immune</a:t>
            </a:r>
            <a:endParaRPr lang="en-US" sz="850" dirty="0">
              <a:latin typeface="Calibri" panose="020F0502020204030204" pitchFamily="34" charset="0"/>
              <a:cs typeface="Calibri" panose="020F0502020204030204" pitchFamily="34" charset="0"/>
            </a:endParaRPr>
          </a:p>
        </p:txBody>
      </p:sp>
      <p:sp>
        <p:nvSpPr>
          <p:cNvPr id="16" name="Text 14"/>
          <p:cNvSpPr/>
          <p:nvPr/>
        </p:nvSpPr>
        <p:spPr>
          <a:xfrm>
            <a:off x="594360" y="3886200"/>
            <a:ext cx="3611880" cy="475488"/>
          </a:xfrm>
          <a:prstGeom prst="rect">
            <a:avLst/>
          </a:prstGeom>
          <a:noFill/>
          <a:ln/>
        </p:spPr>
        <p:txBody>
          <a:bodyPr wrap="square" rtlCol="0" anchor="ctr"/>
          <a:lstStyle/>
          <a:p>
            <a:pPr marL="0" indent="0" algn="l">
              <a:lnSpc>
                <a:spcPct val="110000"/>
              </a:lnSpc>
              <a:buNone/>
            </a:pPr>
            <a:r>
              <a:rPr lang="en-US" sz="700" dirty="0">
                <a:solidFill>
                  <a:srgbClr val="333333"/>
                </a:solidFill>
                <a:latin typeface="Calibri" panose="020F0502020204030204" pitchFamily="34" charset="0"/>
                <a:ea typeface="Arial" pitchFamily="34" charset="-122"/>
                <a:cs typeface="Calibri" panose="020F0502020204030204" pitchFamily="34" charset="0"/>
              </a:rPr>
              <a:t>The failures aren't technology failures. They're sequencing failures: too much, too fast, without governance or psychological safety. With 50 people and no buffer, we have to get the order right. Our size is an advantage - we can move fast - but only if we don't try to move in every direction at once.</a:t>
            </a:r>
            <a:endParaRPr lang="en-US" sz="700" dirty="0">
              <a:latin typeface="Calibri" panose="020F0502020204030204" pitchFamily="34" charset="0"/>
              <a:cs typeface="Calibri" panose="020F0502020204030204" pitchFamily="34" charset="0"/>
            </a:endParaRPr>
          </a:p>
        </p:txBody>
      </p:sp>
      <p:sp>
        <p:nvSpPr>
          <p:cNvPr id="17" name="Shape 15"/>
          <p:cNvSpPr/>
          <p:nvPr/>
        </p:nvSpPr>
        <p:spPr>
          <a:xfrm>
            <a:off x="4800600" y="960120"/>
            <a:ext cx="3886200" cy="3468756"/>
          </a:xfrm>
          <a:prstGeom prst="rect">
            <a:avLst/>
          </a:prstGeom>
          <a:solidFill>
            <a:srgbClr val="F0FFF0"/>
          </a:solidFill>
          <a:ln/>
        </p:spPr>
        <p:txBody>
          <a:bodyPr/>
          <a:lstStyle/>
          <a:p>
            <a:pPr algn="l"/>
            <a:endParaRPr lang="nl-NL">
              <a:latin typeface="Calibri" panose="020F0502020204030204" pitchFamily="34" charset="0"/>
              <a:cs typeface="Calibri" panose="020F0502020204030204" pitchFamily="34" charset="0"/>
            </a:endParaRPr>
          </a:p>
        </p:txBody>
      </p:sp>
      <p:sp>
        <p:nvSpPr>
          <p:cNvPr id="18" name="Text 16"/>
          <p:cNvSpPr/>
          <p:nvPr/>
        </p:nvSpPr>
        <p:spPr>
          <a:xfrm>
            <a:off x="4937760" y="1005840"/>
            <a:ext cx="3611880" cy="201168"/>
          </a:xfrm>
          <a:prstGeom prst="rect">
            <a:avLst/>
          </a:prstGeom>
          <a:noFill/>
          <a:ln/>
        </p:spPr>
        <p:txBody>
          <a:bodyPr wrap="square" rtlCol="0" anchor="ctr"/>
          <a:lstStyle/>
          <a:p>
            <a:pPr marL="0" indent="0" algn="l">
              <a:buNone/>
            </a:pPr>
            <a:r>
              <a:rPr lang="en-US" sz="1300" b="1" dirty="0">
                <a:solidFill>
                  <a:srgbClr val="F0AC00"/>
                </a:solidFill>
                <a:latin typeface="Calibri" panose="020F0502020204030204" pitchFamily="34" charset="0"/>
                <a:ea typeface="Arial" pitchFamily="34" charset="-122"/>
                <a:cs typeface="Calibri" panose="020F0502020204030204" pitchFamily="34" charset="0"/>
              </a:rPr>
              <a:t>The value we need to create</a:t>
            </a:r>
            <a:endParaRPr lang="en-US" sz="1300" dirty="0">
              <a:latin typeface="Calibri" panose="020F0502020204030204" pitchFamily="34" charset="0"/>
              <a:cs typeface="Calibri" panose="020F0502020204030204" pitchFamily="34" charset="0"/>
            </a:endParaRPr>
          </a:p>
        </p:txBody>
      </p:sp>
      <p:sp>
        <p:nvSpPr>
          <p:cNvPr id="19" name="Text 17"/>
          <p:cNvSpPr/>
          <p:nvPr/>
        </p:nvSpPr>
        <p:spPr>
          <a:xfrm>
            <a:off x="4937760" y="1261872"/>
            <a:ext cx="3611880" cy="146304"/>
          </a:xfrm>
          <a:prstGeom prst="rect">
            <a:avLst/>
          </a:prstGeom>
          <a:noFill/>
          <a:ln/>
        </p:spPr>
        <p:txBody>
          <a:bodyPr wrap="square" rtlCol="0" anchor="ctr"/>
          <a:lstStyle/>
          <a:p>
            <a:pPr marL="0" indent="0" algn="l">
              <a:buNone/>
            </a:pPr>
            <a:r>
              <a:rPr lang="en-US" sz="900" b="1" dirty="0">
                <a:solidFill>
                  <a:srgbClr val="27AE60"/>
                </a:solidFill>
                <a:latin typeface="Calibri" panose="020F0502020204030204" pitchFamily="34" charset="0"/>
                <a:ea typeface="Arial" pitchFamily="34" charset="-122"/>
                <a:cs typeface="Calibri" panose="020F0502020204030204" pitchFamily="34" charset="0"/>
              </a:rPr>
              <a:t>For clients</a:t>
            </a:r>
            <a:endParaRPr lang="en-US" sz="900" dirty="0">
              <a:latin typeface="Calibri" panose="020F0502020204030204" pitchFamily="34" charset="0"/>
              <a:cs typeface="Calibri" panose="020F0502020204030204" pitchFamily="34" charset="0"/>
            </a:endParaRPr>
          </a:p>
        </p:txBody>
      </p:sp>
      <p:sp>
        <p:nvSpPr>
          <p:cNvPr id="20" name="Text 18"/>
          <p:cNvSpPr/>
          <p:nvPr/>
        </p:nvSpPr>
        <p:spPr>
          <a:xfrm>
            <a:off x="4937760" y="1426464"/>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Validated change, not faster reports: evidence that interventions worked</a:t>
            </a:r>
            <a:endParaRPr lang="en-US" sz="750" dirty="0">
              <a:latin typeface="Calibri" panose="020F0502020204030204" pitchFamily="34" charset="0"/>
              <a:cs typeface="Calibri" panose="020F0502020204030204" pitchFamily="34" charset="0"/>
            </a:endParaRPr>
          </a:p>
        </p:txBody>
      </p:sp>
      <p:sp>
        <p:nvSpPr>
          <p:cNvPr id="21" name="Text 19"/>
          <p:cNvSpPr/>
          <p:nvPr/>
        </p:nvSpPr>
        <p:spPr>
          <a:xfrm>
            <a:off x="4937760" y="1609344"/>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Continuous intelligence instead of quarterly snapshots</a:t>
            </a:r>
            <a:endParaRPr lang="en-US" sz="750" dirty="0">
              <a:latin typeface="Calibri" panose="020F0502020204030204" pitchFamily="34" charset="0"/>
              <a:cs typeface="Calibri" panose="020F0502020204030204" pitchFamily="34" charset="0"/>
            </a:endParaRPr>
          </a:p>
        </p:txBody>
      </p:sp>
      <p:sp>
        <p:nvSpPr>
          <p:cNvPr id="22" name="Text 20"/>
          <p:cNvSpPr/>
          <p:nvPr/>
        </p:nvSpPr>
        <p:spPr>
          <a:xfrm>
            <a:off x="4937760" y="1792224"/>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Activation at scale: personalised stakeholder journeys, not generic comms</a:t>
            </a:r>
            <a:endParaRPr lang="en-US" sz="750" dirty="0">
              <a:latin typeface="Calibri" panose="020F0502020204030204" pitchFamily="34" charset="0"/>
              <a:cs typeface="Calibri" panose="020F0502020204030204" pitchFamily="34" charset="0"/>
            </a:endParaRPr>
          </a:p>
        </p:txBody>
      </p:sp>
      <p:sp>
        <p:nvSpPr>
          <p:cNvPr id="23" name="Text 21"/>
          <p:cNvSpPr/>
          <p:nvPr/>
        </p:nvSpPr>
        <p:spPr>
          <a:xfrm>
            <a:off x="4937760" y="1975104"/>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Lower entry point for smaller </a:t>
            </a:r>
            <a:r>
              <a:rPr lang="en-US" sz="750" dirty="0" err="1">
                <a:solidFill>
                  <a:srgbClr val="333333"/>
                </a:solidFill>
                <a:latin typeface="Calibri" panose="020F0502020204030204" pitchFamily="34" charset="0"/>
                <a:ea typeface="Arial" pitchFamily="34" charset="-122"/>
                <a:cs typeface="Calibri" panose="020F0502020204030204" pitchFamily="34" charset="0"/>
              </a:rPr>
              <a:t>programmes</a:t>
            </a:r>
            <a:r>
              <a:rPr lang="en-US" sz="750" dirty="0">
                <a:solidFill>
                  <a:srgbClr val="333333"/>
                </a:solidFill>
                <a:latin typeface="Calibri" panose="020F0502020204030204" pitchFamily="34" charset="0"/>
                <a:ea typeface="Arial" pitchFamily="34" charset="-122"/>
                <a:cs typeface="Calibri" panose="020F0502020204030204" pitchFamily="34" charset="0"/>
              </a:rPr>
              <a:t>: 2-person delivery, same quality</a:t>
            </a:r>
            <a:endParaRPr lang="en-US" sz="750" dirty="0">
              <a:latin typeface="Calibri" panose="020F0502020204030204" pitchFamily="34" charset="0"/>
              <a:cs typeface="Calibri" panose="020F0502020204030204" pitchFamily="34" charset="0"/>
            </a:endParaRPr>
          </a:p>
        </p:txBody>
      </p:sp>
      <p:sp>
        <p:nvSpPr>
          <p:cNvPr id="24" name="Text 22"/>
          <p:cNvSpPr/>
          <p:nvPr/>
        </p:nvSpPr>
        <p:spPr>
          <a:xfrm>
            <a:off x="4937760" y="2212848"/>
            <a:ext cx="3611880" cy="146304"/>
          </a:xfrm>
          <a:prstGeom prst="rect">
            <a:avLst/>
          </a:prstGeom>
          <a:noFill/>
          <a:ln/>
        </p:spPr>
        <p:txBody>
          <a:bodyPr wrap="square" rtlCol="0" anchor="ctr"/>
          <a:lstStyle/>
          <a:p>
            <a:pPr marL="0" indent="0" algn="l">
              <a:buNone/>
            </a:pPr>
            <a:r>
              <a:rPr lang="en-US" sz="900" b="1" dirty="0">
                <a:solidFill>
                  <a:srgbClr val="27AE60"/>
                </a:solidFill>
                <a:latin typeface="Calibri" panose="020F0502020204030204" pitchFamily="34" charset="0"/>
                <a:ea typeface="Arial" pitchFamily="34" charset="-122"/>
                <a:cs typeface="Calibri" panose="020F0502020204030204" pitchFamily="34" charset="0"/>
              </a:rPr>
              <a:t>For Qualtrics</a:t>
            </a:r>
            <a:endParaRPr lang="en-US" sz="900" dirty="0">
              <a:latin typeface="Calibri" panose="020F0502020204030204" pitchFamily="34" charset="0"/>
              <a:cs typeface="Calibri" panose="020F0502020204030204" pitchFamily="34" charset="0"/>
            </a:endParaRPr>
          </a:p>
        </p:txBody>
      </p:sp>
      <p:sp>
        <p:nvSpPr>
          <p:cNvPr id="25" name="Text 23"/>
          <p:cNvSpPr/>
          <p:nvPr/>
        </p:nvSpPr>
        <p:spPr>
          <a:xfrm>
            <a:off x="4937760" y="2377440"/>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A partner that proves XM business outcomes supporting Qualtrics' value narrative</a:t>
            </a:r>
            <a:endParaRPr lang="en-US" sz="750" dirty="0">
              <a:latin typeface="Calibri" panose="020F0502020204030204" pitchFamily="34" charset="0"/>
              <a:cs typeface="Calibri" panose="020F0502020204030204" pitchFamily="34" charset="0"/>
            </a:endParaRPr>
          </a:p>
        </p:txBody>
      </p:sp>
      <p:sp>
        <p:nvSpPr>
          <p:cNvPr id="26" name="Text 24"/>
          <p:cNvSpPr/>
          <p:nvPr/>
        </p:nvSpPr>
        <p:spPr>
          <a:xfrm>
            <a:off x="4937760" y="2560320"/>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Agent orchestration capability across client organisations</a:t>
            </a:r>
            <a:endParaRPr lang="en-US" sz="750" dirty="0">
              <a:latin typeface="Calibri" panose="020F0502020204030204" pitchFamily="34" charset="0"/>
              <a:cs typeface="Calibri" panose="020F0502020204030204" pitchFamily="34" charset="0"/>
            </a:endParaRPr>
          </a:p>
        </p:txBody>
      </p:sp>
      <p:sp>
        <p:nvSpPr>
          <p:cNvPr id="27" name="Text 25"/>
          <p:cNvSpPr/>
          <p:nvPr/>
        </p:nvSpPr>
        <p:spPr>
          <a:xfrm>
            <a:off x="4937760" y="2743200"/>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IP on the Platform Track, not just consulting, but product</a:t>
            </a:r>
            <a:endParaRPr lang="en-US" sz="750" dirty="0">
              <a:latin typeface="Calibri" panose="020F0502020204030204" pitchFamily="34" charset="0"/>
              <a:cs typeface="Calibri" panose="020F0502020204030204" pitchFamily="34" charset="0"/>
            </a:endParaRPr>
          </a:p>
        </p:txBody>
      </p:sp>
      <p:sp>
        <p:nvSpPr>
          <p:cNvPr id="28" name="Text 26"/>
          <p:cNvSpPr/>
          <p:nvPr/>
        </p:nvSpPr>
        <p:spPr>
          <a:xfrm>
            <a:off x="4937760" y="2926080"/>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First Platinum partner occupying both Consulting and Platform tracks</a:t>
            </a:r>
            <a:endParaRPr lang="en-US" sz="750" dirty="0">
              <a:latin typeface="Calibri" panose="020F0502020204030204" pitchFamily="34" charset="0"/>
              <a:cs typeface="Calibri" panose="020F0502020204030204" pitchFamily="34" charset="0"/>
            </a:endParaRPr>
          </a:p>
        </p:txBody>
      </p:sp>
      <p:sp>
        <p:nvSpPr>
          <p:cNvPr id="29" name="Text 27"/>
          <p:cNvSpPr/>
          <p:nvPr/>
        </p:nvSpPr>
        <p:spPr>
          <a:xfrm>
            <a:off x="4937760" y="3163824"/>
            <a:ext cx="3611880" cy="146304"/>
          </a:xfrm>
          <a:prstGeom prst="rect">
            <a:avLst/>
          </a:prstGeom>
          <a:noFill/>
          <a:ln/>
        </p:spPr>
        <p:txBody>
          <a:bodyPr wrap="square" rtlCol="0" anchor="ctr"/>
          <a:lstStyle/>
          <a:p>
            <a:pPr marL="0" indent="0" algn="l">
              <a:buNone/>
            </a:pPr>
            <a:r>
              <a:rPr lang="en-US" sz="900" b="1" dirty="0">
                <a:solidFill>
                  <a:srgbClr val="27AE60"/>
                </a:solidFill>
                <a:latin typeface="Calibri" panose="020F0502020204030204" pitchFamily="34" charset="0"/>
                <a:ea typeface="Arial" pitchFamily="34" charset="-122"/>
                <a:cs typeface="Calibri" panose="020F0502020204030204" pitchFamily="34" charset="0"/>
              </a:rPr>
              <a:t>For our co-workers</a:t>
            </a:r>
            <a:endParaRPr lang="en-US" sz="900" dirty="0">
              <a:latin typeface="Calibri" panose="020F0502020204030204" pitchFamily="34" charset="0"/>
              <a:cs typeface="Calibri" panose="020F0502020204030204" pitchFamily="34" charset="0"/>
            </a:endParaRPr>
          </a:p>
        </p:txBody>
      </p:sp>
      <p:sp>
        <p:nvSpPr>
          <p:cNvPr id="30" name="Text 28"/>
          <p:cNvSpPr/>
          <p:nvPr/>
        </p:nvSpPr>
        <p:spPr>
          <a:xfrm>
            <a:off x="4937760" y="3328416"/>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The job becomes the job people were trained for: strategy, not spreadsheets</a:t>
            </a:r>
            <a:endParaRPr lang="en-US" sz="750" dirty="0">
              <a:latin typeface="Calibri" panose="020F0502020204030204" pitchFamily="34" charset="0"/>
              <a:cs typeface="Calibri" panose="020F0502020204030204" pitchFamily="34" charset="0"/>
            </a:endParaRPr>
          </a:p>
        </p:txBody>
      </p:sp>
      <p:sp>
        <p:nvSpPr>
          <p:cNvPr id="31" name="Text 29"/>
          <p:cNvSpPr/>
          <p:nvPr/>
        </p:nvSpPr>
        <p:spPr>
          <a:xfrm>
            <a:off x="4937760" y="3511296"/>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Structured reskilling, not sink-or-swim adoption</a:t>
            </a:r>
            <a:endParaRPr lang="en-US" sz="750" dirty="0">
              <a:latin typeface="Calibri" panose="020F0502020204030204" pitchFamily="34" charset="0"/>
              <a:cs typeface="Calibri" panose="020F0502020204030204" pitchFamily="34" charset="0"/>
            </a:endParaRPr>
          </a:p>
        </p:txBody>
      </p:sp>
      <p:sp>
        <p:nvSpPr>
          <p:cNvPr id="32" name="Text 30"/>
          <p:cNvSpPr/>
          <p:nvPr/>
        </p:nvSpPr>
        <p:spPr>
          <a:xfrm>
            <a:off x="4937760" y="3694176"/>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Clear role evolution: from execution to interpretation and activation</a:t>
            </a:r>
            <a:endParaRPr lang="en-US" sz="750" dirty="0">
              <a:latin typeface="Calibri" panose="020F0502020204030204" pitchFamily="34" charset="0"/>
              <a:cs typeface="Calibri" panose="020F0502020204030204" pitchFamily="34" charset="0"/>
            </a:endParaRPr>
          </a:p>
        </p:txBody>
      </p:sp>
      <p:sp>
        <p:nvSpPr>
          <p:cNvPr id="33" name="Text 31"/>
          <p:cNvSpPr/>
          <p:nvPr/>
        </p:nvSpPr>
        <p:spPr>
          <a:xfrm>
            <a:off x="4937760" y="3877056"/>
            <a:ext cx="3611880" cy="182880"/>
          </a:xfrm>
          <a:prstGeom prst="rect">
            <a:avLst/>
          </a:prstGeom>
          <a:noFill/>
          <a:ln/>
        </p:spPr>
        <p:txBody>
          <a:bodyPr wrap="square" rtlCol="0" anchor="ctr"/>
          <a:lstStyle/>
          <a:p>
            <a:pPr marL="0" indent="0" algn="l">
              <a:lnSpc>
                <a:spcPct val="100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Psychological safety through governance  / quality gates, not performance pressure</a:t>
            </a:r>
            <a:endParaRPr lang="en-US" sz="750" dirty="0">
              <a:latin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What I decided and how I got there</a:t>
            </a:r>
          </a:p>
        </p:txBody>
      </p:sp>
      <p:sp>
        <p:nvSpPr>
          <p:cNvPr id="4" name="Text 2"/>
          <p:cNvSpPr/>
          <p:nvPr/>
        </p:nvSpPr>
        <p:spPr>
          <a:xfrm>
            <a:off x="457200" y="626165"/>
            <a:ext cx="274320" cy="228600"/>
          </a:xfrm>
          <a:prstGeom prst="rect">
            <a:avLst/>
          </a:prstGeom>
          <a:noFill/>
          <a:ln/>
        </p:spPr>
        <p:txBody>
          <a:bodyPr wrap="square" rtlCol="0" anchor="ctr"/>
          <a:lstStyle/>
          <a:p>
            <a:pPr marL="0" indent="0" algn="l">
              <a:buNone/>
            </a:pPr>
            <a:r>
              <a:rPr lang="en-US" sz="1600" b="1" dirty="0">
                <a:solidFill>
                  <a:srgbClr val="F0AC00"/>
                </a:solidFill>
                <a:latin typeface="Calibri" panose="020F0502020204030204" pitchFamily="34" charset="0"/>
                <a:ea typeface="Arial" pitchFamily="34" charset="-122"/>
                <a:cs typeface="Calibri" panose="020F0502020204030204" pitchFamily="34" charset="0"/>
              </a:rPr>
              <a:t>1</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777240" y="626165"/>
            <a:ext cx="7772400" cy="201168"/>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The right route is C → D → B. Sequence for value, not speed</a:t>
            </a:r>
            <a:endParaRPr lang="en-US" sz="1200" dirty="0">
              <a:latin typeface="Calibri" panose="020F0502020204030204" pitchFamily="34" charset="0"/>
              <a:cs typeface="Calibri" panose="020F0502020204030204" pitchFamily="34" charset="0"/>
            </a:endParaRPr>
          </a:p>
        </p:txBody>
      </p:sp>
      <p:sp>
        <p:nvSpPr>
          <p:cNvPr id="6" name="Text 4"/>
          <p:cNvSpPr/>
          <p:nvPr/>
        </p:nvSpPr>
        <p:spPr>
          <a:xfrm>
            <a:off x="777240" y="863909"/>
            <a:ext cx="7772400" cy="128016"/>
          </a:xfrm>
          <a:prstGeom prst="rect">
            <a:avLst/>
          </a:prstGeom>
          <a:noFill/>
          <a:ln/>
        </p:spPr>
        <p:txBody>
          <a:bodyPr wrap="square" rtlCol="0" anchor="ctr"/>
          <a:lstStyle/>
          <a:p>
            <a:pPr marL="0" indent="0" algn="l">
              <a:buNone/>
            </a:pPr>
            <a:r>
              <a:rPr lang="en-US" sz="800" i="1" dirty="0">
                <a:solidFill>
                  <a:srgbClr val="666666"/>
                </a:solidFill>
                <a:latin typeface="Calibri" panose="020F0502020204030204" pitchFamily="34" charset="0"/>
                <a:ea typeface="Arial" pitchFamily="34" charset="-122"/>
                <a:cs typeface="Calibri" panose="020F0502020204030204" pitchFamily="34" charset="0"/>
              </a:rPr>
              <a:t>The thinking:</a:t>
            </a:r>
            <a:endParaRPr lang="en-US" sz="800" dirty="0">
              <a:latin typeface="Calibri" panose="020F0502020204030204" pitchFamily="34" charset="0"/>
              <a:cs typeface="Calibri" panose="020F0502020204030204" pitchFamily="34" charset="0"/>
            </a:endParaRPr>
          </a:p>
        </p:txBody>
      </p:sp>
      <p:sp>
        <p:nvSpPr>
          <p:cNvPr id="7" name="Text 5"/>
          <p:cNvSpPr/>
          <p:nvPr/>
        </p:nvSpPr>
        <p:spPr>
          <a:xfrm>
            <a:off x="777240" y="1010213"/>
            <a:ext cx="7909560" cy="27432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I tested each scenario against Keren's transformation partner test: does this path move AKT from project factory to transformation partnership? A and C don’t as they make us faster at the same thing. Only B and D reposition us.</a:t>
            </a:r>
            <a:endParaRPr lang="en-US" sz="750" dirty="0">
              <a:latin typeface="Calibri" panose="020F0502020204030204" pitchFamily="34" charset="0"/>
              <a:cs typeface="Calibri" panose="020F0502020204030204" pitchFamily="34" charset="0"/>
            </a:endParaRPr>
          </a:p>
        </p:txBody>
      </p:sp>
      <p:sp>
        <p:nvSpPr>
          <p:cNvPr id="8" name="Text 6"/>
          <p:cNvSpPr/>
          <p:nvPr/>
        </p:nvSpPr>
        <p:spPr>
          <a:xfrm>
            <a:off x="777240" y="1284533"/>
            <a:ext cx="7909560" cy="27432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But B requires simultaneous change in technology, pricing, skills, culture, and governance. With 50 people that's how organisations fail. So I worked backwards: what's the minimum that makes B possible?</a:t>
            </a:r>
            <a:endParaRPr lang="en-US" sz="750" dirty="0">
              <a:latin typeface="Calibri" panose="020F0502020204030204" pitchFamily="34" charset="0"/>
              <a:cs typeface="Calibri" panose="020F0502020204030204" pitchFamily="34" charset="0"/>
            </a:endParaRPr>
          </a:p>
        </p:txBody>
      </p:sp>
      <p:sp>
        <p:nvSpPr>
          <p:cNvPr id="9" name="Text 7"/>
          <p:cNvSpPr/>
          <p:nvPr/>
        </p:nvSpPr>
        <p:spPr>
          <a:xfrm>
            <a:off x="777240" y="1558853"/>
            <a:ext cx="7909560" cy="27432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C builds the foundation - governance, reskilling, quick wins - and proves we can adopt AI without breaking delivery. D is the proof point: one outcome-based client, one product pilot. Low risk, real evidence.</a:t>
            </a:r>
            <a:endParaRPr lang="en-US" sz="750" dirty="0">
              <a:latin typeface="Calibri" panose="020F0502020204030204" pitchFamily="34" charset="0"/>
              <a:cs typeface="Calibri" panose="020F0502020204030204" pitchFamily="34" charset="0"/>
            </a:endParaRPr>
          </a:p>
        </p:txBody>
      </p:sp>
      <p:sp>
        <p:nvSpPr>
          <p:cNvPr id="10" name="Text 8"/>
          <p:cNvSpPr/>
          <p:nvPr/>
        </p:nvSpPr>
        <p:spPr>
          <a:xfrm>
            <a:off x="777240" y="1833173"/>
            <a:ext cx="7909560" cy="27432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At 6 months we evaluate with data, not assumptions. If the activation model works, we accelerate to B with confidence. If it doesn't, we stay in C: no damage, lessons captured.</a:t>
            </a:r>
            <a:endParaRPr lang="en-US" sz="750" dirty="0">
              <a:latin typeface="Calibri" panose="020F0502020204030204" pitchFamily="34" charset="0"/>
              <a:cs typeface="Calibri" panose="020F0502020204030204" pitchFamily="34" charset="0"/>
            </a:endParaRPr>
          </a:p>
        </p:txBody>
      </p:sp>
      <p:sp>
        <p:nvSpPr>
          <p:cNvPr id="11" name="Text 9"/>
          <p:cNvSpPr/>
          <p:nvPr/>
        </p:nvSpPr>
        <p:spPr>
          <a:xfrm>
            <a:off x="777240" y="2107493"/>
            <a:ext cx="7909560" cy="27432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The key insight: the value isn't in going fast. It's in building the capability to prove outcomes  because that's what clients will pay a premium for, and that's what Qualtrics needs from Platinum partners.</a:t>
            </a:r>
            <a:endParaRPr lang="en-US" sz="750" dirty="0">
              <a:latin typeface="Calibri" panose="020F0502020204030204" pitchFamily="34" charset="0"/>
              <a:cs typeface="Calibri" panose="020F0502020204030204" pitchFamily="34" charset="0"/>
            </a:endParaRPr>
          </a:p>
        </p:txBody>
      </p:sp>
      <p:sp>
        <p:nvSpPr>
          <p:cNvPr id="12" name="Text 10"/>
          <p:cNvSpPr/>
          <p:nvPr/>
        </p:nvSpPr>
        <p:spPr>
          <a:xfrm>
            <a:off x="457200" y="2473253"/>
            <a:ext cx="274320" cy="228600"/>
          </a:xfrm>
          <a:prstGeom prst="rect">
            <a:avLst/>
          </a:prstGeom>
          <a:noFill/>
          <a:ln/>
        </p:spPr>
        <p:txBody>
          <a:bodyPr wrap="square" rtlCol="0" anchor="ctr"/>
          <a:lstStyle/>
          <a:p>
            <a:pPr marL="0" indent="0" algn="l">
              <a:buNone/>
            </a:pPr>
            <a:r>
              <a:rPr lang="en-US" sz="1600" b="1" dirty="0">
                <a:solidFill>
                  <a:srgbClr val="F0AC00"/>
                </a:solidFill>
                <a:latin typeface="Calibri" panose="020F0502020204030204" pitchFamily="34" charset="0"/>
                <a:ea typeface="Arial" pitchFamily="34" charset="-122"/>
                <a:cs typeface="Calibri" panose="020F0502020204030204" pitchFamily="34" charset="0"/>
              </a:rPr>
              <a:t>2</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777240" y="2473253"/>
            <a:ext cx="7772400" cy="201168"/>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Build platform-agnostic IP: our value must survive any platform shift</a:t>
            </a:r>
            <a:endParaRPr lang="en-US" sz="1200" dirty="0">
              <a:latin typeface="Calibri" panose="020F0502020204030204" pitchFamily="34" charset="0"/>
              <a:cs typeface="Calibri" panose="020F0502020204030204" pitchFamily="34" charset="0"/>
            </a:endParaRPr>
          </a:p>
        </p:txBody>
      </p:sp>
      <p:sp>
        <p:nvSpPr>
          <p:cNvPr id="14" name="Text 12"/>
          <p:cNvSpPr/>
          <p:nvPr/>
        </p:nvSpPr>
        <p:spPr>
          <a:xfrm>
            <a:off x="777240" y="2710997"/>
            <a:ext cx="7772400" cy="128016"/>
          </a:xfrm>
          <a:prstGeom prst="rect">
            <a:avLst/>
          </a:prstGeom>
          <a:noFill/>
          <a:ln/>
        </p:spPr>
        <p:txBody>
          <a:bodyPr wrap="square" rtlCol="0" anchor="ctr"/>
          <a:lstStyle/>
          <a:p>
            <a:pPr marL="0" indent="0" algn="l">
              <a:buNone/>
            </a:pPr>
            <a:r>
              <a:rPr lang="en-US" sz="800" i="1" dirty="0">
                <a:solidFill>
                  <a:srgbClr val="666666"/>
                </a:solidFill>
                <a:latin typeface="Calibri" panose="020F0502020204030204" pitchFamily="34" charset="0"/>
                <a:ea typeface="Arial" pitchFamily="34" charset="-122"/>
                <a:cs typeface="Calibri" panose="020F0502020204030204" pitchFamily="34" charset="0"/>
              </a:rPr>
              <a:t>The thinking:</a:t>
            </a:r>
            <a:endParaRPr lang="en-US" sz="800" dirty="0">
              <a:latin typeface="Calibri" panose="020F0502020204030204" pitchFamily="34" charset="0"/>
              <a:cs typeface="Calibri" panose="020F0502020204030204" pitchFamily="34" charset="0"/>
            </a:endParaRPr>
          </a:p>
        </p:txBody>
      </p:sp>
      <p:sp>
        <p:nvSpPr>
          <p:cNvPr id="15" name="Text 13"/>
          <p:cNvSpPr/>
          <p:nvPr/>
        </p:nvSpPr>
        <p:spPr>
          <a:xfrm>
            <a:off x="777240" y="2857301"/>
            <a:ext cx="7909560" cy="32004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Keren's doomsday scenario - Qualtrics becoming invisible in CRM front-ends or becomes a back-end tool - kept coming back throughout the work. The Qualtrics roadmap and Partner Summit confirmed somehow the direction: more embedding, more AI agents, less visible UI. This Qualtrics' own strategy.</a:t>
            </a:r>
            <a:endParaRPr lang="en-US" sz="750" dirty="0">
              <a:latin typeface="Calibri" panose="020F0502020204030204" pitchFamily="34" charset="0"/>
              <a:cs typeface="Calibri" panose="020F0502020204030204" pitchFamily="34" charset="0"/>
            </a:endParaRPr>
          </a:p>
        </p:txBody>
      </p:sp>
      <p:sp>
        <p:nvSpPr>
          <p:cNvPr id="16" name="Text 14"/>
          <p:cNvSpPr/>
          <p:nvPr/>
        </p:nvSpPr>
        <p:spPr>
          <a:xfrm>
            <a:off x="777240" y="3177341"/>
            <a:ext cx="7909560" cy="32004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If CMX™ and our activation services only work on Qualtrics, we're tying our value to a platform that may become invisible to end users. If they work independently, we survive any shift. Qualtrics Platform Track becomes a distribution channel — not a dependency.</a:t>
            </a:r>
            <a:endParaRPr lang="en-US" sz="750" dirty="0">
              <a:latin typeface="Calibri" panose="020F0502020204030204" pitchFamily="34" charset="0"/>
              <a:cs typeface="Calibri" panose="020F0502020204030204" pitchFamily="34" charset="0"/>
            </a:endParaRPr>
          </a:p>
        </p:txBody>
      </p:sp>
      <p:sp>
        <p:nvSpPr>
          <p:cNvPr id="17" name="Text 15"/>
          <p:cNvSpPr/>
          <p:nvPr/>
        </p:nvSpPr>
        <p:spPr>
          <a:xfrm>
            <a:off x="777240" y="3497381"/>
            <a:ext cx="7909560" cy="32004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The Partner Summit was explicit about this: the partners who win are the ones with unique IP, a 'secret sauce.' Configurators get squeezed out. The value we create must be ours — Qualtrics is where we distribute it, not where it lives.</a:t>
            </a:r>
            <a:endParaRPr lang="en-US" sz="750" dirty="0">
              <a:latin typeface="Calibri" panose="020F0502020204030204" pitchFamily="34" charset="0"/>
              <a:cs typeface="Calibri" panose="020F0502020204030204" pitchFamily="34" charset="0"/>
            </a:endParaRPr>
          </a:p>
        </p:txBody>
      </p:sp>
      <p:sp>
        <p:nvSpPr>
          <p:cNvPr id="18" name="Text 16"/>
          <p:cNvSpPr/>
          <p:nvPr/>
        </p:nvSpPr>
        <p:spPr>
          <a:xfrm>
            <a:off x="457200" y="3908861"/>
            <a:ext cx="274320" cy="228600"/>
          </a:xfrm>
          <a:prstGeom prst="rect">
            <a:avLst/>
          </a:prstGeom>
          <a:noFill/>
          <a:ln/>
        </p:spPr>
        <p:txBody>
          <a:bodyPr wrap="square" rtlCol="0" anchor="ctr"/>
          <a:lstStyle/>
          <a:p>
            <a:pPr marL="0" indent="0" algn="l">
              <a:buNone/>
            </a:pPr>
            <a:r>
              <a:rPr lang="en-US" sz="1600" b="1" dirty="0">
                <a:solidFill>
                  <a:srgbClr val="F0AC00"/>
                </a:solidFill>
                <a:latin typeface="Calibri" panose="020F0502020204030204" pitchFamily="34" charset="0"/>
                <a:ea typeface="Arial" pitchFamily="34" charset="-122"/>
                <a:cs typeface="Calibri" panose="020F0502020204030204" pitchFamily="34" charset="0"/>
              </a:rPr>
              <a:t>3</a:t>
            </a:r>
            <a:endParaRPr lang="en-US" sz="1600" dirty="0">
              <a:latin typeface="Calibri" panose="020F0502020204030204" pitchFamily="34" charset="0"/>
              <a:cs typeface="Calibri" panose="020F0502020204030204" pitchFamily="34" charset="0"/>
            </a:endParaRPr>
          </a:p>
        </p:txBody>
      </p:sp>
      <p:sp>
        <p:nvSpPr>
          <p:cNvPr id="19" name="Text 17"/>
          <p:cNvSpPr/>
          <p:nvPr/>
        </p:nvSpPr>
        <p:spPr>
          <a:xfrm>
            <a:off x="777240" y="3908861"/>
            <a:ext cx="7772400" cy="201168"/>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What this means for our organisation</a:t>
            </a:r>
            <a:endParaRPr lang="en-US" sz="1200" dirty="0">
              <a:latin typeface="Calibri" panose="020F0502020204030204" pitchFamily="34" charset="0"/>
              <a:cs typeface="Calibri" panose="020F0502020204030204" pitchFamily="34" charset="0"/>
            </a:endParaRPr>
          </a:p>
        </p:txBody>
      </p:sp>
      <p:sp>
        <p:nvSpPr>
          <p:cNvPr id="20" name="Text 18"/>
          <p:cNvSpPr/>
          <p:nvPr/>
        </p:nvSpPr>
        <p:spPr>
          <a:xfrm>
            <a:off x="777240" y="4146605"/>
            <a:ext cx="7772400" cy="128016"/>
          </a:xfrm>
          <a:prstGeom prst="rect">
            <a:avLst/>
          </a:prstGeom>
          <a:noFill/>
          <a:ln/>
        </p:spPr>
        <p:txBody>
          <a:bodyPr wrap="square" rtlCol="0" anchor="ctr"/>
          <a:lstStyle/>
          <a:p>
            <a:pPr marL="0" indent="0" algn="l">
              <a:buNone/>
            </a:pPr>
            <a:r>
              <a:rPr lang="en-US" sz="800" i="1" dirty="0">
                <a:solidFill>
                  <a:srgbClr val="666666"/>
                </a:solidFill>
                <a:latin typeface="Calibri" panose="020F0502020204030204" pitchFamily="34" charset="0"/>
                <a:ea typeface="Arial" pitchFamily="34" charset="-122"/>
                <a:cs typeface="Calibri" panose="020F0502020204030204" pitchFamily="34" charset="0"/>
              </a:rPr>
              <a:t>The implication:</a:t>
            </a:r>
            <a:endParaRPr lang="en-US" sz="800" dirty="0">
              <a:latin typeface="Calibri" panose="020F0502020204030204" pitchFamily="34" charset="0"/>
              <a:cs typeface="Calibri" panose="020F0502020204030204" pitchFamily="34" charset="0"/>
            </a:endParaRPr>
          </a:p>
        </p:txBody>
      </p:sp>
      <p:sp>
        <p:nvSpPr>
          <p:cNvPr id="21" name="Text 19"/>
          <p:cNvSpPr/>
          <p:nvPr/>
        </p:nvSpPr>
        <p:spPr>
          <a:xfrm>
            <a:off x="777240" y="4292909"/>
            <a:ext cx="7909560" cy="347472"/>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Every role changes. Analysts shift from processing data to interpreting what it means. Advisors shift from assembling decks to activating change. App Consultants shift from configuring surveys to orchestrating agents. This is not optional as the production work is being absorbed whether we lead the change or not.</a:t>
            </a:r>
            <a:endParaRPr lang="en-US" sz="750" dirty="0">
              <a:latin typeface="Calibri" panose="020F0502020204030204" pitchFamily="34" charset="0"/>
              <a:cs typeface="Calibri" panose="020F0502020204030204" pitchFamily="34" charset="0"/>
            </a:endParaRPr>
          </a:p>
        </p:txBody>
      </p:sp>
      <p:sp>
        <p:nvSpPr>
          <p:cNvPr id="22" name="Text 20"/>
          <p:cNvSpPr/>
          <p:nvPr/>
        </p:nvSpPr>
        <p:spPr>
          <a:xfrm>
            <a:off x="777240" y="4584724"/>
            <a:ext cx="7909560" cy="347472"/>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 We need to reskill 50 people not with generic AI training, but role-specific capability building. And we need to measure adoption with the same rigour we apply to client programmes. CMX™ internally is the proof point: if we can't activate our own transformation, we can't credibly sell it to clients.</a:t>
            </a:r>
            <a:endParaRPr lang="en-US" sz="750" dirty="0">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Where AKT needs to be and what is driving the shift</a:t>
            </a:r>
          </a:p>
        </p:txBody>
      </p:sp>
      <p:sp>
        <p:nvSpPr>
          <p:cNvPr id="4" name="Text 2"/>
          <p:cNvSpPr/>
          <p:nvPr/>
        </p:nvSpPr>
        <p:spPr>
          <a:xfrm>
            <a:off x="457200" y="960120"/>
            <a:ext cx="3886200" cy="228600"/>
          </a:xfrm>
          <a:prstGeom prst="rect">
            <a:avLst/>
          </a:prstGeom>
          <a:noFill/>
          <a:ln/>
        </p:spPr>
        <p:txBody>
          <a:bodyPr wrap="square" rtlCol="0" anchor="ctr"/>
          <a:lstStyle/>
          <a:p>
            <a:pPr marL="0" indent="0" algn="l">
              <a:buNone/>
            </a:pPr>
            <a:r>
              <a:rPr lang="en-US" sz="1300" b="1" dirty="0">
                <a:solidFill>
                  <a:srgbClr val="F0AC00"/>
                </a:solidFill>
                <a:latin typeface="Calibri" panose="020F0502020204030204" pitchFamily="34" charset="0"/>
                <a:ea typeface="Arial" pitchFamily="34" charset="-122"/>
                <a:cs typeface="Calibri" panose="020F0502020204030204" pitchFamily="34" charset="0"/>
              </a:rPr>
              <a:t>What AKT becomes</a:t>
            </a:r>
            <a:endParaRPr lang="en-US" sz="1300" dirty="0">
              <a:latin typeface="Calibri" panose="020F0502020204030204" pitchFamily="34" charset="0"/>
              <a:cs typeface="Calibri" panose="020F0502020204030204" pitchFamily="34" charset="0"/>
            </a:endParaRPr>
          </a:p>
        </p:txBody>
      </p:sp>
      <p:sp>
        <p:nvSpPr>
          <p:cNvPr id="5" name="Text 3"/>
          <p:cNvSpPr/>
          <p:nvPr/>
        </p:nvSpPr>
        <p:spPr>
          <a:xfrm>
            <a:off x="457200" y="1234440"/>
            <a:ext cx="3886200" cy="3200400"/>
          </a:xfrm>
          <a:prstGeom prst="rect">
            <a:avLst/>
          </a:prstGeom>
          <a:noFill/>
          <a:ln/>
        </p:spPr>
        <p:txBody>
          <a:bodyPr wrap="square" rtlCol="0" anchor="t"/>
          <a:lstStyle/>
          <a:p>
            <a:pPr marL="0" indent="0" algn="l">
              <a:lnSpc>
                <a:spcPct val="115000"/>
              </a:lnSpc>
              <a:buNone/>
            </a:pPr>
            <a:r>
              <a:rPr lang="en-US" sz="900" dirty="0">
                <a:solidFill>
                  <a:srgbClr val="000000"/>
                </a:solidFill>
                <a:latin typeface="Calibri" panose="020F0502020204030204" pitchFamily="34" charset="0"/>
                <a:cs typeface="Calibri" panose="020F0502020204030204" pitchFamily="34" charset="0"/>
              </a:rPr>
              <a:t>We do not sell AI. We do not sell efficiency. We sell validated change: </a:t>
            </a:r>
            <a:r>
              <a:rPr lang="en-US" sz="900" b="1" dirty="0">
                <a:solidFill>
                  <a:srgbClr val="000000"/>
                </a:solidFill>
                <a:latin typeface="Calibri" panose="020F0502020204030204" pitchFamily="34" charset="0"/>
                <a:cs typeface="Calibri" panose="020F0502020204030204" pitchFamily="34" charset="0"/>
              </a:rPr>
              <a:t>measured, proven, and paid for on evidence.</a:t>
            </a:r>
          </a:p>
          <a:p>
            <a:pPr marL="0" indent="0" algn="l">
              <a:lnSpc>
                <a:spcPct val="115000"/>
              </a:lnSpc>
              <a:buNone/>
            </a:pPr>
            <a:endParaRPr lang="en-US" sz="900" dirty="0">
              <a:solidFill>
                <a:srgbClr val="000000"/>
              </a:solidFill>
              <a:latin typeface="Calibri" panose="020F0502020204030204" pitchFamily="34" charset="0"/>
              <a:cs typeface="Calibri" panose="020F0502020204030204" pitchFamily="34" charset="0"/>
            </a:endParaRPr>
          </a:p>
          <a:p>
            <a:pPr marL="0" indent="0" algn="l">
              <a:lnSpc>
                <a:spcPct val="115000"/>
              </a:lnSpc>
              <a:buNone/>
            </a:pPr>
            <a:r>
              <a:rPr lang="en-US" sz="900" dirty="0">
                <a:solidFill>
                  <a:srgbClr val="000000"/>
                </a:solidFill>
                <a:latin typeface="Calibri" panose="020F0502020204030204" pitchFamily="34" charset="0"/>
                <a:cs typeface="Calibri" panose="020F0502020204030204" pitchFamily="34" charset="0"/>
              </a:rPr>
              <a:t>We are onsite, in the room, reading the energy. Our people understand stakeholder preferences, mood, resistance and adapt activation in real time. </a:t>
            </a:r>
            <a:r>
              <a:rPr lang="en-US" sz="900" b="1" dirty="0">
                <a:solidFill>
                  <a:srgbClr val="000000"/>
                </a:solidFill>
                <a:latin typeface="Calibri" panose="020F0502020204030204" pitchFamily="34" charset="0"/>
                <a:cs typeface="Calibri" panose="020F0502020204030204" pitchFamily="34" charset="0"/>
              </a:rPr>
              <a:t>That intelligence is automated through CMX™, but the human presence is what makes it land.</a:t>
            </a:r>
          </a:p>
          <a:p>
            <a:pPr marL="0" indent="0" algn="l">
              <a:lnSpc>
                <a:spcPct val="115000"/>
              </a:lnSpc>
              <a:buNone/>
            </a:pPr>
            <a:endParaRPr lang="en-US" sz="900" dirty="0">
              <a:solidFill>
                <a:srgbClr val="000000"/>
              </a:solidFill>
              <a:latin typeface="Calibri" panose="020F0502020204030204" pitchFamily="34" charset="0"/>
              <a:cs typeface="Calibri" panose="020F0502020204030204" pitchFamily="34" charset="0"/>
            </a:endParaRPr>
          </a:p>
          <a:p>
            <a:pPr marL="0" indent="0" algn="l">
              <a:lnSpc>
                <a:spcPct val="115000"/>
              </a:lnSpc>
              <a:buNone/>
            </a:pPr>
            <a:r>
              <a:rPr lang="en-US" sz="900" dirty="0">
                <a:solidFill>
                  <a:srgbClr val="000000"/>
                </a:solidFill>
                <a:latin typeface="Calibri" panose="020F0502020204030204" pitchFamily="34" charset="0"/>
                <a:cs typeface="Calibri" panose="020F0502020204030204" pitchFamily="34" charset="0"/>
              </a:rPr>
              <a:t>Every engagement runs through </a:t>
            </a:r>
            <a:r>
              <a:rPr lang="en-US" sz="900" b="1" dirty="0">
                <a:solidFill>
                  <a:srgbClr val="000000"/>
                </a:solidFill>
                <a:latin typeface="Calibri" panose="020F0502020204030204" pitchFamily="34" charset="0"/>
                <a:cs typeface="Calibri" panose="020F0502020204030204" pitchFamily="34" charset="0"/>
              </a:rPr>
              <a:t>a command centre that stitches strategy into projects, deliverables and decisions</a:t>
            </a:r>
            <a:r>
              <a:rPr lang="en-US" sz="900" dirty="0">
                <a:solidFill>
                  <a:srgbClr val="000000"/>
                </a:solidFill>
                <a:latin typeface="Calibri" panose="020F0502020204030204" pitchFamily="34" charset="0"/>
                <a:cs typeface="Calibri" panose="020F0502020204030204" pitchFamily="34" charset="0"/>
              </a:rPr>
              <a:t>. When something changes (a new insight, a shifted priority) we integrate that faster and with more accuracy than anyone.</a:t>
            </a:r>
          </a:p>
          <a:p>
            <a:pPr marL="0" indent="0" algn="l">
              <a:lnSpc>
                <a:spcPct val="115000"/>
              </a:lnSpc>
              <a:buNone/>
            </a:pPr>
            <a:endParaRPr lang="en-US" sz="900" dirty="0">
              <a:solidFill>
                <a:srgbClr val="000000"/>
              </a:solidFill>
              <a:latin typeface="Calibri" panose="020F0502020204030204" pitchFamily="34" charset="0"/>
              <a:cs typeface="Calibri" panose="020F0502020204030204" pitchFamily="34" charset="0"/>
            </a:endParaRPr>
          </a:p>
          <a:p>
            <a:pPr marL="0" indent="0" algn="l">
              <a:lnSpc>
                <a:spcPct val="115000"/>
              </a:lnSpc>
              <a:buNone/>
            </a:pPr>
            <a:r>
              <a:rPr lang="en-US" sz="900" dirty="0">
                <a:solidFill>
                  <a:srgbClr val="000000"/>
                </a:solidFill>
                <a:latin typeface="Calibri" panose="020F0502020204030204" pitchFamily="34" charset="0"/>
                <a:cs typeface="Calibri" panose="020F0502020204030204" pitchFamily="34" charset="0"/>
              </a:rPr>
              <a:t>Our IP is platform-agnostic. CMX™, the XM command centre, SPOTLIGHT through ORBIT - these work on Qualtrics or any data layer. </a:t>
            </a:r>
            <a:r>
              <a:rPr lang="en-US" sz="900" b="1" dirty="0">
                <a:solidFill>
                  <a:srgbClr val="000000"/>
                </a:solidFill>
                <a:latin typeface="Calibri" panose="020F0502020204030204" pitchFamily="34" charset="0"/>
                <a:cs typeface="Calibri" panose="020F0502020204030204" pitchFamily="34" charset="0"/>
              </a:rPr>
              <a:t>We build proprietary products that run offline or in protected client environments.</a:t>
            </a:r>
          </a:p>
          <a:p>
            <a:pPr marL="0" indent="0" algn="l">
              <a:lnSpc>
                <a:spcPct val="115000"/>
              </a:lnSpc>
              <a:buNone/>
            </a:pPr>
            <a:endParaRPr lang="en-US" sz="900" dirty="0">
              <a:solidFill>
                <a:srgbClr val="000000"/>
              </a:solidFill>
              <a:latin typeface="Calibri" panose="020F0502020204030204" pitchFamily="34" charset="0"/>
              <a:cs typeface="Calibri" panose="020F0502020204030204" pitchFamily="34" charset="0"/>
            </a:endParaRPr>
          </a:p>
          <a:p>
            <a:pPr marL="0" indent="0" algn="l">
              <a:lnSpc>
                <a:spcPct val="115000"/>
              </a:lnSpc>
              <a:buNone/>
            </a:pPr>
            <a:r>
              <a:rPr lang="en-US" sz="900" b="1" dirty="0">
                <a:solidFill>
                  <a:srgbClr val="000000"/>
                </a:solidFill>
                <a:latin typeface="Calibri" panose="020F0502020204030204" pitchFamily="34" charset="0"/>
                <a:cs typeface="Calibri" panose="020F0502020204030204" pitchFamily="34" charset="0"/>
              </a:rPr>
              <a:t>The commercial model shifts from hours to outcomes. </a:t>
            </a:r>
            <a:r>
              <a:rPr lang="en-US" sz="900" dirty="0">
                <a:solidFill>
                  <a:srgbClr val="000000"/>
                </a:solidFill>
                <a:latin typeface="Calibri" panose="020F0502020204030204" pitchFamily="34" charset="0"/>
                <a:cs typeface="Calibri" panose="020F0502020204030204" pitchFamily="34" charset="0"/>
              </a:rPr>
              <a:t>We monitor change and get paid for validated evidence: data + new behaviour. That is the only way.</a:t>
            </a:r>
          </a:p>
        </p:txBody>
      </p:sp>
      <p:sp>
        <p:nvSpPr>
          <p:cNvPr id="6" name="Text 4"/>
          <p:cNvSpPr/>
          <p:nvPr/>
        </p:nvSpPr>
        <p:spPr>
          <a:xfrm>
            <a:off x="4708187" y="960444"/>
            <a:ext cx="3886200" cy="228600"/>
          </a:xfrm>
          <a:prstGeom prst="rect">
            <a:avLst/>
          </a:prstGeom>
          <a:noFill/>
          <a:ln/>
        </p:spPr>
        <p:txBody>
          <a:bodyPr wrap="square" rtlCol="0" anchor="ctr"/>
          <a:lstStyle/>
          <a:p>
            <a:pPr marL="0" indent="0" algn="l">
              <a:buNone/>
            </a:pPr>
            <a:r>
              <a:rPr lang="en-US" sz="1300" b="1" dirty="0">
                <a:solidFill>
                  <a:srgbClr val="F0AC00"/>
                </a:solidFill>
                <a:latin typeface="Calibri" panose="020F0502020204030204" pitchFamily="34" charset="0"/>
                <a:cs typeface="Calibri" panose="020F0502020204030204" pitchFamily="34" charset="0"/>
              </a:rPr>
              <a:t>What is driving this</a:t>
            </a:r>
          </a:p>
        </p:txBody>
      </p:sp>
      <p:sp>
        <p:nvSpPr>
          <p:cNvPr id="3" name="Text 5">
            <a:extLst>
              <a:ext uri="{FF2B5EF4-FFF2-40B4-BE49-F238E27FC236}">
                <a16:creationId xmlns:a16="http://schemas.microsoft.com/office/drawing/2014/main" id="{4230C1D8-9C3F-85EE-2D27-D9A8E07C2C61}"/>
              </a:ext>
            </a:extLst>
          </p:cNvPr>
          <p:cNvSpPr/>
          <p:nvPr/>
        </p:nvSpPr>
        <p:spPr>
          <a:xfrm>
            <a:off x="4708187" y="1234440"/>
            <a:ext cx="3886200" cy="3200400"/>
          </a:xfrm>
          <a:prstGeom prst="rect">
            <a:avLst/>
          </a:prstGeom>
          <a:noFill/>
          <a:ln/>
        </p:spPr>
        <p:txBody>
          <a:bodyPr wrap="square" rtlCol="0" anchor="t"/>
          <a:lstStyle/>
          <a:p>
            <a:pPr marL="0" indent="0" algn="l">
              <a:lnSpc>
                <a:spcPct val="110000"/>
              </a:lnSpc>
              <a:buNone/>
            </a:pPr>
            <a:r>
              <a:rPr lang="en-US" sz="900" b="1" dirty="0">
                <a:solidFill>
                  <a:srgbClr val="333333"/>
                </a:solidFill>
                <a:latin typeface="Calibri" panose="020F0502020204030204" pitchFamily="34" charset="0"/>
                <a:ea typeface="Arial" pitchFamily="34" charset="-122"/>
                <a:cs typeface="Calibri" panose="020F0502020204030204" pitchFamily="34" charset="0"/>
              </a:rPr>
              <a:t>The efficiency reality</a:t>
            </a:r>
            <a:endParaRPr lang="en-US" sz="900" b="1" dirty="0">
              <a:latin typeface="Calibri" panose="020F0502020204030204" pitchFamily="34" charset="0"/>
              <a:cs typeface="Calibri" panose="020F0502020204030204" pitchFamily="34" charset="0"/>
            </a:endParaRPr>
          </a:p>
          <a:p>
            <a:pPr marL="0" indent="0" algn="l">
              <a:lnSpc>
                <a:spcPct val="110000"/>
              </a:lnSpc>
              <a:buNone/>
            </a:pPr>
            <a:r>
              <a:rPr lang="en-US" sz="900" dirty="0">
                <a:solidFill>
                  <a:srgbClr val="333333"/>
                </a:solidFill>
                <a:latin typeface="Calibri" panose="020F0502020204030204" pitchFamily="34" charset="0"/>
                <a:ea typeface="Arial" pitchFamily="34" charset="-122"/>
                <a:cs typeface="Calibri" panose="020F0502020204030204" pitchFamily="34" charset="0"/>
              </a:rPr>
              <a:t>AI compresses delivery 46% across 34 tasks, 7 roles, 9 stages. But without pricing reform, efficiency = revenue decline. Firms with AI but no commercial change see 12% median revenue drop within 18 months.</a:t>
            </a:r>
            <a:endParaRPr lang="en-US" sz="900" dirty="0">
              <a:latin typeface="Calibri" panose="020F0502020204030204" pitchFamily="34" charset="0"/>
              <a:cs typeface="Calibri" panose="020F0502020204030204" pitchFamily="34" charset="0"/>
            </a:endParaRPr>
          </a:p>
          <a:p>
            <a:pPr marL="0" indent="0" algn="l">
              <a:lnSpc>
                <a:spcPct val="110000"/>
              </a:lnSpc>
              <a:buNone/>
            </a:pPr>
            <a:endParaRPr lang="en-US" sz="900" dirty="0">
              <a:latin typeface="Calibri" panose="020F0502020204030204" pitchFamily="34" charset="0"/>
              <a:cs typeface="Calibri" panose="020F0502020204030204" pitchFamily="34" charset="0"/>
            </a:endParaRPr>
          </a:p>
          <a:p>
            <a:pPr marL="0" indent="0" algn="l">
              <a:lnSpc>
                <a:spcPct val="110000"/>
              </a:lnSpc>
              <a:buNone/>
            </a:pPr>
            <a:r>
              <a:rPr lang="en-US" sz="900" b="1" dirty="0">
                <a:solidFill>
                  <a:srgbClr val="333333"/>
                </a:solidFill>
                <a:latin typeface="Calibri" panose="020F0502020204030204" pitchFamily="34" charset="0"/>
                <a:ea typeface="Arial" pitchFamily="34" charset="-122"/>
                <a:cs typeface="Calibri" panose="020F0502020204030204" pitchFamily="34" charset="0"/>
              </a:rPr>
              <a:t>The market</a:t>
            </a:r>
            <a:endParaRPr lang="en-US" sz="900" b="1" dirty="0">
              <a:latin typeface="Calibri" panose="020F0502020204030204" pitchFamily="34" charset="0"/>
              <a:cs typeface="Calibri" panose="020F0502020204030204" pitchFamily="34" charset="0"/>
            </a:endParaRPr>
          </a:p>
          <a:p>
            <a:pPr marL="0" indent="0" algn="l">
              <a:lnSpc>
                <a:spcPct val="110000"/>
              </a:lnSpc>
              <a:buNone/>
            </a:pPr>
            <a:r>
              <a:rPr lang="en-US" sz="900" dirty="0">
                <a:solidFill>
                  <a:srgbClr val="333333"/>
                </a:solidFill>
                <a:latin typeface="Calibri" panose="020F0502020204030204" pitchFamily="34" charset="0"/>
                <a:ea typeface="Arial" pitchFamily="34" charset="-122"/>
                <a:cs typeface="Calibri" panose="020F0502020204030204" pitchFamily="34" charset="0"/>
              </a:rPr>
              <a:t>73% of clients now prefer outcome-based pricing. Ipsos upgraded to Platinum (2025). Accenture and Kantar deploying AI at scale. Strongest consultants leave firms that don't invest.</a:t>
            </a:r>
          </a:p>
          <a:p>
            <a:pPr marL="0" indent="0" algn="l">
              <a:lnSpc>
                <a:spcPct val="110000"/>
              </a:lnSpc>
              <a:buNone/>
            </a:pPr>
            <a:endParaRPr lang="en-US" sz="900" dirty="0">
              <a:latin typeface="Calibri" panose="020F0502020204030204" pitchFamily="34" charset="0"/>
              <a:cs typeface="Calibri" panose="020F0502020204030204" pitchFamily="34" charset="0"/>
            </a:endParaRPr>
          </a:p>
          <a:p>
            <a:pPr marL="0" indent="0" algn="l">
              <a:lnSpc>
                <a:spcPct val="110000"/>
              </a:lnSpc>
              <a:buNone/>
            </a:pPr>
            <a:r>
              <a:rPr lang="en-US" sz="900" b="1" dirty="0">
                <a:solidFill>
                  <a:srgbClr val="333333"/>
                </a:solidFill>
                <a:latin typeface="Calibri" panose="020F0502020204030204" pitchFamily="34" charset="0"/>
                <a:ea typeface="Arial" pitchFamily="34" charset="-122"/>
                <a:cs typeface="Calibri" panose="020F0502020204030204" pitchFamily="34" charset="0"/>
              </a:rPr>
              <a:t>The platform</a:t>
            </a:r>
            <a:endParaRPr lang="en-US" sz="900" b="1" dirty="0">
              <a:latin typeface="Calibri" panose="020F0502020204030204" pitchFamily="34" charset="0"/>
              <a:cs typeface="Calibri" panose="020F0502020204030204" pitchFamily="34" charset="0"/>
            </a:endParaRPr>
          </a:p>
          <a:p>
            <a:pPr marL="0" indent="0" algn="l">
              <a:lnSpc>
                <a:spcPct val="110000"/>
              </a:lnSpc>
              <a:buNone/>
            </a:pPr>
            <a:r>
              <a:rPr lang="en-US" sz="900" dirty="0">
                <a:solidFill>
                  <a:srgbClr val="333333"/>
                </a:solidFill>
                <a:latin typeface="Calibri" panose="020F0502020204030204" pitchFamily="34" charset="0"/>
                <a:ea typeface="Arial" pitchFamily="34" charset="-122"/>
                <a:cs typeface="Calibri" panose="020F0502020204030204" pitchFamily="34" charset="0"/>
              </a:rPr>
              <a:t>Qualtrics QLLM, Analyst Agent, CX Program Governance all live by Q2 2026 and absorbing ~40% of SI revenue. Partner Summit 2026: Platinum partners must build unique IP. QPN Platform Track (Q4 2026) rewards IP builders. AKT is named for the ETX relaunch.</a:t>
            </a:r>
            <a:endParaRPr lang="en-US" sz="900" dirty="0">
              <a:latin typeface="Calibri" panose="020F0502020204030204" pitchFamily="34" charset="0"/>
              <a:cs typeface="Calibri" panose="020F0502020204030204" pitchFamily="34" charset="0"/>
            </a:endParaRPr>
          </a:p>
          <a:p>
            <a:pPr marL="0" indent="0" algn="l">
              <a:lnSpc>
                <a:spcPct val="110000"/>
              </a:lnSpc>
              <a:buNone/>
            </a:pPr>
            <a:endParaRPr lang="en-US" sz="900" dirty="0">
              <a:latin typeface="Calibri" panose="020F0502020204030204" pitchFamily="34" charset="0"/>
              <a:cs typeface="Calibri" panose="020F0502020204030204" pitchFamily="34" charset="0"/>
            </a:endParaRPr>
          </a:p>
          <a:p>
            <a:pPr marL="0" indent="0" algn="l">
              <a:lnSpc>
                <a:spcPct val="110000"/>
              </a:lnSpc>
              <a:buNone/>
            </a:pPr>
            <a:r>
              <a:rPr lang="en-US" sz="900" b="1" dirty="0">
                <a:solidFill>
                  <a:srgbClr val="333333"/>
                </a:solidFill>
                <a:latin typeface="Calibri" panose="020F0502020204030204" pitchFamily="34" charset="0"/>
                <a:ea typeface="Arial" pitchFamily="34" charset="-122"/>
                <a:cs typeface="Calibri" panose="020F0502020204030204" pitchFamily="34" charset="0"/>
              </a:rPr>
              <a:t>The doomsday question</a:t>
            </a:r>
            <a:endParaRPr lang="en-US" sz="900" b="1" dirty="0">
              <a:latin typeface="Calibri" panose="020F0502020204030204" pitchFamily="34" charset="0"/>
              <a:cs typeface="Calibri" panose="020F0502020204030204" pitchFamily="34" charset="0"/>
            </a:endParaRPr>
          </a:p>
          <a:p>
            <a:pPr marL="0" indent="0" algn="l">
              <a:lnSpc>
                <a:spcPct val="110000"/>
              </a:lnSpc>
              <a:buNone/>
            </a:pPr>
            <a:r>
              <a:rPr lang="en-US" sz="900" dirty="0">
                <a:solidFill>
                  <a:srgbClr val="333333"/>
                </a:solidFill>
                <a:latin typeface="Calibri" panose="020F0502020204030204" pitchFamily="34" charset="0"/>
                <a:ea typeface="Arial" pitchFamily="34" charset="-122"/>
                <a:cs typeface="Calibri" panose="020F0502020204030204" pitchFamily="34" charset="0"/>
              </a:rPr>
              <a:t>What if Qualtrics becomes invisible behind Salesforce? What if clients build their own AI? The answer: AKT's advisory DNA + proprietary IP + human energy. That is what cannot be replicated.</a:t>
            </a:r>
            <a:endParaRPr lang="en-US" sz="900" dirty="0">
              <a:latin typeface="Calibri" panose="020F0502020204030204" pitchFamily="34" charset="0"/>
              <a:cs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How system integration work changes</a:t>
            </a:r>
          </a:p>
        </p:txBody>
      </p:sp>
      <p:sp>
        <p:nvSpPr>
          <p:cNvPr id="3" name="Text 1"/>
          <p:cNvSpPr/>
          <p:nvPr/>
        </p:nvSpPr>
        <p:spPr>
          <a:xfrm>
            <a:off x="457200" y="777240"/>
            <a:ext cx="8229600" cy="274320"/>
          </a:xfrm>
          <a:prstGeom prst="rect">
            <a:avLst/>
          </a:prstGeom>
          <a:noFill/>
          <a:ln/>
        </p:spPr>
        <p:txBody>
          <a:bodyPr wrap="square" rtlCol="0" anchor="ctr"/>
          <a:lstStyle/>
          <a:p>
            <a:pPr marL="0" indent="0" algn="l">
              <a:buNone/>
            </a:pPr>
            <a:r>
              <a:rPr lang="en-US" sz="1100" i="1" dirty="0">
                <a:solidFill>
                  <a:srgbClr val="666666"/>
                </a:solidFill>
                <a:latin typeface="Calibri" panose="020F0502020204030204" pitchFamily="34" charset="0"/>
                <a:cs typeface="Calibri" panose="020F0502020204030204" pitchFamily="34" charset="0"/>
              </a:rPr>
              <a:t>AI compresses the production layer; the architecture and activation layer expands</a:t>
            </a:r>
          </a:p>
        </p:txBody>
      </p:sp>
      <p:sp>
        <p:nvSpPr>
          <p:cNvPr id="5" name="Shape 3"/>
          <p:cNvSpPr/>
          <p:nvPr/>
        </p:nvSpPr>
        <p:spPr>
          <a:xfrm>
            <a:off x="457200" y="1188720"/>
            <a:ext cx="3886200" cy="2560320"/>
          </a:xfrm>
          <a:prstGeom prst="rect">
            <a:avLst/>
          </a:prstGeom>
          <a:solidFill>
            <a:srgbClr val="F7F7F7"/>
          </a:solidFill>
          <a:ln/>
        </p:spPr>
        <p:txBody>
          <a:bodyPr/>
          <a:lstStyle/>
          <a:p>
            <a:endParaRPr lang="nl-NL"/>
          </a:p>
        </p:txBody>
      </p:sp>
      <p:sp>
        <p:nvSpPr>
          <p:cNvPr id="6" name="Text 4"/>
          <p:cNvSpPr/>
          <p:nvPr/>
        </p:nvSpPr>
        <p:spPr>
          <a:xfrm>
            <a:off x="594360" y="1231008"/>
            <a:ext cx="3611880" cy="228600"/>
          </a:xfrm>
          <a:prstGeom prst="rect">
            <a:avLst/>
          </a:prstGeom>
          <a:noFill/>
          <a:ln/>
        </p:spPr>
        <p:txBody>
          <a:bodyPr wrap="square" rtlCol="0" anchor="ctr"/>
          <a:lstStyle/>
          <a:p>
            <a:pPr algn="l"/>
            <a:r>
              <a:rPr lang="en-US" sz="1300" b="1" dirty="0">
                <a:solidFill>
                  <a:srgbClr val="F0AC00"/>
                </a:solidFill>
                <a:latin typeface="Calibri" panose="020F0502020204030204" pitchFamily="34" charset="0"/>
                <a:cs typeface="Calibri" panose="020F0502020204030204" pitchFamily="34" charset="0"/>
              </a:rPr>
              <a:t>What AI compresses</a:t>
            </a:r>
          </a:p>
        </p:txBody>
      </p:sp>
      <p:sp>
        <p:nvSpPr>
          <p:cNvPr id="7" name="Text 5"/>
          <p:cNvSpPr/>
          <p:nvPr/>
        </p:nvSpPr>
        <p:spPr>
          <a:xfrm>
            <a:off x="594360" y="1649517"/>
            <a:ext cx="3611880" cy="320040"/>
          </a:xfrm>
          <a:prstGeom prst="rect">
            <a:avLst/>
          </a:prstGeom>
          <a:noFill/>
          <a:ln/>
        </p:spPr>
        <p:txBody>
          <a:bodyPr wrap="square" rtlCol="0" anchor="ctr"/>
          <a:lstStyle/>
          <a:p>
            <a:pPr marL="171450" indent="-171450" algn="l">
              <a:spcBef>
                <a:spcPts val="600"/>
              </a:spcBef>
              <a:spcAft>
                <a:spcPts val="0"/>
              </a:spcAft>
              <a:buClr>
                <a:schemeClr val="tx2"/>
              </a:buClr>
              <a:buFont typeface="Arial" panose="020B0604020202020204" pitchFamily="34" charset="0"/>
              <a:buChar char="•"/>
            </a:pPr>
            <a:r>
              <a:rPr lang="en-US" sz="900" dirty="0">
                <a:solidFill>
                  <a:srgbClr val="000000"/>
                </a:solidFill>
                <a:latin typeface="Calibri" panose="020F0502020204030204" pitchFamily="34" charset="0"/>
                <a:cs typeface="Calibri" panose="020F0502020204030204" pitchFamily="34" charset="0"/>
              </a:rPr>
              <a:t>Survey programming: Experience Agent Studio handles basic builds, Research Agent generates methodology and sample plans</a:t>
            </a:r>
          </a:p>
        </p:txBody>
      </p:sp>
      <p:sp>
        <p:nvSpPr>
          <p:cNvPr id="8" name="Text 6"/>
          <p:cNvSpPr/>
          <p:nvPr/>
        </p:nvSpPr>
        <p:spPr>
          <a:xfrm>
            <a:off x="594360" y="2018682"/>
            <a:ext cx="3611880" cy="320040"/>
          </a:xfrm>
          <a:prstGeom prst="rect">
            <a:avLst/>
          </a:prstGeom>
          <a:noFill/>
          <a:ln/>
        </p:spPr>
        <p:txBody>
          <a:bodyPr wrap="square" rtlCol="0" anchor="ctr"/>
          <a:lstStyle/>
          <a:p>
            <a:pPr marL="171450" indent="-171450" algn="l">
              <a:spcBef>
                <a:spcPts val="600"/>
              </a:spcBef>
              <a:spcAft>
                <a:spcPts val="0"/>
              </a:spcAft>
              <a:buClr>
                <a:schemeClr val="tx2"/>
              </a:buClr>
              <a:buFont typeface="Arial" panose="020B0604020202020204" pitchFamily="34" charset="0"/>
              <a:buChar char="•"/>
            </a:pPr>
            <a:r>
              <a:rPr lang="en-US" sz="900" dirty="0">
                <a:solidFill>
                  <a:srgbClr val="000000"/>
                </a:solidFill>
                <a:latin typeface="+mn-lt"/>
                <a:cs typeface="Calibri"/>
              </a:rPr>
              <a:t>Standard reporting : QLLM enables natural language querying of X+O data; Analyst Agent runs regression and driver analysis automatically</a:t>
            </a:r>
          </a:p>
        </p:txBody>
      </p:sp>
      <p:sp>
        <p:nvSpPr>
          <p:cNvPr id="9" name="Text 7"/>
          <p:cNvSpPr/>
          <p:nvPr/>
        </p:nvSpPr>
        <p:spPr>
          <a:xfrm>
            <a:off x="594360" y="2385609"/>
            <a:ext cx="3611880" cy="320040"/>
          </a:xfrm>
          <a:prstGeom prst="rect">
            <a:avLst/>
          </a:prstGeom>
          <a:noFill/>
          <a:ln/>
        </p:spPr>
        <p:txBody>
          <a:bodyPr wrap="square" rtlCol="0" anchor="ctr"/>
          <a:lstStyle/>
          <a:p>
            <a:pPr marL="171450" indent="-171450" algn="l">
              <a:spcBef>
                <a:spcPts val="600"/>
              </a:spcBef>
              <a:spcAft>
                <a:spcPts val="0"/>
              </a:spcAft>
              <a:buClr>
                <a:schemeClr val="tx2"/>
              </a:buClr>
              <a:buFont typeface="Arial" panose="020B0604020202020204" pitchFamily="34" charset="0"/>
              <a:buChar char="•"/>
            </a:pPr>
            <a:r>
              <a:rPr lang="en-US" sz="900" dirty="0">
                <a:solidFill>
                  <a:srgbClr val="000000"/>
                </a:solidFill>
                <a:latin typeface="+mn-lt"/>
                <a:cs typeface="Calibri"/>
              </a:rPr>
              <a:t>Text analytics setup: AI-powered topics (Q1 2026) auto-classify by intent and semantic meaning, replacing manual rule-building</a:t>
            </a:r>
          </a:p>
        </p:txBody>
      </p:sp>
      <p:sp>
        <p:nvSpPr>
          <p:cNvPr id="10" name="Text 8"/>
          <p:cNvSpPr/>
          <p:nvPr/>
        </p:nvSpPr>
        <p:spPr>
          <a:xfrm>
            <a:off x="594360" y="2777183"/>
            <a:ext cx="3611880" cy="320040"/>
          </a:xfrm>
          <a:prstGeom prst="rect">
            <a:avLst/>
          </a:prstGeom>
          <a:noFill/>
          <a:ln/>
        </p:spPr>
        <p:txBody>
          <a:bodyPr wrap="square" rtlCol="0" anchor="ctr"/>
          <a:lstStyle/>
          <a:p>
            <a:pPr marL="171450" indent="-171450" algn="l">
              <a:spcBef>
                <a:spcPts val="600"/>
              </a:spcBef>
              <a:spcAft>
                <a:spcPts val="0"/>
              </a:spcAft>
              <a:buClr>
                <a:schemeClr val="tx2"/>
              </a:buClr>
              <a:buFont typeface="Arial" panose="020B0604020202020204" pitchFamily="34" charset="0"/>
              <a:buChar char="•"/>
            </a:pPr>
            <a:r>
              <a:rPr lang="en-US" sz="900" dirty="0">
                <a:solidFill>
                  <a:srgbClr val="000000"/>
                </a:solidFill>
                <a:latin typeface="+mn-lt"/>
                <a:cs typeface="Calibri"/>
              </a:rPr>
              <a:t>CX </a:t>
            </a:r>
            <a:r>
              <a:rPr lang="en-US" sz="900" dirty="0" err="1">
                <a:solidFill>
                  <a:srgbClr val="000000"/>
                </a:solidFill>
                <a:latin typeface="+mn-lt"/>
                <a:cs typeface="Calibri"/>
              </a:rPr>
              <a:t>programme</a:t>
            </a:r>
            <a:r>
              <a:rPr lang="en-US" sz="900" dirty="0">
                <a:solidFill>
                  <a:srgbClr val="000000"/>
                </a:solidFill>
                <a:latin typeface="+mn-lt"/>
                <a:cs typeface="Calibri"/>
              </a:rPr>
              <a:t> health: CX Program Governance (Q2 2026) automates growth recommendations and business value calculations</a:t>
            </a:r>
          </a:p>
        </p:txBody>
      </p:sp>
      <p:sp>
        <p:nvSpPr>
          <p:cNvPr id="11" name="Text 9"/>
          <p:cNvSpPr/>
          <p:nvPr/>
        </p:nvSpPr>
        <p:spPr>
          <a:xfrm>
            <a:off x="594360" y="3144110"/>
            <a:ext cx="3611880" cy="320040"/>
          </a:xfrm>
          <a:prstGeom prst="rect">
            <a:avLst/>
          </a:prstGeom>
          <a:noFill/>
          <a:ln/>
        </p:spPr>
        <p:txBody>
          <a:bodyPr wrap="square" rtlCol="0" anchor="ctr"/>
          <a:lstStyle/>
          <a:p>
            <a:pPr marL="171450" indent="-171450" algn="l">
              <a:spcBef>
                <a:spcPts val="600"/>
              </a:spcBef>
              <a:spcAft>
                <a:spcPts val="0"/>
              </a:spcAft>
              <a:buClr>
                <a:schemeClr val="tx2"/>
              </a:buClr>
              <a:buFont typeface="Arial" panose="020B0604020202020204" pitchFamily="34" charset="0"/>
              <a:buChar char="•"/>
            </a:pPr>
            <a:r>
              <a:rPr lang="en-US" sz="900" dirty="0">
                <a:solidFill>
                  <a:srgbClr val="000000"/>
                </a:solidFill>
                <a:latin typeface="+mn-lt"/>
                <a:cs typeface="Calibri"/>
              </a:rPr>
              <a:t>Closed-loop actions &amp; Inner Loop Actions auto-personalise responses; Service Recovery Agent creates tickets from call transcripts</a:t>
            </a:r>
          </a:p>
        </p:txBody>
      </p:sp>
      <p:sp>
        <p:nvSpPr>
          <p:cNvPr id="12" name="Shape 10"/>
          <p:cNvSpPr/>
          <p:nvPr/>
        </p:nvSpPr>
        <p:spPr>
          <a:xfrm>
            <a:off x="4800600" y="1188720"/>
            <a:ext cx="3886200" cy="2560320"/>
          </a:xfrm>
          <a:prstGeom prst="rect">
            <a:avLst/>
          </a:prstGeom>
          <a:solidFill>
            <a:srgbClr val="F0FFF0"/>
          </a:solidFill>
          <a:ln/>
        </p:spPr>
        <p:txBody>
          <a:bodyPr/>
          <a:lstStyle/>
          <a:p>
            <a:endParaRPr lang="nl-NL"/>
          </a:p>
        </p:txBody>
      </p:sp>
      <p:sp>
        <p:nvSpPr>
          <p:cNvPr id="13" name="Text 11"/>
          <p:cNvSpPr/>
          <p:nvPr/>
        </p:nvSpPr>
        <p:spPr>
          <a:xfrm>
            <a:off x="4937760" y="1207008"/>
            <a:ext cx="3611880" cy="228600"/>
          </a:xfrm>
          <a:prstGeom prst="rect">
            <a:avLst/>
          </a:prstGeom>
          <a:noFill/>
          <a:ln/>
        </p:spPr>
        <p:txBody>
          <a:bodyPr wrap="square" rtlCol="0" anchor="ctr"/>
          <a:lstStyle/>
          <a:p>
            <a:pPr marL="0" indent="0" algn="l">
              <a:buNone/>
            </a:pPr>
            <a:r>
              <a:rPr lang="en-US" sz="1300" b="1" dirty="0">
                <a:solidFill>
                  <a:srgbClr val="F0AC00"/>
                </a:solidFill>
                <a:latin typeface="Calibri" panose="020F0502020204030204" pitchFamily="34" charset="0"/>
                <a:cs typeface="Calibri" panose="020F0502020204030204" pitchFamily="34" charset="0"/>
              </a:rPr>
              <a:t>What expands</a:t>
            </a:r>
          </a:p>
        </p:txBody>
      </p:sp>
      <p:sp>
        <p:nvSpPr>
          <p:cNvPr id="20" name="Text 18"/>
          <p:cNvSpPr/>
          <p:nvPr/>
        </p:nvSpPr>
        <p:spPr>
          <a:xfrm>
            <a:off x="354249" y="4100525"/>
            <a:ext cx="2182238" cy="182880"/>
          </a:xfrm>
          <a:prstGeom prst="rect">
            <a:avLst/>
          </a:prstGeom>
          <a:noFill/>
          <a:ln/>
        </p:spPr>
        <p:txBody>
          <a:bodyPr wrap="square" rtlCol="0" anchor="ctr"/>
          <a:lstStyle/>
          <a:p>
            <a:pPr marL="0" indent="0">
              <a:buNone/>
            </a:pPr>
            <a:r>
              <a:rPr lang="en-US" sz="1100" b="1" dirty="0">
                <a:solidFill>
                  <a:srgbClr val="000000"/>
                </a:solidFill>
                <a:latin typeface="Arial" pitchFamily="34" charset="0"/>
                <a:ea typeface="Arial" pitchFamily="34" charset="-122"/>
                <a:cs typeface="Arial" pitchFamily="34" charset="-120"/>
              </a:rPr>
              <a:t>Net impact on XM SI revenue:</a:t>
            </a:r>
            <a:endParaRPr lang="en-US" sz="1100" dirty="0"/>
          </a:p>
        </p:txBody>
      </p:sp>
      <p:sp>
        <p:nvSpPr>
          <p:cNvPr id="21" name="Text 19"/>
          <p:cNvSpPr/>
          <p:nvPr/>
        </p:nvSpPr>
        <p:spPr>
          <a:xfrm>
            <a:off x="2377440" y="4115769"/>
            <a:ext cx="6309360" cy="320040"/>
          </a:xfrm>
          <a:prstGeom prst="rect">
            <a:avLst/>
          </a:prstGeom>
          <a:noFill/>
          <a:ln/>
        </p:spPr>
        <p:txBody>
          <a:bodyPr wrap="square" rtlCol="0" anchor="ctr"/>
          <a:lstStyle/>
          <a:p>
            <a:pPr marL="0" indent="0" algn="l">
              <a:buNone/>
            </a:pPr>
            <a:r>
              <a:rPr lang="en-US" sz="1000" dirty="0">
                <a:solidFill>
                  <a:srgbClr val="333333"/>
                </a:solidFill>
                <a:latin typeface="Calibri" panose="020F0502020204030204" pitchFamily="34" charset="0"/>
                <a:ea typeface="Arial" pitchFamily="34" charset="-122"/>
                <a:cs typeface="Calibri" panose="020F0502020204030204" pitchFamily="34" charset="0"/>
              </a:rPr>
              <a:t>configuration revenue declines ~40% over 18 months. But Qualtrics is explicit: Platinum partners must build IP, orchestrate agents and prove outcomes. That is where revenue grows at higher margins.</a:t>
            </a:r>
            <a:endParaRPr lang="en-US" sz="1000" dirty="0">
              <a:latin typeface="Calibri" panose="020F0502020204030204" pitchFamily="34" charset="0"/>
              <a:cs typeface="Calibri" panose="020F0502020204030204" pitchFamily="34" charset="0"/>
            </a:endParaRPr>
          </a:p>
        </p:txBody>
      </p:sp>
      <p:sp>
        <p:nvSpPr>
          <p:cNvPr id="26" name="Text 18">
            <a:extLst>
              <a:ext uri="{FF2B5EF4-FFF2-40B4-BE49-F238E27FC236}">
                <a16:creationId xmlns:a16="http://schemas.microsoft.com/office/drawing/2014/main" id="{F07A9079-C76F-A48E-E809-A7F51F9ED3F1}"/>
              </a:ext>
            </a:extLst>
          </p:cNvPr>
          <p:cNvSpPr/>
          <p:nvPr/>
        </p:nvSpPr>
        <p:spPr>
          <a:xfrm>
            <a:off x="4937760" y="1435608"/>
            <a:ext cx="3611880" cy="137160"/>
          </a:xfrm>
          <a:prstGeom prst="rect">
            <a:avLst/>
          </a:prstGeom>
          <a:noFill/>
          <a:ln/>
        </p:spPr>
        <p:txBody>
          <a:bodyPr wrap="square" rtlCol="0" anchor="ctr"/>
          <a:lstStyle/>
          <a:p>
            <a:pPr marL="0" indent="0" algn="l">
              <a:buNone/>
            </a:pPr>
            <a:r>
              <a:rPr lang="en-US" sz="750" i="1" dirty="0">
                <a:solidFill>
                  <a:srgbClr val="666666"/>
                </a:solidFill>
                <a:latin typeface="Calibri" panose="020F0502020204030204" pitchFamily="34" charset="0"/>
                <a:ea typeface="Arial" pitchFamily="34" charset="-122"/>
                <a:cs typeface="Calibri" panose="020F0502020204030204" pitchFamily="34" charset="0"/>
              </a:rPr>
              <a:t>Advisory, activation, and architecture work that clients pay a premium for</a:t>
            </a:r>
            <a:endParaRPr lang="en-US" sz="750" dirty="0">
              <a:latin typeface="Calibri" panose="020F0502020204030204" pitchFamily="34" charset="0"/>
              <a:cs typeface="Calibri" panose="020F0502020204030204" pitchFamily="34" charset="0"/>
            </a:endParaRPr>
          </a:p>
        </p:txBody>
      </p:sp>
      <p:sp>
        <p:nvSpPr>
          <p:cNvPr id="27" name="Text 19">
            <a:extLst>
              <a:ext uri="{FF2B5EF4-FFF2-40B4-BE49-F238E27FC236}">
                <a16:creationId xmlns:a16="http://schemas.microsoft.com/office/drawing/2014/main" id="{985C8D11-C098-8C51-5C60-0B5E338C611D}"/>
              </a:ext>
            </a:extLst>
          </p:cNvPr>
          <p:cNvSpPr/>
          <p:nvPr/>
        </p:nvSpPr>
        <p:spPr>
          <a:xfrm>
            <a:off x="4937760" y="1841541"/>
            <a:ext cx="3611880" cy="128016"/>
          </a:xfrm>
          <a:prstGeom prst="rect">
            <a:avLst/>
          </a:prstGeom>
          <a:noFill/>
          <a:ln/>
        </p:spPr>
        <p:txBody>
          <a:bodyPr wrap="square" rtlCol="0" anchor="ctr"/>
          <a:lstStyle/>
          <a:p>
            <a:pPr marL="171450" indent="-171450" algn="l">
              <a:buClr>
                <a:srgbClr val="FFC000"/>
              </a:buClr>
              <a:buFont typeface="Arial" panose="020B0604020202020204" pitchFamily="34" charset="0"/>
              <a:buChar char="•"/>
            </a:pPr>
            <a:r>
              <a:rPr lang="en-US" sz="900" dirty="0">
                <a:solidFill>
                  <a:srgbClr val="000000"/>
                </a:solidFill>
                <a:latin typeface="+mn-lt"/>
                <a:cs typeface="Calibri"/>
              </a:rPr>
              <a:t>Strategy &amp; interpretation: more on insight interpretation, stakeholder alignment, and executive positioning</a:t>
            </a:r>
            <a:r>
              <a:rPr lang="en-US" sz="800" dirty="0">
                <a:solidFill>
                  <a:srgbClr val="333333"/>
                </a:solidFill>
                <a:latin typeface="Calibri" panose="020F0502020204030204" pitchFamily="34" charset="0"/>
                <a:ea typeface="Arial" pitchFamily="34" charset="-122"/>
                <a:cs typeface="Calibri" panose="020F0502020204030204" pitchFamily="34" charset="0"/>
              </a:rPr>
              <a:t>.</a:t>
            </a:r>
            <a:endParaRPr lang="en-US" sz="800" dirty="0">
              <a:latin typeface="Calibri" panose="020F0502020204030204" pitchFamily="34" charset="0"/>
              <a:cs typeface="Calibri" panose="020F0502020204030204" pitchFamily="34" charset="0"/>
            </a:endParaRPr>
          </a:p>
          <a:p>
            <a:pPr marL="0" indent="0" algn="l">
              <a:buNone/>
            </a:pPr>
            <a:endParaRPr lang="en-US" sz="850" dirty="0">
              <a:latin typeface="Calibri" panose="020F0502020204030204" pitchFamily="34" charset="0"/>
              <a:cs typeface="Calibri" panose="020F0502020204030204" pitchFamily="34" charset="0"/>
            </a:endParaRPr>
          </a:p>
        </p:txBody>
      </p:sp>
      <p:sp>
        <p:nvSpPr>
          <p:cNvPr id="29" name="Text 21">
            <a:extLst>
              <a:ext uri="{FF2B5EF4-FFF2-40B4-BE49-F238E27FC236}">
                <a16:creationId xmlns:a16="http://schemas.microsoft.com/office/drawing/2014/main" id="{E4D8134D-C9E0-301F-F1B9-58C8F1D03674}"/>
              </a:ext>
            </a:extLst>
          </p:cNvPr>
          <p:cNvSpPr/>
          <p:nvPr/>
        </p:nvSpPr>
        <p:spPr>
          <a:xfrm>
            <a:off x="4937760" y="2123059"/>
            <a:ext cx="3611880" cy="128016"/>
          </a:xfrm>
          <a:prstGeom prst="rect">
            <a:avLst/>
          </a:prstGeom>
          <a:noFill/>
          <a:ln/>
        </p:spPr>
        <p:txBody>
          <a:bodyPr wrap="square" rtlCol="0" anchor="ctr"/>
          <a:lstStyle/>
          <a:p>
            <a:pPr marL="171450" indent="-171450" algn="l">
              <a:buClr>
                <a:srgbClr val="FFC000"/>
              </a:buClr>
              <a:buFont typeface="Arial" panose="020B0604020202020204" pitchFamily="34" charset="0"/>
              <a:buChar char="•"/>
            </a:pPr>
            <a:r>
              <a:rPr lang="en-US" sz="900" dirty="0">
                <a:solidFill>
                  <a:srgbClr val="000000"/>
                </a:solidFill>
                <a:latin typeface="+mn-lt"/>
                <a:cs typeface="Calibri"/>
              </a:rPr>
              <a:t>Change activation: onsite activation, adoption measurement with CMX™, stakeholder readiness</a:t>
            </a:r>
            <a:endParaRPr lang="en-US" sz="850" dirty="0">
              <a:latin typeface="Calibri" panose="020F0502020204030204" pitchFamily="34" charset="0"/>
              <a:cs typeface="Calibri" panose="020F0502020204030204" pitchFamily="34" charset="0"/>
            </a:endParaRPr>
          </a:p>
        </p:txBody>
      </p:sp>
      <p:sp>
        <p:nvSpPr>
          <p:cNvPr id="31" name="Text 23">
            <a:extLst>
              <a:ext uri="{FF2B5EF4-FFF2-40B4-BE49-F238E27FC236}">
                <a16:creationId xmlns:a16="http://schemas.microsoft.com/office/drawing/2014/main" id="{CD7455BD-3416-93C4-B5E0-509F2CE1B87F}"/>
              </a:ext>
            </a:extLst>
          </p:cNvPr>
          <p:cNvSpPr/>
          <p:nvPr/>
        </p:nvSpPr>
        <p:spPr>
          <a:xfrm>
            <a:off x="4937760" y="2515084"/>
            <a:ext cx="3830104" cy="137160"/>
          </a:xfrm>
          <a:prstGeom prst="rect">
            <a:avLst/>
          </a:prstGeom>
          <a:noFill/>
          <a:ln/>
        </p:spPr>
        <p:txBody>
          <a:bodyPr wrap="square" rtlCol="0" anchor="ctr"/>
          <a:lstStyle/>
          <a:p>
            <a:pPr marL="171450" indent="-171450" algn="l">
              <a:buClr>
                <a:srgbClr val="FFC000"/>
              </a:buClr>
              <a:buFont typeface="Arial" panose="020B0604020202020204" pitchFamily="34" charset="0"/>
              <a:buChar char="•"/>
            </a:pPr>
            <a:r>
              <a:rPr lang="en-US" sz="900" dirty="0">
                <a:solidFill>
                  <a:srgbClr val="000000"/>
                </a:solidFill>
                <a:latin typeface="+mn-lt"/>
                <a:cs typeface="Calibri"/>
              </a:rPr>
              <a:t>Solution architecture: agent orchestration, multi-</a:t>
            </a:r>
            <a:r>
              <a:rPr lang="en-US" sz="900" dirty="0" err="1">
                <a:solidFill>
                  <a:srgbClr val="000000"/>
                </a:solidFill>
                <a:latin typeface="+mn-lt"/>
                <a:cs typeface="Calibri"/>
              </a:rPr>
              <a:t>programme</a:t>
            </a:r>
            <a:r>
              <a:rPr lang="en-US" sz="900" dirty="0">
                <a:solidFill>
                  <a:srgbClr val="000000"/>
                </a:solidFill>
                <a:latin typeface="+mn-lt"/>
                <a:cs typeface="Calibri"/>
              </a:rPr>
              <a:t> governance, integration design across platforms</a:t>
            </a:r>
            <a:endParaRPr lang="en-US" sz="800" dirty="0">
              <a:latin typeface="Calibri" panose="020F0502020204030204" pitchFamily="34" charset="0"/>
              <a:cs typeface="Calibri" panose="020F0502020204030204" pitchFamily="34" charset="0"/>
            </a:endParaRPr>
          </a:p>
          <a:p>
            <a:pPr marL="0" indent="0" algn="l">
              <a:buNone/>
            </a:pPr>
            <a:endParaRPr lang="en-US" sz="850" dirty="0">
              <a:latin typeface="Calibri" panose="020F0502020204030204" pitchFamily="34" charset="0"/>
              <a:cs typeface="Calibri" panose="020F0502020204030204" pitchFamily="34" charset="0"/>
            </a:endParaRPr>
          </a:p>
        </p:txBody>
      </p:sp>
      <p:sp>
        <p:nvSpPr>
          <p:cNvPr id="33" name="Text 25">
            <a:extLst>
              <a:ext uri="{FF2B5EF4-FFF2-40B4-BE49-F238E27FC236}">
                <a16:creationId xmlns:a16="http://schemas.microsoft.com/office/drawing/2014/main" id="{7E276209-C797-6FAA-60A9-87C86A06432B}"/>
              </a:ext>
            </a:extLst>
          </p:cNvPr>
          <p:cNvSpPr/>
          <p:nvPr/>
        </p:nvSpPr>
        <p:spPr>
          <a:xfrm>
            <a:off x="4937760" y="2873195"/>
            <a:ext cx="3611880" cy="128016"/>
          </a:xfrm>
          <a:prstGeom prst="rect">
            <a:avLst/>
          </a:prstGeom>
          <a:noFill/>
          <a:ln/>
        </p:spPr>
        <p:txBody>
          <a:bodyPr wrap="square" rtlCol="0" anchor="ctr"/>
          <a:lstStyle/>
          <a:p>
            <a:pPr marL="171450" indent="-171450" algn="l">
              <a:buClr>
                <a:srgbClr val="FFC000"/>
              </a:buClr>
              <a:buFont typeface="Arial" panose="020B0604020202020204" pitchFamily="34" charset="0"/>
              <a:buChar char="•"/>
            </a:pPr>
            <a:r>
              <a:rPr lang="en-US" sz="900" dirty="0">
                <a:solidFill>
                  <a:srgbClr val="000000"/>
                </a:solidFill>
                <a:latin typeface="+mn-lt"/>
                <a:cs typeface="Calibri"/>
              </a:rPr>
              <a:t>Outcome measurement: proving what actually changed. AI generates insights; AKT proves impact. This underpins outcome-based pricing</a:t>
            </a:r>
            <a:r>
              <a:rPr lang="en-US" sz="800" dirty="0">
                <a:solidFill>
                  <a:srgbClr val="333333"/>
                </a:solidFill>
                <a:latin typeface="Calibri" panose="020F0502020204030204" pitchFamily="34" charset="0"/>
                <a:ea typeface="Arial" pitchFamily="34" charset="-122"/>
                <a:cs typeface="Calibri" panose="020F0502020204030204" pitchFamily="34" charset="0"/>
              </a:rPr>
              <a:t>.</a:t>
            </a:r>
            <a:endParaRPr lang="en-US" sz="800" dirty="0">
              <a:latin typeface="Calibri" panose="020F0502020204030204" pitchFamily="34" charset="0"/>
              <a:cs typeface="Calibri" panose="020F0502020204030204" pitchFamily="34" charset="0"/>
            </a:endParaRPr>
          </a:p>
          <a:p>
            <a:pPr marL="0" indent="0" algn="l">
              <a:buNone/>
            </a:pPr>
            <a:endParaRPr lang="en-US" sz="850" dirty="0">
              <a:latin typeface="Calibri" panose="020F0502020204030204" pitchFamily="34" charset="0"/>
              <a:cs typeface="Calibri" panose="020F0502020204030204" pitchFamily="34" charset="0"/>
            </a:endParaRPr>
          </a:p>
        </p:txBody>
      </p:sp>
      <p:sp>
        <p:nvSpPr>
          <p:cNvPr id="34" name="Text 26">
            <a:extLst>
              <a:ext uri="{FF2B5EF4-FFF2-40B4-BE49-F238E27FC236}">
                <a16:creationId xmlns:a16="http://schemas.microsoft.com/office/drawing/2014/main" id="{82B3F34D-CBF4-A968-6D27-950BAF408CF1}"/>
              </a:ext>
            </a:extLst>
          </p:cNvPr>
          <p:cNvSpPr/>
          <p:nvPr/>
        </p:nvSpPr>
        <p:spPr>
          <a:xfrm>
            <a:off x="4937760" y="3044952"/>
            <a:ext cx="3611880" cy="274320"/>
          </a:xfrm>
          <a:prstGeom prst="rect">
            <a:avLst/>
          </a:prstGeom>
          <a:noFill/>
          <a:ln/>
        </p:spPr>
        <p:txBody>
          <a:bodyPr wrap="square" rtlCol="0" anchor="ctr"/>
          <a:lstStyle/>
          <a:p>
            <a:pPr marL="0" indent="0" algn="l">
              <a:lnSpc>
                <a:spcPct val="105000"/>
              </a:lnSpc>
              <a:buNone/>
            </a:pPr>
            <a:endParaRPr lang="en-US" sz="750" dirty="0">
              <a:latin typeface="Calibri" panose="020F0502020204030204" pitchFamily="34" charset="0"/>
              <a:cs typeface="Calibri" panose="020F0502020204030204" pitchFamily="34" charset="0"/>
            </a:endParaRPr>
          </a:p>
        </p:txBody>
      </p:sp>
      <p:sp>
        <p:nvSpPr>
          <p:cNvPr id="35" name="Text 27">
            <a:extLst>
              <a:ext uri="{FF2B5EF4-FFF2-40B4-BE49-F238E27FC236}">
                <a16:creationId xmlns:a16="http://schemas.microsoft.com/office/drawing/2014/main" id="{FCA25E97-1424-4998-71F0-7A1A364A1C70}"/>
              </a:ext>
            </a:extLst>
          </p:cNvPr>
          <p:cNvSpPr/>
          <p:nvPr/>
        </p:nvSpPr>
        <p:spPr>
          <a:xfrm>
            <a:off x="4937760" y="3306168"/>
            <a:ext cx="3611880" cy="128016"/>
          </a:xfrm>
          <a:prstGeom prst="rect">
            <a:avLst/>
          </a:prstGeom>
          <a:noFill/>
          <a:ln/>
        </p:spPr>
        <p:txBody>
          <a:bodyPr wrap="square" rtlCol="0" anchor="ctr"/>
          <a:lstStyle/>
          <a:p>
            <a:pPr marL="171450" indent="-171450" algn="l">
              <a:buClr>
                <a:srgbClr val="FFC000"/>
              </a:buClr>
              <a:buFont typeface="Arial" panose="020B0604020202020204" pitchFamily="34" charset="0"/>
              <a:buChar char="•"/>
            </a:pPr>
            <a:r>
              <a:rPr lang="en-US" sz="900" dirty="0">
                <a:solidFill>
                  <a:srgbClr val="000000"/>
                </a:solidFill>
                <a:latin typeface="+mn-lt"/>
                <a:cs typeface="Calibri"/>
              </a:rPr>
              <a:t>Platform IP: building proprietary offerings on Qualtrics Developer Platform and platform-agnostic tools leading to new revenue, recurring margins</a:t>
            </a:r>
            <a:r>
              <a:rPr lang="en-US" sz="800" dirty="0">
                <a:solidFill>
                  <a:srgbClr val="333333"/>
                </a:solidFill>
                <a:latin typeface="Calibri" panose="020F0502020204030204" pitchFamily="34" charset="0"/>
                <a:ea typeface="Arial" pitchFamily="34" charset="-122"/>
                <a:cs typeface="Calibri" panose="020F0502020204030204" pitchFamily="34" charset="0"/>
              </a:rPr>
              <a:t>.</a:t>
            </a:r>
            <a:endParaRPr lang="en-US" sz="800" dirty="0">
              <a:latin typeface="Calibri" panose="020F0502020204030204" pitchFamily="34" charset="0"/>
              <a:cs typeface="Calibri" panose="020F0502020204030204" pitchFamily="34" charset="0"/>
            </a:endParaRPr>
          </a:p>
          <a:p>
            <a:pPr marL="0" indent="0" algn="l">
              <a:buNone/>
            </a:pPr>
            <a:endParaRPr lang="en-US" sz="850" dirty="0">
              <a:latin typeface="Calibri" panose="020F0502020204030204" pitchFamily="34" charset="0"/>
              <a:cs typeface="Calibri" panose="020F0502020204030204" pitchFamily="34" charset="0"/>
            </a:endParaRPr>
          </a:p>
        </p:txBody>
      </p:sp>
      <p:sp>
        <p:nvSpPr>
          <p:cNvPr id="36" name="Text 28">
            <a:extLst>
              <a:ext uri="{FF2B5EF4-FFF2-40B4-BE49-F238E27FC236}">
                <a16:creationId xmlns:a16="http://schemas.microsoft.com/office/drawing/2014/main" id="{B4D01056-B3C0-A8F0-88BF-E65EBDC347CF}"/>
              </a:ext>
            </a:extLst>
          </p:cNvPr>
          <p:cNvSpPr/>
          <p:nvPr/>
        </p:nvSpPr>
        <p:spPr>
          <a:xfrm>
            <a:off x="4937760" y="3474720"/>
            <a:ext cx="3611880" cy="274320"/>
          </a:xfrm>
          <a:prstGeom prst="rect">
            <a:avLst/>
          </a:prstGeom>
          <a:noFill/>
          <a:ln/>
        </p:spPr>
        <p:txBody>
          <a:bodyPr wrap="square" rtlCol="0" anchor="ctr"/>
          <a:lstStyle/>
          <a:p>
            <a:pPr marL="0" indent="0" algn="l">
              <a:lnSpc>
                <a:spcPct val="105000"/>
              </a:lnSpc>
              <a:buNone/>
            </a:pPr>
            <a:endParaRPr lang="en-US" sz="750" dirty="0">
              <a:latin typeface="Calibri" panose="020F0502020204030204" pitchFamily="34" charset="0"/>
              <a:cs typeface="Calibri" panose="020F0502020204030204" pitchFamily="34" charset="0"/>
            </a:endParaRPr>
          </a:p>
        </p:txBody>
      </p:sp>
      <p:sp>
        <p:nvSpPr>
          <p:cNvPr id="37" name="Text 5">
            <a:extLst>
              <a:ext uri="{FF2B5EF4-FFF2-40B4-BE49-F238E27FC236}">
                <a16:creationId xmlns:a16="http://schemas.microsoft.com/office/drawing/2014/main" id="{30D2A07E-A10E-FE48-82AE-C92C4CE2B0C4}"/>
              </a:ext>
            </a:extLst>
          </p:cNvPr>
          <p:cNvSpPr/>
          <p:nvPr/>
        </p:nvSpPr>
        <p:spPr>
          <a:xfrm>
            <a:off x="594360" y="1435608"/>
            <a:ext cx="3611880" cy="137160"/>
          </a:xfrm>
          <a:prstGeom prst="rect">
            <a:avLst/>
          </a:prstGeom>
          <a:noFill/>
          <a:ln/>
        </p:spPr>
        <p:txBody>
          <a:bodyPr wrap="square" rtlCol="0" anchor="ctr"/>
          <a:lstStyle/>
          <a:p>
            <a:pPr marL="0" indent="0" algn="l">
              <a:buNone/>
            </a:pPr>
            <a:r>
              <a:rPr lang="en-US" sz="750" i="1" dirty="0">
                <a:solidFill>
                  <a:srgbClr val="666666"/>
                </a:solidFill>
                <a:latin typeface="Calibri" panose="020F0502020204030204" pitchFamily="34" charset="0"/>
                <a:ea typeface="Arial" pitchFamily="34" charset="-122"/>
                <a:cs typeface="Calibri" panose="020F0502020204030204" pitchFamily="34" charset="0"/>
              </a:rPr>
              <a:t>Production tasks absorbed by AI </a:t>
            </a:r>
            <a:endParaRPr lang="en-US" sz="750" dirty="0">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000" b="1" dirty="0">
                <a:solidFill>
                  <a:srgbClr val="000000"/>
                </a:solidFill>
                <a:latin typeface="Calibri" panose="020F0502020204030204" pitchFamily="34" charset="0"/>
                <a:cs typeface="Calibri" panose="020F0502020204030204" pitchFamily="34" charset="0"/>
              </a:rPr>
              <a:t>Four scenarios: one recommended route</a:t>
            </a:r>
          </a:p>
        </p:txBody>
      </p:sp>
      <p:sp>
        <p:nvSpPr>
          <p:cNvPr id="3" name="Text 1"/>
          <p:cNvSpPr/>
          <p:nvPr/>
        </p:nvSpPr>
        <p:spPr>
          <a:xfrm>
            <a:off x="457200" y="777240"/>
            <a:ext cx="8229600" cy="228600"/>
          </a:xfrm>
          <a:prstGeom prst="rect">
            <a:avLst/>
          </a:prstGeom>
          <a:noFill/>
          <a:ln/>
        </p:spPr>
        <p:txBody>
          <a:bodyPr wrap="square" rtlCol="0" anchor="ctr"/>
          <a:lstStyle/>
          <a:p>
            <a:pPr marL="0" indent="0" algn="l">
              <a:buNone/>
            </a:pPr>
            <a:r>
              <a:rPr lang="en-US" sz="1100" i="1" dirty="0">
                <a:solidFill>
                  <a:srgbClr val="666666"/>
                </a:solidFill>
                <a:latin typeface="Calibri" panose="020F0502020204030204" pitchFamily="34" charset="0"/>
                <a:cs typeface="Calibri" panose="020F0502020204030204" pitchFamily="34" charset="0"/>
              </a:rPr>
              <a:t>Two axes define the choice: how fast we implement AI, and whether we change the business model or keep it.</a:t>
            </a:r>
          </a:p>
        </p:txBody>
      </p:sp>
      <p:sp>
        <p:nvSpPr>
          <p:cNvPr id="5" name="Text 3"/>
          <p:cNvSpPr/>
          <p:nvPr/>
        </p:nvSpPr>
        <p:spPr>
          <a:xfrm rot="16200000">
            <a:off x="115110" y="2331331"/>
            <a:ext cx="914400" cy="182880"/>
          </a:xfrm>
          <a:prstGeom prst="rect">
            <a:avLst/>
          </a:prstGeom>
          <a:noFill/>
          <a:ln/>
        </p:spPr>
        <p:txBody>
          <a:bodyPr wrap="square" rtlCol="0" anchor="ctr"/>
          <a:lstStyle/>
          <a:p>
            <a:pPr marL="0" indent="0" algn="l">
              <a:buNone/>
            </a:pPr>
            <a:r>
              <a:rPr lang="en-US" sz="750" b="1" dirty="0">
                <a:solidFill>
                  <a:srgbClr val="666666"/>
                </a:solidFill>
                <a:latin typeface="Calibri" panose="020F0502020204030204" pitchFamily="34" charset="0"/>
                <a:ea typeface="Arial" pitchFamily="34" charset="-122"/>
                <a:cs typeface="Calibri" panose="020F0502020204030204" pitchFamily="34" charset="0"/>
              </a:rPr>
              <a:t>← Governed</a:t>
            </a:r>
            <a:endParaRPr lang="en-US" sz="750" dirty="0">
              <a:latin typeface="Calibri" panose="020F0502020204030204" pitchFamily="34" charset="0"/>
              <a:cs typeface="Calibri" panose="020F0502020204030204" pitchFamily="34" charset="0"/>
            </a:endParaRPr>
          </a:p>
        </p:txBody>
      </p:sp>
      <p:sp>
        <p:nvSpPr>
          <p:cNvPr id="6" name="Text 4"/>
          <p:cNvSpPr/>
          <p:nvPr/>
        </p:nvSpPr>
        <p:spPr>
          <a:xfrm rot="16200000">
            <a:off x="117379" y="1629740"/>
            <a:ext cx="914400" cy="182880"/>
          </a:xfrm>
          <a:prstGeom prst="rect">
            <a:avLst/>
          </a:prstGeom>
          <a:noFill/>
          <a:ln/>
        </p:spPr>
        <p:txBody>
          <a:bodyPr wrap="square" rtlCol="0" anchor="ctr"/>
          <a:lstStyle/>
          <a:p>
            <a:pPr marL="0" indent="0" algn="l">
              <a:buNone/>
            </a:pPr>
            <a:r>
              <a:rPr lang="en-US" sz="750" b="1" dirty="0">
                <a:solidFill>
                  <a:srgbClr val="666666"/>
                </a:solidFill>
                <a:latin typeface="Calibri" panose="020F0502020204030204" pitchFamily="34" charset="0"/>
                <a:ea typeface="Arial" pitchFamily="34" charset="-122"/>
                <a:cs typeface="Calibri" panose="020F0502020204030204" pitchFamily="34" charset="0"/>
              </a:rPr>
              <a:t>Fast →</a:t>
            </a:r>
            <a:endParaRPr lang="en-US" sz="750" dirty="0">
              <a:latin typeface="Calibri" panose="020F0502020204030204" pitchFamily="34" charset="0"/>
              <a:cs typeface="Calibri" panose="020F0502020204030204" pitchFamily="34" charset="0"/>
            </a:endParaRPr>
          </a:p>
        </p:txBody>
      </p:sp>
      <p:sp>
        <p:nvSpPr>
          <p:cNvPr id="7" name="Text 5"/>
          <p:cNvSpPr/>
          <p:nvPr/>
        </p:nvSpPr>
        <p:spPr>
          <a:xfrm rot="16200000">
            <a:off x="-548640" y="1874520"/>
            <a:ext cx="1828800" cy="182880"/>
          </a:xfrm>
          <a:prstGeom prst="rect">
            <a:avLst/>
          </a:prstGeom>
          <a:noFill/>
          <a:ln/>
        </p:spPr>
        <p:txBody>
          <a:bodyPr wrap="square" rtlCol="0" anchor="ctr"/>
          <a:lstStyle/>
          <a:p>
            <a:pPr marL="0" indent="0" algn="l">
              <a:buNone/>
            </a:pPr>
            <a:r>
              <a:rPr lang="en-US" sz="700" b="1" dirty="0">
                <a:solidFill>
                  <a:srgbClr val="999999"/>
                </a:solidFill>
                <a:latin typeface="Calibri" panose="020F0502020204030204" pitchFamily="34" charset="0"/>
                <a:ea typeface="Arial" pitchFamily="34" charset="-122"/>
                <a:cs typeface="Calibri" panose="020F0502020204030204" pitchFamily="34" charset="0"/>
              </a:rPr>
              <a:t>IMPLEMENTATION SPEED</a:t>
            </a:r>
            <a:endParaRPr lang="en-US" sz="700" dirty="0">
              <a:latin typeface="Calibri" panose="020F0502020204030204" pitchFamily="34" charset="0"/>
              <a:cs typeface="Calibri" panose="020F0502020204030204" pitchFamily="34" charset="0"/>
            </a:endParaRPr>
          </a:p>
        </p:txBody>
      </p:sp>
      <p:sp>
        <p:nvSpPr>
          <p:cNvPr id="8" name="Text 6"/>
          <p:cNvSpPr/>
          <p:nvPr/>
        </p:nvSpPr>
        <p:spPr>
          <a:xfrm>
            <a:off x="2834640" y="3246120"/>
            <a:ext cx="1828800" cy="164592"/>
          </a:xfrm>
          <a:prstGeom prst="rect">
            <a:avLst/>
          </a:prstGeom>
          <a:noFill/>
          <a:ln/>
        </p:spPr>
        <p:txBody>
          <a:bodyPr wrap="square" rtlCol="0" anchor="ctr"/>
          <a:lstStyle/>
          <a:p>
            <a:pPr marL="0" indent="0" algn="l">
              <a:buNone/>
            </a:pPr>
            <a:r>
              <a:rPr lang="en-US" sz="750" b="1" dirty="0">
                <a:solidFill>
                  <a:srgbClr val="666666"/>
                </a:solidFill>
                <a:latin typeface="Calibri" panose="020F0502020204030204" pitchFamily="34" charset="0"/>
                <a:ea typeface="Arial" pitchFamily="34" charset="-122"/>
                <a:cs typeface="Calibri" panose="020F0502020204030204" pitchFamily="34" charset="0"/>
              </a:rPr>
              <a:t>Same model ←</a:t>
            </a:r>
            <a:endParaRPr lang="en-US" sz="750" dirty="0">
              <a:latin typeface="Calibri" panose="020F0502020204030204" pitchFamily="34" charset="0"/>
              <a:cs typeface="Calibri" panose="020F0502020204030204" pitchFamily="34" charset="0"/>
            </a:endParaRPr>
          </a:p>
        </p:txBody>
      </p:sp>
      <p:sp>
        <p:nvSpPr>
          <p:cNvPr id="9" name="Text 7"/>
          <p:cNvSpPr/>
          <p:nvPr/>
        </p:nvSpPr>
        <p:spPr>
          <a:xfrm>
            <a:off x="4800600" y="3246120"/>
            <a:ext cx="1828800" cy="164592"/>
          </a:xfrm>
          <a:prstGeom prst="rect">
            <a:avLst/>
          </a:prstGeom>
          <a:noFill/>
          <a:ln/>
        </p:spPr>
        <p:txBody>
          <a:bodyPr wrap="square" rtlCol="0" anchor="ctr"/>
          <a:lstStyle/>
          <a:p>
            <a:pPr marL="0" indent="0" algn="l">
              <a:buNone/>
            </a:pPr>
            <a:r>
              <a:rPr lang="en-US" sz="750" b="1" dirty="0">
                <a:solidFill>
                  <a:srgbClr val="666666"/>
                </a:solidFill>
                <a:latin typeface="Calibri" panose="020F0502020204030204" pitchFamily="34" charset="0"/>
                <a:ea typeface="Arial" pitchFamily="34" charset="-122"/>
                <a:cs typeface="Calibri" panose="020F0502020204030204" pitchFamily="34" charset="0"/>
              </a:rPr>
              <a:t>→ Reinvented model</a:t>
            </a:r>
            <a:endParaRPr lang="en-US" sz="750" dirty="0">
              <a:latin typeface="Calibri" panose="020F0502020204030204" pitchFamily="34" charset="0"/>
              <a:cs typeface="Calibri" panose="020F0502020204030204" pitchFamily="34" charset="0"/>
            </a:endParaRPr>
          </a:p>
        </p:txBody>
      </p:sp>
      <p:sp>
        <p:nvSpPr>
          <p:cNvPr id="10" name="Text 8"/>
          <p:cNvSpPr/>
          <p:nvPr/>
        </p:nvSpPr>
        <p:spPr>
          <a:xfrm>
            <a:off x="3657600" y="3246120"/>
            <a:ext cx="2286000" cy="164592"/>
          </a:xfrm>
          <a:prstGeom prst="rect">
            <a:avLst/>
          </a:prstGeom>
          <a:noFill/>
          <a:ln/>
        </p:spPr>
        <p:txBody>
          <a:bodyPr wrap="square" rtlCol="0" anchor="ctr"/>
          <a:lstStyle/>
          <a:p>
            <a:pPr marL="0" indent="0" algn="l">
              <a:buNone/>
            </a:pPr>
            <a:r>
              <a:rPr lang="en-US" sz="700" b="1" dirty="0">
                <a:solidFill>
                  <a:srgbClr val="999999"/>
                </a:solidFill>
                <a:latin typeface="Calibri" panose="020F0502020204030204" pitchFamily="34" charset="0"/>
                <a:ea typeface="Arial" pitchFamily="34" charset="-122"/>
                <a:cs typeface="Calibri" panose="020F0502020204030204" pitchFamily="34" charset="0"/>
              </a:rPr>
              <a:t>BUSINESS MODEL CHANGE</a:t>
            </a:r>
            <a:endParaRPr lang="en-US" sz="700" dirty="0">
              <a:latin typeface="Calibri" panose="020F0502020204030204" pitchFamily="34" charset="0"/>
              <a:cs typeface="Calibri" panose="020F0502020204030204" pitchFamily="34" charset="0"/>
            </a:endParaRPr>
          </a:p>
        </p:txBody>
      </p:sp>
      <p:sp>
        <p:nvSpPr>
          <p:cNvPr id="11" name="Shape 9"/>
          <p:cNvSpPr/>
          <p:nvPr/>
        </p:nvSpPr>
        <p:spPr>
          <a:xfrm>
            <a:off x="914400" y="1143000"/>
            <a:ext cx="3520440" cy="960120"/>
          </a:xfrm>
          <a:prstGeom prst="rect">
            <a:avLst/>
          </a:prstGeom>
          <a:solidFill>
            <a:srgbClr val="FFF0F0"/>
          </a:solidFill>
          <a:ln/>
        </p:spPr>
        <p:txBody>
          <a:bodyPr/>
          <a:lstStyle/>
          <a:p>
            <a:pPr algn="l"/>
            <a:endParaRPr lang="nl-NL">
              <a:latin typeface="Calibri" panose="020F0502020204030204" pitchFamily="34" charset="0"/>
              <a:cs typeface="Calibri" panose="020F0502020204030204" pitchFamily="34" charset="0"/>
            </a:endParaRPr>
          </a:p>
        </p:txBody>
      </p:sp>
      <p:sp>
        <p:nvSpPr>
          <p:cNvPr id="12" name="Text 10"/>
          <p:cNvSpPr/>
          <p:nvPr/>
        </p:nvSpPr>
        <p:spPr>
          <a:xfrm>
            <a:off x="1005840" y="1179576"/>
            <a:ext cx="3337560" cy="182880"/>
          </a:xfrm>
          <a:prstGeom prst="rect">
            <a:avLst/>
          </a:prstGeom>
          <a:noFill/>
          <a:ln/>
        </p:spPr>
        <p:txBody>
          <a:bodyPr wrap="square" rtlCol="0" anchor="ctr"/>
          <a:lstStyle/>
          <a:p>
            <a:pPr marL="0" indent="0" algn="l">
              <a:buNone/>
            </a:pPr>
            <a:r>
              <a:rPr lang="en-US" sz="1100" b="1" dirty="0">
                <a:solidFill>
                  <a:srgbClr val="C0392B"/>
                </a:solidFill>
                <a:latin typeface="Calibri" panose="020F0502020204030204" pitchFamily="34" charset="0"/>
                <a:ea typeface="Arial" pitchFamily="34" charset="-122"/>
                <a:cs typeface="Calibri" panose="020F0502020204030204" pitchFamily="34" charset="0"/>
              </a:rPr>
              <a:t>A: Accelerated Practice</a:t>
            </a:r>
            <a:endParaRPr lang="en-US" sz="1100" dirty="0">
              <a:latin typeface="Calibri" panose="020F0502020204030204" pitchFamily="34" charset="0"/>
              <a:cs typeface="Calibri" panose="020F0502020204030204" pitchFamily="34" charset="0"/>
            </a:endParaRPr>
          </a:p>
        </p:txBody>
      </p:sp>
      <p:sp>
        <p:nvSpPr>
          <p:cNvPr id="13" name="Text 11"/>
          <p:cNvSpPr/>
          <p:nvPr/>
        </p:nvSpPr>
        <p:spPr>
          <a:xfrm>
            <a:off x="1005840" y="1362456"/>
            <a:ext cx="3337560" cy="128016"/>
          </a:xfrm>
          <a:prstGeom prst="rect">
            <a:avLst/>
          </a:prstGeom>
          <a:noFill/>
          <a:ln/>
        </p:spPr>
        <p:txBody>
          <a:bodyPr wrap="square" rtlCol="0" anchor="ctr"/>
          <a:lstStyle/>
          <a:p>
            <a:pPr marL="0" indent="0" algn="l">
              <a:buNone/>
            </a:pPr>
            <a:r>
              <a:rPr lang="en-US" sz="750" i="1" dirty="0">
                <a:solidFill>
                  <a:srgbClr val="666666"/>
                </a:solidFill>
                <a:latin typeface="Calibri" panose="020F0502020204030204" pitchFamily="34" charset="0"/>
                <a:ea typeface="Arial" pitchFamily="34" charset="-122"/>
                <a:cs typeface="Calibri" panose="020F0502020204030204" pitchFamily="34" charset="0"/>
              </a:rPr>
              <a:t>Fast implementation, unchanged business model</a:t>
            </a:r>
            <a:endParaRPr lang="en-US" sz="750" dirty="0">
              <a:latin typeface="Calibri" panose="020F0502020204030204" pitchFamily="34" charset="0"/>
              <a:cs typeface="Calibri" panose="020F0502020204030204" pitchFamily="34" charset="0"/>
            </a:endParaRPr>
          </a:p>
        </p:txBody>
      </p:sp>
      <p:sp>
        <p:nvSpPr>
          <p:cNvPr id="14" name="Text 12"/>
          <p:cNvSpPr/>
          <p:nvPr/>
        </p:nvSpPr>
        <p:spPr>
          <a:xfrm>
            <a:off x="1005840" y="150876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Speed doubles but hourly billing stays and price compression follows.</a:t>
            </a:r>
            <a:endParaRPr lang="en-US" sz="750" dirty="0">
              <a:latin typeface="Calibri" panose="020F0502020204030204" pitchFamily="34" charset="0"/>
              <a:cs typeface="Calibri" panose="020F0502020204030204" pitchFamily="34" charset="0"/>
            </a:endParaRPr>
          </a:p>
        </p:txBody>
      </p:sp>
      <p:sp>
        <p:nvSpPr>
          <p:cNvPr id="15" name="Text 13"/>
          <p:cNvSpPr/>
          <p:nvPr/>
        </p:nvSpPr>
        <p:spPr>
          <a:xfrm>
            <a:off x="1005840" y="169164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No new client value. Still a project factory, just faster.</a:t>
            </a:r>
            <a:endParaRPr lang="en-US" sz="750" dirty="0">
              <a:latin typeface="Calibri" panose="020F0502020204030204" pitchFamily="34" charset="0"/>
              <a:cs typeface="Calibri" panose="020F0502020204030204" pitchFamily="34" charset="0"/>
            </a:endParaRPr>
          </a:p>
        </p:txBody>
      </p:sp>
      <p:sp>
        <p:nvSpPr>
          <p:cNvPr id="16" name="Text 14"/>
          <p:cNvSpPr/>
          <p:nvPr/>
        </p:nvSpPr>
        <p:spPr>
          <a:xfrm>
            <a:off x="1005840" y="187452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Positioning erodes as speed becomes table stakes within 12 months.</a:t>
            </a:r>
            <a:endParaRPr lang="en-US" sz="750" dirty="0">
              <a:latin typeface="Calibri" panose="020F0502020204030204" pitchFamily="34" charset="0"/>
              <a:cs typeface="Calibri" panose="020F0502020204030204" pitchFamily="34" charset="0"/>
            </a:endParaRPr>
          </a:p>
        </p:txBody>
      </p:sp>
      <p:sp>
        <p:nvSpPr>
          <p:cNvPr id="17" name="Shape 15"/>
          <p:cNvSpPr/>
          <p:nvPr/>
        </p:nvSpPr>
        <p:spPr>
          <a:xfrm>
            <a:off x="4709160" y="1143000"/>
            <a:ext cx="3520440" cy="960120"/>
          </a:xfrm>
          <a:prstGeom prst="rect">
            <a:avLst/>
          </a:prstGeom>
          <a:solidFill>
            <a:srgbClr val="F0FFF0"/>
          </a:solidFill>
          <a:ln/>
        </p:spPr>
        <p:txBody>
          <a:bodyPr/>
          <a:lstStyle/>
          <a:p>
            <a:pPr algn="l"/>
            <a:endParaRPr lang="nl-NL">
              <a:latin typeface="Calibri" panose="020F0502020204030204" pitchFamily="34" charset="0"/>
              <a:cs typeface="Calibri" panose="020F0502020204030204" pitchFamily="34" charset="0"/>
            </a:endParaRPr>
          </a:p>
        </p:txBody>
      </p:sp>
      <p:sp>
        <p:nvSpPr>
          <p:cNvPr id="18" name="Text 16"/>
          <p:cNvSpPr/>
          <p:nvPr/>
        </p:nvSpPr>
        <p:spPr>
          <a:xfrm>
            <a:off x="4800600" y="1179576"/>
            <a:ext cx="3337560" cy="182880"/>
          </a:xfrm>
          <a:prstGeom prst="rect">
            <a:avLst/>
          </a:prstGeom>
          <a:noFill/>
          <a:ln/>
        </p:spPr>
        <p:txBody>
          <a:bodyPr wrap="square" rtlCol="0" anchor="ctr"/>
          <a:lstStyle/>
          <a:p>
            <a:pPr marL="0" indent="0" algn="l">
              <a:buNone/>
            </a:pPr>
            <a:r>
              <a:rPr lang="en-US" sz="1100" b="1" dirty="0">
                <a:solidFill>
                  <a:srgbClr val="27AE60"/>
                </a:solidFill>
                <a:latin typeface="Calibri" panose="020F0502020204030204" pitchFamily="34" charset="0"/>
                <a:ea typeface="Arial" pitchFamily="34" charset="-122"/>
                <a:cs typeface="Calibri" panose="020F0502020204030204" pitchFamily="34" charset="0"/>
              </a:rPr>
              <a:t>B: New Company</a:t>
            </a:r>
            <a:endParaRPr lang="en-US" sz="1100" dirty="0">
              <a:latin typeface="Calibri" panose="020F0502020204030204" pitchFamily="34" charset="0"/>
              <a:cs typeface="Calibri" panose="020F0502020204030204" pitchFamily="34" charset="0"/>
            </a:endParaRPr>
          </a:p>
        </p:txBody>
      </p:sp>
      <p:sp>
        <p:nvSpPr>
          <p:cNvPr id="19" name="Text 17"/>
          <p:cNvSpPr/>
          <p:nvPr/>
        </p:nvSpPr>
        <p:spPr>
          <a:xfrm>
            <a:off x="4800600" y="1362456"/>
            <a:ext cx="3337560" cy="128016"/>
          </a:xfrm>
          <a:prstGeom prst="rect">
            <a:avLst/>
          </a:prstGeom>
          <a:noFill/>
          <a:ln/>
        </p:spPr>
        <p:txBody>
          <a:bodyPr wrap="square" rtlCol="0" anchor="ctr"/>
          <a:lstStyle/>
          <a:p>
            <a:pPr marL="0" indent="0" algn="l">
              <a:buNone/>
            </a:pPr>
            <a:r>
              <a:rPr lang="en-US" sz="750" i="1" dirty="0">
                <a:solidFill>
                  <a:srgbClr val="666666"/>
                </a:solidFill>
                <a:latin typeface="Calibri" panose="020F0502020204030204" pitchFamily="34" charset="0"/>
                <a:ea typeface="Arial" pitchFamily="34" charset="-122"/>
                <a:cs typeface="Calibri" panose="020F0502020204030204" pitchFamily="34" charset="0"/>
              </a:rPr>
              <a:t>Fast implementation, reinvented business model</a:t>
            </a:r>
            <a:endParaRPr lang="en-US" sz="750" dirty="0">
              <a:latin typeface="Calibri" panose="020F0502020204030204" pitchFamily="34" charset="0"/>
              <a:cs typeface="Calibri" panose="020F0502020204030204" pitchFamily="34" charset="0"/>
            </a:endParaRPr>
          </a:p>
        </p:txBody>
      </p:sp>
      <p:sp>
        <p:nvSpPr>
          <p:cNvPr id="20" name="Text 18"/>
          <p:cNvSpPr/>
          <p:nvPr/>
        </p:nvSpPr>
        <p:spPr>
          <a:xfrm>
            <a:off x="4800600" y="1508760"/>
            <a:ext cx="3337560" cy="182880"/>
          </a:xfrm>
          <a:prstGeom prst="rect">
            <a:avLst/>
          </a:prstGeom>
          <a:noFill/>
          <a:ln/>
        </p:spPr>
        <p:txBody>
          <a:bodyPr wrap="square" rtlCol="0" anchor="ctr"/>
          <a:lstStyle/>
          <a:p>
            <a:pPr marL="171450" indent="-171450" algn="l">
              <a:lnSpc>
                <a:spcPct val="100000"/>
              </a:lnSpc>
              <a:buClr>
                <a:schemeClr val="tx2"/>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Full task restructuring. CMX™ becomes predictive activation platform.</a:t>
            </a:r>
            <a:endParaRPr lang="en-US" sz="750" dirty="0">
              <a:latin typeface="Calibri" panose="020F0502020204030204" pitchFamily="34" charset="0"/>
              <a:cs typeface="Calibri" panose="020F0502020204030204" pitchFamily="34" charset="0"/>
            </a:endParaRPr>
          </a:p>
        </p:txBody>
      </p:sp>
      <p:sp>
        <p:nvSpPr>
          <p:cNvPr id="21" name="Text 19"/>
          <p:cNvSpPr/>
          <p:nvPr/>
        </p:nvSpPr>
        <p:spPr>
          <a:xfrm>
            <a:off x="4800600" y="1691640"/>
            <a:ext cx="3337560" cy="182880"/>
          </a:xfrm>
          <a:prstGeom prst="rect">
            <a:avLst/>
          </a:prstGeom>
          <a:noFill/>
          <a:ln/>
        </p:spPr>
        <p:txBody>
          <a:bodyPr wrap="square" rtlCol="0" anchor="ctr"/>
          <a:lstStyle/>
          <a:p>
            <a:pPr marL="171450" indent="-171450" algn="l">
              <a:lnSpc>
                <a:spcPct val="100000"/>
              </a:lnSpc>
              <a:buClr>
                <a:schemeClr val="tx2"/>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Outcome-based pricing and product subscriptions replace hourly billing.</a:t>
            </a:r>
            <a:endParaRPr lang="en-US" sz="750" dirty="0">
              <a:latin typeface="Calibri" panose="020F0502020204030204" pitchFamily="34" charset="0"/>
              <a:cs typeface="Calibri" panose="020F0502020204030204" pitchFamily="34" charset="0"/>
            </a:endParaRPr>
          </a:p>
        </p:txBody>
      </p:sp>
      <p:sp>
        <p:nvSpPr>
          <p:cNvPr id="22" name="Text 20"/>
          <p:cNvSpPr/>
          <p:nvPr/>
        </p:nvSpPr>
        <p:spPr>
          <a:xfrm>
            <a:off x="4800600" y="1874520"/>
            <a:ext cx="3337560" cy="182880"/>
          </a:xfrm>
          <a:prstGeom prst="rect">
            <a:avLst/>
          </a:prstGeom>
          <a:noFill/>
          <a:ln/>
        </p:spPr>
        <p:txBody>
          <a:bodyPr wrap="square" rtlCol="0" anchor="ctr"/>
          <a:lstStyle/>
          <a:p>
            <a:pPr marL="171450" indent="-171450" algn="l">
              <a:lnSpc>
                <a:spcPct val="100000"/>
              </a:lnSpc>
              <a:buClr>
                <a:schemeClr val="tx2"/>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Highest reward, highest risk. Requires dual execution capacity.</a:t>
            </a:r>
            <a:endParaRPr lang="en-US" sz="750" dirty="0">
              <a:latin typeface="Calibri" panose="020F0502020204030204" pitchFamily="34" charset="0"/>
              <a:cs typeface="Calibri" panose="020F0502020204030204" pitchFamily="34" charset="0"/>
            </a:endParaRPr>
          </a:p>
        </p:txBody>
      </p:sp>
      <p:sp>
        <p:nvSpPr>
          <p:cNvPr id="23" name="Shape 21"/>
          <p:cNvSpPr/>
          <p:nvPr/>
        </p:nvSpPr>
        <p:spPr>
          <a:xfrm>
            <a:off x="914400" y="2240280"/>
            <a:ext cx="3520440" cy="960120"/>
          </a:xfrm>
          <a:prstGeom prst="rect">
            <a:avLst/>
          </a:prstGeom>
          <a:solidFill>
            <a:srgbClr val="FFF8E8"/>
          </a:solidFill>
          <a:ln w="19050">
            <a:solidFill>
              <a:srgbClr val="E67E22"/>
            </a:solidFill>
            <a:prstDash val="solid"/>
          </a:ln>
        </p:spPr>
        <p:txBody>
          <a:bodyPr/>
          <a:lstStyle/>
          <a:p>
            <a:pPr marL="285750" indent="-285750" algn="l">
              <a:buClr>
                <a:srgbClr val="FFC000"/>
              </a:buClr>
              <a:buFont typeface="Arial" panose="020B0604020202020204" pitchFamily="34" charset="0"/>
              <a:buChar char="•"/>
            </a:pPr>
            <a:endParaRPr lang="nl-NL">
              <a:latin typeface="Calibri" panose="020F0502020204030204" pitchFamily="34" charset="0"/>
              <a:cs typeface="Calibri" panose="020F0502020204030204" pitchFamily="34" charset="0"/>
            </a:endParaRPr>
          </a:p>
        </p:txBody>
      </p:sp>
      <p:sp>
        <p:nvSpPr>
          <p:cNvPr id="24" name="Text 22"/>
          <p:cNvSpPr/>
          <p:nvPr/>
        </p:nvSpPr>
        <p:spPr>
          <a:xfrm>
            <a:off x="1005840" y="2276856"/>
            <a:ext cx="3337560" cy="182880"/>
          </a:xfrm>
          <a:prstGeom prst="rect">
            <a:avLst/>
          </a:prstGeom>
          <a:noFill/>
          <a:ln/>
        </p:spPr>
        <p:txBody>
          <a:bodyPr wrap="square" rtlCol="0" anchor="ctr"/>
          <a:lstStyle/>
          <a:p>
            <a:pPr marL="0" indent="0" algn="l">
              <a:buNone/>
            </a:pPr>
            <a:r>
              <a:rPr lang="en-US" sz="1100" b="1" dirty="0">
                <a:solidFill>
                  <a:srgbClr val="E67E22"/>
                </a:solidFill>
                <a:latin typeface="Calibri" panose="020F0502020204030204" pitchFamily="34" charset="0"/>
                <a:ea typeface="Arial" pitchFamily="34" charset="-122"/>
                <a:cs typeface="Calibri" panose="020F0502020204030204" pitchFamily="34" charset="0"/>
              </a:rPr>
              <a:t>C: Smarter Practice</a:t>
            </a:r>
            <a:endParaRPr lang="en-US" sz="1100" dirty="0">
              <a:latin typeface="Calibri" panose="020F0502020204030204" pitchFamily="34" charset="0"/>
              <a:cs typeface="Calibri" panose="020F0502020204030204" pitchFamily="34" charset="0"/>
            </a:endParaRPr>
          </a:p>
        </p:txBody>
      </p:sp>
      <p:sp>
        <p:nvSpPr>
          <p:cNvPr id="25" name="Text 23"/>
          <p:cNvSpPr/>
          <p:nvPr/>
        </p:nvSpPr>
        <p:spPr>
          <a:xfrm>
            <a:off x="1005840" y="2459736"/>
            <a:ext cx="3337560" cy="128016"/>
          </a:xfrm>
          <a:prstGeom prst="rect">
            <a:avLst/>
          </a:prstGeom>
          <a:noFill/>
          <a:ln/>
        </p:spPr>
        <p:txBody>
          <a:bodyPr wrap="square" rtlCol="0" anchor="ctr"/>
          <a:lstStyle/>
          <a:p>
            <a:pPr marL="0" indent="0" algn="l">
              <a:buNone/>
            </a:pPr>
            <a:r>
              <a:rPr lang="en-US" sz="750" i="1" dirty="0">
                <a:solidFill>
                  <a:srgbClr val="666666"/>
                </a:solidFill>
                <a:latin typeface="Calibri" panose="020F0502020204030204" pitchFamily="34" charset="0"/>
                <a:ea typeface="Arial" pitchFamily="34" charset="-122"/>
                <a:cs typeface="Calibri" panose="020F0502020204030204" pitchFamily="34" charset="0"/>
              </a:rPr>
              <a:t>Governed implementation, efficiency focus</a:t>
            </a:r>
            <a:endParaRPr lang="en-US" sz="750" dirty="0">
              <a:latin typeface="Calibri" panose="020F0502020204030204" pitchFamily="34" charset="0"/>
              <a:cs typeface="Calibri" panose="020F0502020204030204" pitchFamily="34" charset="0"/>
            </a:endParaRPr>
          </a:p>
        </p:txBody>
      </p:sp>
      <p:sp>
        <p:nvSpPr>
          <p:cNvPr id="26" name="Text 24"/>
          <p:cNvSpPr/>
          <p:nvPr/>
        </p:nvSpPr>
        <p:spPr>
          <a:xfrm>
            <a:off x="1005840" y="260604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Phased rollout with quality gates. Structured training, psychological safety.</a:t>
            </a:r>
            <a:endParaRPr lang="en-US" sz="750" dirty="0">
              <a:latin typeface="Calibri" panose="020F0502020204030204" pitchFamily="34" charset="0"/>
              <a:cs typeface="Calibri" panose="020F0502020204030204" pitchFamily="34" charset="0"/>
            </a:endParaRPr>
          </a:p>
        </p:txBody>
      </p:sp>
      <p:sp>
        <p:nvSpPr>
          <p:cNvPr id="27" name="Text 25"/>
          <p:cNvSpPr/>
          <p:nvPr/>
        </p:nvSpPr>
        <p:spPr>
          <a:xfrm>
            <a:off x="1005840" y="278892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Significant delivery compression reinvested into margin or capacity.</a:t>
            </a:r>
            <a:endParaRPr lang="en-US" sz="750" dirty="0">
              <a:latin typeface="Calibri" panose="020F0502020204030204" pitchFamily="34" charset="0"/>
              <a:cs typeface="Calibri" panose="020F0502020204030204" pitchFamily="34" charset="0"/>
            </a:endParaRPr>
          </a:p>
        </p:txBody>
      </p:sp>
      <p:sp>
        <p:nvSpPr>
          <p:cNvPr id="28" name="Text 26"/>
          <p:cNvSpPr/>
          <p:nvPr/>
        </p:nvSpPr>
        <p:spPr>
          <a:xfrm>
            <a:off x="1005840" y="297180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Foundation for everything — but stays a project factory without next step.</a:t>
            </a:r>
            <a:endParaRPr lang="en-US" sz="750" dirty="0">
              <a:latin typeface="Calibri" panose="020F0502020204030204" pitchFamily="34" charset="0"/>
              <a:cs typeface="Calibri" panose="020F0502020204030204" pitchFamily="34" charset="0"/>
            </a:endParaRPr>
          </a:p>
        </p:txBody>
      </p:sp>
      <p:sp>
        <p:nvSpPr>
          <p:cNvPr id="29" name="Text 27"/>
          <p:cNvSpPr/>
          <p:nvPr/>
        </p:nvSpPr>
        <p:spPr>
          <a:xfrm>
            <a:off x="4160520" y="2258568"/>
            <a:ext cx="182880" cy="182880"/>
          </a:xfrm>
          <a:prstGeom prst="rect">
            <a:avLst/>
          </a:prstGeom>
          <a:noFill/>
          <a:ln/>
        </p:spPr>
        <p:txBody>
          <a:bodyPr wrap="square" rtlCol="0" anchor="ctr"/>
          <a:lstStyle/>
          <a:p>
            <a:pPr marL="0" indent="0" algn="l">
              <a:buNone/>
            </a:pPr>
            <a:r>
              <a:rPr lang="en-US" sz="1200" dirty="0">
                <a:solidFill>
                  <a:srgbClr val="E67E22"/>
                </a:solidFill>
                <a:latin typeface="Calibri" panose="020F0502020204030204" pitchFamily="34" charset="0"/>
                <a:ea typeface="Arial" pitchFamily="34" charset="-122"/>
                <a:cs typeface="Calibri" panose="020F0502020204030204" pitchFamily="34" charset="0"/>
              </a:rPr>
              <a:t>★</a:t>
            </a:r>
            <a:endParaRPr lang="en-US" sz="1200" dirty="0">
              <a:latin typeface="Calibri" panose="020F0502020204030204" pitchFamily="34" charset="0"/>
              <a:cs typeface="Calibri" panose="020F0502020204030204" pitchFamily="34" charset="0"/>
            </a:endParaRPr>
          </a:p>
        </p:txBody>
      </p:sp>
      <p:sp>
        <p:nvSpPr>
          <p:cNvPr id="30" name="Shape 28"/>
          <p:cNvSpPr/>
          <p:nvPr/>
        </p:nvSpPr>
        <p:spPr>
          <a:xfrm>
            <a:off x="4709160" y="2240280"/>
            <a:ext cx="3520440" cy="960120"/>
          </a:xfrm>
          <a:prstGeom prst="rect">
            <a:avLst/>
          </a:prstGeom>
          <a:solidFill>
            <a:srgbClr val="E8F4FF"/>
          </a:solidFill>
          <a:ln w="19050">
            <a:solidFill>
              <a:srgbClr val="2980B9"/>
            </a:solidFill>
            <a:prstDash val="solid"/>
          </a:ln>
        </p:spPr>
        <p:txBody>
          <a:bodyPr/>
          <a:lstStyle/>
          <a:p>
            <a:pPr algn="l"/>
            <a:endParaRPr lang="nl-NL">
              <a:latin typeface="Calibri" panose="020F0502020204030204" pitchFamily="34" charset="0"/>
              <a:cs typeface="Calibri" panose="020F0502020204030204" pitchFamily="34" charset="0"/>
            </a:endParaRPr>
          </a:p>
        </p:txBody>
      </p:sp>
      <p:sp>
        <p:nvSpPr>
          <p:cNvPr id="31" name="Text 29"/>
          <p:cNvSpPr/>
          <p:nvPr/>
        </p:nvSpPr>
        <p:spPr>
          <a:xfrm>
            <a:off x="4800600" y="2276856"/>
            <a:ext cx="3337560" cy="182880"/>
          </a:xfrm>
          <a:prstGeom prst="rect">
            <a:avLst/>
          </a:prstGeom>
          <a:noFill/>
          <a:ln/>
        </p:spPr>
        <p:txBody>
          <a:bodyPr wrap="square" rtlCol="0" anchor="ctr"/>
          <a:lstStyle/>
          <a:p>
            <a:pPr marL="0" indent="0" algn="l">
              <a:buNone/>
            </a:pPr>
            <a:r>
              <a:rPr lang="en-US" sz="1100" b="1" dirty="0">
                <a:solidFill>
                  <a:srgbClr val="2980B9"/>
                </a:solidFill>
                <a:latin typeface="Calibri" panose="020F0502020204030204" pitchFamily="34" charset="0"/>
                <a:ea typeface="Arial" pitchFamily="34" charset="-122"/>
                <a:cs typeface="Calibri" panose="020F0502020204030204" pitchFamily="34" charset="0"/>
              </a:rPr>
              <a:t>D: Quiet Transition</a:t>
            </a:r>
            <a:endParaRPr lang="en-US" sz="1100" dirty="0">
              <a:latin typeface="Calibri" panose="020F0502020204030204" pitchFamily="34" charset="0"/>
              <a:cs typeface="Calibri" panose="020F0502020204030204" pitchFamily="34" charset="0"/>
            </a:endParaRPr>
          </a:p>
        </p:txBody>
      </p:sp>
      <p:sp>
        <p:nvSpPr>
          <p:cNvPr id="32" name="Text 30"/>
          <p:cNvSpPr/>
          <p:nvPr/>
        </p:nvSpPr>
        <p:spPr>
          <a:xfrm>
            <a:off x="4800600" y="2459736"/>
            <a:ext cx="3337560" cy="128016"/>
          </a:xfrm>
          <a:prstGeom prst="rect">
            <a:avLst/>
          </a:prstGeom>
          <a:noFill/>
          <a:ln/>
        </p:spPr>
        <p:txBody>
          <a:bodyPr wrap="square" rtlCol="0" anchor="ctr"/>
          <a:lstStyle/>
          <a:p>
            <a:pPr marL="0" indent="0" algn="l">
              <a:buNone/>
            </a:pPr>
            <a:r>
              <a:rPr lang="en-US" sz="750" i="1" dirty="0">
                <a:solidFill>
                  <a:srgbClr val="666666"/>
                </a:solidFill>
                <a:latin typeface="Calibri" panose="020F0502020204030204" pitchFamily="34" charset="0"/>
                <a:ea typeface="Arial" pitchFamily="34" charset="-122"/>
                <a:cs typeface="Calibri" panose="020F0502020204030204" pitchFamily="34" charset="0"/>
              </a:rPr>
              <a:t>Governed implementation, commercial experimentation</a:t>
            </a:r>
            <a:endParaRPr lang="en-US" sz="750" dirty="0">
              <a:latin typeface="Calibri" panose="020F0502020204030204" pitchFamily="34" charset="0"/>
              <a:cs typeface="Calibri" panose="020F0502020204030204" pitchFamily="34" charset="0"/>
            </a:endParaRPr>
          </a:p>
        </p:txBody>
      </p:sp>
      <p:sp>
        <p:nvSpPr>
          <p:cNvPr id="33" name="Text 31"/>
          <p:cNvSpPr/>
          <p:nvPr/>
        </p:nvSpPr>
        <p:spPr>
          <a:xfrm>
            <a:off x="4800600" y="260604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Same governance as C plus one outcome-based pricing pilot.</a:t>
            </a:r>
            <a:endParaRPr lang="en-US" sz="750" dirty="0">
              <a:latin typeface="Calibri" panose="020F0502020204030204" pitchFamily="34" charset="0"/>
              <a:cs typeface="Calibri" panose="020F0502020204030204" pitchFamily="34" charset="0"/>
            </a:endParaRPr>
          </a:p>
        </p:txBody>
      </p:sp>
      <p:sp>
        <p:nvSpPr>
          <p:cNvPr id="34" name="Text 32"/>
          <p:cNvSpPr/>
          <p:nvPr/>
        </p:nvSpPr>
        <p:spPr>
          <a:xfrm>
            <a:off x="4800600" y="278892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Proves the activation model and recurring revenue at low risk.</a:t>
            </a:r>
            <a:endParaRPr lang="en-US" sz="750" dirty="0">
              <a:latin typeface="Calibri" panose="020F0502020204030204" pitchFamily="34" charset="0"/>
              <a:cs typeface="Calibri" panose="020F0502020204030204" pitchFamily="34" charset="0"/>
            </a:endParaRPr>
          </a:p>
        </p:txBody>
      </p:sp>
      <p:sp>
        <p:nvSpPr>
          <p:cNvPr id="35" name="Text 33"/>
          <p:cNvSpPr/>
          <p:nvPr/>
        </p:nvSpPr>
        <p:spPr>
          <a:xfrm>
            <a:off x="4800600" y="2971800"/>
            <a:ext cx="3337560" cy="182880"/>
          </a:xfrm>
          <a:prstGeom prst="rect">
            <a:avLst/>
          </a:prstGeom>
          <a:noFill/>
          <a:ln/>
        </p:spPr>
        <p:txBody>
          <a:bodyPr wrap="square" rtlCol="0" anchor="ctr"/>
          <a:lstStyle/>
          <a:p>
            <a:pPr marL="171450" indent="-171450" algn="l">
              <a:lnSpc>
                <a:spcPct val="100000"/>
              </a:lnSpc>
              <a:buClr>
                <a:srgbClr val="FFC000"/>
              </a:buClr>
              <a:buFont typeface="Arial" panose="020B0604020202020204" pitchFamily="34" charset="0"/>
              <a:buChar char="•"/>
            </a:pPr>
            <a:r>
              <a:rPr lang="en-US" sz="750" dirty="0">
                <a:solidFill>
                  <a:srgbClr val="333333"/>
                </a:solidFill>
                <a:latin typeface="Calibri" panose="020F0502020204030204" pitchFamily="34" charset="0"/>
                <a:ea typeface="Arial" pitchFamily="34" charset="-122"/>
                <a:cs typeface="Calibri" panose="020F0502020204030204" pitchFamily="34" charset="0"/>
              </a:rPr>
              <a:t>If it works: clear path to B. If not: stay in C, no damage done.</a:t>
            </a:r>
            <a:endParaRPr lang="en-US" sz="750" dirty="0">
              <a:latin typeface="Calibri" panose="020F0502020204030204" pitchFamily="34" charset="0"/>
              <a:cs typeface="Calibri" panose="020F0502020204030204" pitchFamily="34" charset="0"/>
            </a:endParaRPr>
          </a:p>
        </p:txBody>
      </p:sp>
      <p:sp>
        <p:nvSpPr>
          <p:cNvPr id="36" name="Text 34"/>
          <p:cNvSpPr/>
          <p:nvPr/>
        </p:nvSpPr>
        <p:spPr>
          <a:xfrm>
            <a:off x="7955280" y="2258568"/>
            <a:ext cx="182880" cy="182880"/>
          </a:xfrm>
          <a:prstGeom prst="rect">
            <a:avLst/>
          </a:prstGeom>
          <a:noFill/>
          <a:ln/>
        </p:spPr>
        <p:txBody>
          <a:bodyPr wrap="square" rtlCol="0" anchor="ctr"/>
          <a:lstStyle/>
          <a:p>
            <a:pPr marL="0" indent="0" algn="l">
              <a:buNone/>
            </a:pPr>
            <a:r>
              <a:rPr lang="en-US" sz="1200" dirty="0">
                <a:solidFill>
                  <a:srgbClr val="2980B9"/>
                </a:solidFill>
                <a:latin typeface="Calibri" panose="020F0502020204030204" pitchFamily="34" charset="0"/>
                <a:ea typeface="Arial" pitchFamily="34" charset="-122"/>
                <a:cs typeface="Calibri" panose="020F0502020204030204" pitchFamily="34" charset="0"/>
              </a:rPr>
              <a:t>★</a:t>
            </a:r>
            <a:endParaRPr lang="en-US" sz="1200" dirty="0">
              <a:latin typeface="Calibri" panose="020F0502020204030204" pitchFamily="34" charset="0"/>
              <a:cs typeface="Calibri" panose="020F0502020204030204" pitchFamily="34" charset="0"/>
            </a:endParaRPr>
          </a:p>
        </p:txBody>
      </p:sp>
      <p:sp>
        <p:nvSpPr>
          <p:cNvPr id="38" name="Text 36"/>
          <p:cNvSpPr/>
          <p:nvPr/>
        </p:nvSpPr>
        <p:spPr>
          <a:xfrm>
            <a:off x="457200" y="3526925"/>
            <a:ext cx="2286000" cy="182880"/>
          </a:xfrm>
          <a:prstGeom prst="rect">
            <a:avLst/>
          </a:prstGeom>
          <a:noFill/>
          <a:ln/>
        </p:spPr>
        <p:txBody>
          <a:bodyPr wrap="square" rtlCol="0" anchor="ctr"/>
          <a:lstStyle/>
          <a:p>
            <a:pPr marL="0" indent="0" algn="l">
              <a:buNone/>
            </a:pPr>
            <a:r>
              <a:rPr lang="en-US" sz="1100" b="1" dirty="0">
                <a:solidFill>
                  <a:srgbClr val="000000"/>
                </a:solidFill>
                <a:latin typeface="Calibri" panose="020F0502020204030204" pitchFamily="34" charset="0"/>
                <a:cs typeface="Calibri" panose="020F0502020204030204" pitchFamily="34" charset="0"/>
              </a:rPr>
              <a:t>Recommended route</a:t>
            </a:r>
          </a:p>
        </p:txBody>
      </p:sp>
      <p:sp>
        <p:nvSpPr>
          <p:cNvPr id="39" name="Shape 37"/>
          <p:cNvSpPr/>
          <p:nvPr/>
        </p:nvSpPr>
        <p:spPr>
          <a:xfrm>
            <a:off x="457200" y="3807405"/>
            <a:ext cx="2468880" cy="502920"/>
          </a:xfrm>
          <a:prstGeom prst="rect">
            <a:avLst/>
          </a:prstGeom>
          <a:solidFill>
            <a:srgbClr val="FFF8E8"/>
          </a:solidFill>
          <a:ln w="12700">
            <a:noFill/>
            <a:prstDash val="solid"/>
          </a:ln>
        </p:spPr>
        <p:txBody>
          <a:bodyPr/>
          <a:lstStyle/>
          <a:p>
            <a:pPr algn="l"/>
            <a:endParaRPr lang="nl-NL">
              <a:latin typeface="Calibri" panose="020F0502020204030204" pitchFamily="34" charset="0"/>
              <a:cs typeface="Calibri" panose="020F0502020204030204" pitchFamily="34" charset="0"/>
            </a:endParaRPr>
          </a:p>
        </p:txBody>
      </p:sp>
      <p:sp>
        <p:nvSpPr>
          <p:cNvPr id="40" name="Text 38"/>
          <p:cNvSpPr/>
          <p:nvPr/>
        </p:nvSpPr>
        <p:spPr>
          <a:xfrm>
            <a:off x="548640" y="3825693"/>
            <a:ext cx="2286000" cy="146304"/>
          </a:xfrm>
          <a:prstGeom prst="rect">
            <a:avLst/>
          </a:prstGeom>
          <a:noFill/>
          <a:ln/>
        </p:spPr>
        <p:txBody>
          <a:bodyPr wrap="square" rtlCol="0" anchor="ctr"/>
          <a:lstStyle/>
          <a:p>
            <a:pPr marL="0" indent="0" algn="l">
              <a:buNone/>
            </a:pPr>
            <a:r>
              <a:rPr lang="en-US" sz="900" b="1" dirty="0">
                <a:solidFill>
                  <a:srgbClr val="E67E22"/>
                </a:solidFill>
                <a:latin typeface="Calibri" panose="020F0502020204030204" pitchFamily="34" charset="0"/>
                <a:ea typeface="Arial" pitchFamily="34" charset="-122"/>
                <a:cs typeface="Calibri" panose="020F0502020204030204" pitchFamily="34" charset="0"/>
              </a:rPr>
              <a:t>Start C</a:t>
            </a:r>
            <a:endParaRPr lang="en-US" sz="900" dirty="0">
              <a:latin typeface="Calibri" panose="020F0502020204030204" pitchFamily="34" charset="0"/>
              <a:cs typeface="Calibri" panose="020F0502020204030204" pitchFamily="34" charset="0"/>
            </a:endParaRPr>
          </a:p>
        </p:txBody>
      </p:sp>
      <p:sp>
        <p:nvSpPr>
          <p:cNvPr id="41" name="Text 39"/>
          <p:cNvSpPr/>
          <p:nvPr/>
        </p:nvSpPr>
        <p:spPr>
          <a:xfrm>
            <a:off x="548640" y="3971997"/>
            <a:ext cx="2286000" cy="32004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Govern AI rollout. Quick wins in 6 weeks. Reskill all 50 people. Build governance that becomes a sellable offering.</a:t>
            </a:r>
            <a:endParaRPr lang="en-US" sz="750" dirty="0">
              <a:latin typeface="Calibri" panose="020F0502020204030204" pitchFamily="34" charset="0"/>
              <a:cs typeface="Calibri" panose="020F0502020204030204" pitchFamily="34" charset="0"/>
            </a:endParaRPr>
          </a:p>
        </p:txBody>
      </p:sp>
      <p:sp>
        <p:nvSpPr>
          <p:cNvPr id="42" name="Text 40"/>
          <p:cNvSpPr/>
          <p:nvPr/>
        </p:nvSpPr>
        <p:spPr>
          <a:xfrm>
            <a:off x="2887495" y="3898845"/>
            <a:ext cx="274320" cy="274320"/>
          </a:xfrm>
          <a:prstGeom prst="rect">
            <a:avLst/>
          </a:prstGeom>
          <a:noFill/>
          <a:ln/>
        </p:spPr>
        <p:txBody>
          <a:bodyPr wrap="square" rtlCol="0" anchor="ctr"/>
          <a:lstStyle/>
          <a:p>
            <a:pPr marL="0" indent="0" algn="l">
              <a:buNone/>
            </a:pPr>
            <a:r>
              <a:rPr lang="en-US" sz="1800" b="1" dirty="0">
                <a:solidFill>
                  <a:srgbClr val="F0AC00"/>
                </a:solidFill>
                <a:latin typeface="Calibri" panose="020F0502020204030204" pitchFamily="34" charset="0"/>
                <a:ea typeface="Arial" pitchFamily="34" charset="-122"/>
                <a:cs typeface="Calibri" panose="020F0502020204030204" pitchFamily="34" charset="0"/>
              </a:rPr>
              <a:t>→</a:t>
            </a:r>
            <a:endParaRPr lang="en-US" sz="1800" dirty="0">
              <a:latin typeface="Calibri" panose="020F0502020204030204" pitchFamily="34" charset="0"/>
              <a:cs typeface="Calibri" panose="020F0502020204030204" pitchFamily="34" charset="0"/>
            </a:endParaRPr>
          </a:p>
        </p:txBody>
      </p:sp>
      <p:sp>
        <p:nvSpPr>
          <p:cNvPr id="43" name="Shape 41"/>
          <p:cNvSpPr/>
          <p:nvPr/>
        </p:nvSpPr>
        <p:spPr>
          <a:xfrm>
            <a:off x="3246120" y="3807405"/>
            <a:ext cx="2468880" cy="502920"/>
          </a:xfrm>
          <a:prstGeom prst="rect">
            <a:avLst/>
          </a:prstGeom>
          <a:solidFill>
            <a:srgbClr val="E8F4FF"/>
          </a:solidFill>
          <a:ln w="12700">
            <a:noFill/>
            <a:prstDash val="solid"/>
          </a:ln>
        </p:spPr>
        <p:txBody>
          <a:bodyPr/>
          <a:lstStyle/>
          <a:p>
            <a:pPr algn="l"/>
            <a:endParaRPr lang="nl-NL">
              <a:latin typeface="Calibri" panose="020F0502020204030204" pitchFamily="34" charset="0"/>
              <a:cs typeface="Calibri" panose="020F0502020204030204" pitchFamily="34" charset="0"/>
            </a:endParaRPr>
          </a:p>
        </p:txBody>
      </p:sp>
      <p:sp>
        <p:nvSpPr>
          <p:cNvPr id="44" name="Text 42"/>
          <p:cNvSpPr/>
          <p:nvPr/>
        </p:nvSpPr>
        <p:spPr>
          <a:xfrm>
            <a:off x="3337560" y="3825693"/>
            <a:ext cx="2286000" cy="146304"/>
          </a:xfrm>
          <a:prstGeom prst="rect">
            <a:avLst/>
          </a:prstGeom>
          <a:noFill/>
          <a:ln/>
        </p:spPr>
        <p:txBody>
          <a:bodyPr wrap="square" rtlCol="0" anchor="ctr"/>
          <a:lstStyle/>
          <a:p>
            <a:pPr marL="0" indent="0" algn="l">
              <a:buNone/>
            </a:pPr>
            <a:r>
              <a:rPr lang="en-US" sz="900" b="1" dirty="0">
                <a:solidFill>
                  <a:srgbClr val="2980B9"/>
                </a:solidFill>
                <a:latin typeface="Calibri" panose="020F0502020204030204" pitchFamily="34" charset="0"/>
                <a:ea typeface="Arial" pitchFamily="34" charset="-122"/>
                <a:cs typeface="Calibri" panose="020F0502020204030204" pitchFamily="34" charset="0"/>
              </a:rPr>
              <a:t>Pilot D</a:t>
            </a:r>
            <a:endParaRPr lang="en-US" sz="900" dirty="0">
              <a:latin typeface="Calibri" panose="020F0502020204030204" pitchFamily="34" charset="0"/>
              <a:cs typeface="Calibri" panose="020F0502020204030204" pitchFamily="34" charset="0"/>
            </a:endParaRPr>
          </a:p>
        </p:txBody>
      </p:sp>
      <p:sp>
        <p:nvSpPr>
          <p:cNvPr id="45" name="Text 43"/>
          <p:cNvSpPr/>
          <p:nvPr/>
        </p:nvSpPr>
        <p:spPr>
          <a:xfrm>
            <a:off x="3337560" y="3971997"/>
            <a:ext cx="2286000" cy="32004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One outcome-based client. One product MVP. Prove the activation model works before scaling it.</a:t>
            </a:r>
            <a:endParaRPr lang="en-US" sz="750" dirty="0">
              <a:latin typeface="Calibri" panose="020F0502020204030204" pitchFamily="34" charset="0"/>
              <a:cs typeface="Calibri" panose="020F0502020204030204" pitchFamily="34" charset="0"/>
            </a:endParaRPr>
          </a:p>
        </p:txBody>
      </p:sp>
      <p:sp>
        <p:nvSpPr>
          <p:cNvPr id="46" name="Text 44"/>
          <p:cNvSpPr/>
          <p:nvPr/>
        </p:nvSpPr>
        <p:spPr>
          <a:xfrm>
            <a:off x="5676415" y="3898845"/>
            <a:ext cx="274320" cy="274320"/>
          </a:xfrm>
          <a:prstGeom prst="rect">
            <a:avLst/>
          </a:prstGeom>
          <a:noFill/>
          <a:ln/>
        </p:spPr>
        <p:txBody>
          <a:bodyPr wrap="square" rtlCol="0" anchor="ctr"/>
          <a:lstStyle/>
          <a:p>
            <a:pPr marL="0" indent="0" algn="l">
              <a:buNone/>
            </a:pPr>
            <a:r>
              <a:rPr lang="en-US" sz="1800" b="1" dirty="0">
                <a:solidFill>
                  <a:srgbClr val="F0AC00"/>
                </a:solidFill>
                <a:latin typeface="Calibri" panose="020F0502020204030204" pitchFamily="34" charset="0"/>
                <a:ea typeface="Arial" pitchFamily="34" charset="-122"/>
                <a:cs typeface="Calibri" panose="020F0502020204030204" pitchFamily="34" charset="0"/>
              </a:rPr>
              <a:t>→</a:t>
            </a:r>
            <a:endParaRPr lang="en-US" sz="1800" dirty="0">
              <a:latin typeface="Calibri" panose="020F0502020204030204" pitchFamily="34" charset="0"/>
              <a:cs typeface="Calibri" panose="020F0502020204030204" pitchFamily="34" charset="0"/>
            </a:endParaRPr>
          </a:p>
        </p:txBody>
      </p:sp>
      <p:sp>
        <p:nvSpPr>
          <p:cNvPr id="47" name="Shape 45"/>
          <p:cNvSpPr/>
          <p:nvPr/>
        </p:nvSpPr>
        <p:spPr>
          <a:xfrm>
            <a:off x="6035040" y="3807405"/>
            <a:ext cx="2468880" cy="502920"/>
          </a:xfrm>
          <a:prstGeom prst="rect">
            <a:avLst/>
          </a:prstGeom>
          <a:solidFill>
            <a:srgbClr val="F0FFF0"/>
          </a:solidFill>
          <a:ln w="12700">
            <a:noFill/>
            <a:prstDash val="solid"/>
          </a:ln>
        </p:spPr>
        <p:txBody>
          <a:bodyPr/>
          <a:lstStyle/>
          <a:p>
            <a:pPr algn="l"/>
            <a:endParaRPr lang="nl-NL">
              <a:latin typeface="Calibri" panose="020F0502020204030204" pitchFamily="34" charset="0"/>
              <a:cs typeface="Calibri" panose="020F0502020204030204" pitchFamily="34" charset="0"/>
            </a:endParaRPr>
          </a:p>
        </p:txBody>
      </p:sp>
      <p:sp>
        <p:nvSpPr>
          <p:cNvPr id="48" name="Text 46"/>
          <p:cNvSpPr/>
          <p:nvPr/>
        </p:nvSpPr>
        <p:spPr>
          <a:xfrm>
            <a:off x="6126480" y="3825693"/>
            <a:ext cx="2286000" cy="146304"/>
          </a:xfrm>
          <a:prstGeom prst="rect">
            <a:avLst/>
          </a:prstGeom>
          <a:noFill/>
          <a:ln/>
        </p:spPr>
        <p:txBody>
          <a:bodyPr wrap="square" rtlCol="0" anchor="ctr"/>
          <a:lstStyle/>
          <a:p>
            <a:pPr marL="0" indent="0" algn="l">
              <a:buNone/>
            </a:pPr>
            <a:r>
              <a:rPr lang="en-US" sz="900" b="1" dirty="0">
                <a:solidFill>
                  <a:srgbClr val="27AE60"/>
                </a:solidFill>
                <a:latin typeface="Calibri" panose="020F0502020204030204" pitchFamily="34" charset="0"/>
                <a:ea typeface="Arial" pitchFamily="34" charset="-122"/>
                <a:cs typeface="Calibri" panose="020F0502020204030204" pitchFamily="34" charset="0"/>
              </a:rPr>
              <a:t>Option B</a:t>
            </a:r>
            <a:endParaRPr lang="en-US" sz="900" dirty="0">
              <a:latin typeface="Calibri" panose="020F0502020204030204" pitchFamily="34" charset="0"/>
              <a:cs typeface="Calibri" panose="020F0502020204030204" pitchFamily="34" charset="0"/>
            </a:endParaRPr>
          </a:p>
        </p:txBody>
      </p:sp>
      <p:sp>
        <p:nvSpPr>
          <p:cNvPr id="49" name="Text 47"/>
          <p:cNvSpPr/>
          <p:nvPr/>
        </p:nvSpPr>
        <p:spPr>
          <a:xfrm>
            <a:off x="6126480" y="3971997"/>
            <a:ext cx="2286000" cy="320040"/>
          </a:xfrm>
          <a:prstGeom prst="rect">
            <a:avLst/>
          </a:prstGeom>
          <a:noFill/>
          <a:ln/>
        </p:spPr>
        <p:txBody>
          <a:bodyPr wrap="square" rtlCol="0" anchor="ctr"/>
          <a:lstStyle/>
          <a:p>
            <a:pPr marL="0" indent="0" algn="l">
              <a:lnSpc>
                <a:spcPct val="105000"/>
              </a:lnSpc>
              <a:buNone/>
            </a:pPr>
            <a:r>
              <a:rPr lang="en-US" sz="750" dirty="0">
                <a:solidFill>
                  <a:srgbClr val="333333"/>
                </a:solidFill>
                <a:latin typeface="Calibri" panose="020F0502020204030204" pitchFamily="34" charset="0"/>
                <a:ea typeface="Arial" pitchFamily="34" charset="-122"/>
                <a:cs typeface="Calibri" panose="020F0502020204030204" pitchFamily="34" charset="0"/>
              </a:rPr>
              <a:t>If activation pilot succeeds accelerate to full transformation. If not: stay in C with lessons learned, no damage.</a:t>
            </a:r>
            <a:endParaRPr lang="en-US" sz="750" dirty="0">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marL="0" indent="0" algn="l">
              <a:buNone/>
            </a:pPr>
            <a:r>
              <a:rPr lang="en-US" sz="2000" b="1" dirty="0">
                <a:solidFill>
                  <a:srgbClr val="000000"/>
                </a:solidFill>
                <a:latin typeface="Calibri"/>
                <a:cs typeface="+mj-cs"/>
              </a:rPr>
              <a:t>What AKT should consider</a:t>
            </a:r>
          </a:p>
        </p:txBody>
      </p:sp>
      <p:sp>
        <p:nvSpPr>
          <p:cNvPr id="3" name="Text 1"/>
          <p:cNvSpPr/>
          <p:nvPr/>
        </p:nvSpPr>
        <p:spPr>
          <a:xfrm>
            <a:off x="457200" y="777240"/>
            <a:ext cx="8229600" cy="228600"/>
          </a:xfrm>
          <a:prstGeom prst="rect">
            <a:avLst/>
          </a:prstGeom>
          <a:noFill/>
          <a:ln/>
        </p:spPr>
        <p:txBody>
          <a:bodyPr wrap="square" rtlCol="0" anchor="ctr"/>
          <a:lstStyle/>
          <a:p>
            <a:pPr marL="0" indent="0" algn="l">
              <a:buNone/>
            </a:pPr>
            <a:r>
              <a:rPr lang="en-US" sz="1100" i="1" dirty="0">
                <a:solidFill>
                  <a:srgbClr val="666666"/>
                </a:solidFill>
                <a:latin typeface="Calibri" panose="020F0502020204030204" pitchFamily="34" charset="0"/>
                <a:ea typeface="Arial" pitchFamily="34" charset="-122"/>
                <a:cs typeface="Calibri" panose="020F0502020204030204" pitchFamily="34" charset="0"/>
              </a:rPr>
              <a:t>Strategic recommendations for AKT beyond the XM practice</a:t>
            </a:r>
            <a:endParaRPr lang="en-US" sz="1100" dirty="0">
              <a:latin typeface="Calibri" panose="020F0502020204030204" pitchFamily="34" charset="0"/>
              <a:cs typeface="Calibri" panose="020F0502020204030204" pitchFamily="34" charset="0"/>
            </a:endParaRPr>
          </a:p>
        </p:txBody>
      </p:sp>
      <p:sp>
        <p:nvSpPr>
          <p:cNvPr id="5" name="Text 3"/>
          <p:cNvSpPr/>
          <p:nvPr/>
        </p:nvSpPr>
        <p:spPr>
          <a:xfrm>
            <a:off x="457200" y="1234440"/>
            <a:ext cx="365760" cy="228600"/>
          </a:xfrm>
          <a:prstGeom prst="rect">
            <a:avLst/>
          </a:prstGeom>
          <a:noFill/>
          <a:ln/>
        </p:spPr>
        <p:txBody>
          <a:bodyPr wrap="square" rtlCol="0" anchor="ctr"/>
          <a:lstStyle/>
          <a:p>
            <a:pPr marL="0" indent="0">
              <a:buNone/>
            </a:pPr>
            <a:r>
              <a:rPr lang="en-US" sz="1300" b="1" dirty="0">
                <a:solidFill>
                  <a:srgbClr val="F0AC00"/>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914400" y="1234440"/>
            <a:ext cx="7315200" cy="228600"/>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Build platform-agnostic IP first, then plug into partners</a:t>
            </a:r>
            <a:endParaRPr lang="en-US" sz="1200" dirty="0">
              <a:latin typeface="Calibri" panose="020F0502020204030204" pitchFamily="34" charset="0"/>
              <a:cs typeface="Calibri" panose="020F0502020204030204" pitchFamily="34" charset="0"/>
            </a:endParaRPr>
          </a:p>
        </p:txBody>
      </p:sp>
      <p:sp>
        <p:nvSpPr>
          <p:cNvPr id="7" name="Text 5"/>
          <p:cNvSpPr/>
          <p:nvPr/>
        </p:nvSpPr>
        <p:spPr>
          <a:xfrm>
            <a:off x="914400" y="1527048"/>
            <a:ext cx="7315200" cy="365760"/>
          </a:xfrm>
          <a:prstGeom prst="rect">
            <a:avLst/>
          </a:prstGeom>
          <a:noFill/>
          <a:ln/>
        </p:spPr>
        <p:txBody>
          <a:bodyPr wrap="square" rtlCol="0" anchor="ctr"/>
          <a:lstStyle/>
          <a:p>
            <a:pPr marL="0" indent="0" algn="l">
              <a:buNone/>
            </a:pPr>
            <a:r>
              <a:rPr lang="en-US" sz="1000" dirty="0">
                <a:solidFill>
                  <a:srgbClr val="333333"/>
                </a:solidFill>
                <a:latin typeface="Calibri" panose="020F0502020204030204" pitchFamily="34" charset="0"/>
                <a:ea typeface="Arial" pitchFamily="34" charset="-122"/>
                <a:cs typeface="Calibri" panose="020F0502020204030204" pitchFamily="34" charset="0"/>
              </a:rPr>
              <a:t>CMX™, the command centre, and PULSE must work independently of any single vendor. Build the products so they run offline or in protected environments. Then connect to Qualtrics or whatever data layer the client runs. The QPN Platform Track (Q4 2026) is one distribution channel, not the strategy itself.</a:t>
            </a:r>
            <a:endParaRPr lang="en-US" sz="1000" dirty="0">
              <a:latin typeface="Calibri" panose="020F0502020204030204" pitchFamily="34" charset="0"/>
              <a:cs typeface="Calibri" panose="020F0502020204030204" pitchFamily="34" charset="0"/>
            </a:endParaRPr>
          </a:p>
        </p:txBody>
      </p:sp>
      <p:sp>
        <p:nvSpPr>
          <p:cNvPr id="8" name="Text 6"/>
          <p:cNvSpPr/>
          <p:nvPr/>
        </p:nvSpPr>
        <p:spPr>
          <a:xfrm>
            <a:off x="457200" y="1984248"/>
            <a:ext cx="365760" cy="228600"/>
          </a:xfrm>
          <a:prstGeom prst="rect">
            <a:avLst/>
          </a:prstGeom>
          <a:noFill/>
          <a:ln/>
        </p:spPr>
        <p:txBody>
          <a:bodyPr wrap="square" rtlCol="0" anchor="ctr"/>
          <a:lstStyle/>
          <a:p>
            <a:pPr marL="0" indent="0">
              <a:buNone/>
            </a:pPr>
            <a:r>
              <a:rPr lang="en-US" sz="1300" b="1" dirty="0">
                <a:solidFill>
                  <a:srgbClr val="F0AC00"/>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914400" y="1984248"/>
            <a:ext cx="7315200" cy="228600"/>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Shift the commercial model from hours to outcomes</a:t>
            </a:r>
            <a:endParaRPr lang="en-US" sz="1200" dirty="0">
              <a:latin typeface="Calibri" panose="020F0502020204030204" pitchFamily="34" charset="0"/>
              <a:cs typeface="Calibri" panose="020F0502020204030204" pitchFamily="34" charset="0"/>
            </a:endParaRPr>
          </a:p>
        </p:txBody>
      </p:sp>
      <p:sp>
        <p:nvSpPr>
          <p:cNvPr id="10" name="Text 8"/>
          <p:cNvSpPr/>
          <p:nvPr/>
        </p:nvSpPr>
        <p:spPr>
          <a:xfrm>
            <a:off x="914400" y="2276856"/>
            <a:ext cx="7315200" cy="365760"/>
          </a:xfrm>
          <a:prstGeom prst="rect">
            <a:avLst/>
          </a:prstGeom>
          <a:noFill/>
          <a:ln/>
        </p:spPr>
        <p:txBody>
          <a:bodyPr wrap="square" rtlCol="0" anchor="ctr"/>
          <a:lstStyle/>
          <a:p>
            <a:pPr marL="0" indent="0" algn="l">
              <a:buNone/>
            </a:pPr>
            <a:r>
              <a:rPr lang="en-US" sz="1000" dirty="0">
                <a:solidFill>
                  <a:srgbClr val="333333"/>
                </a:solidFill>
                <a:latin typeface="Calibri" panose="020F0502020204030204" pitchFamily="34" charset="0"/>
                <a:ea typeface="Arial" pitchFamily="34" charset="-122"/>
                <a:cs typeface="Calibri" panose="020F0502020204030204" pitchFamily="34" charset="0"/>
              </a:rPr>
              <a:t>AI compresses delivery 40 - 60%. Without pricing reform, efficiency gains become client expectations, not AKT margin. Pilot outcome-based pricing on one engagement by Month 6. Measure the impact. The evidence from that pilot shapes the model for everything that follows.</a:t>
            </a:r>
            <a:endParaRPr lang="en-US" sz="1000" dirty="0">
              <a:latin typeface="Calibri" panose="020F0502020204030204" pitchFamily="34" charset="0"/>
              <a:cs typeface="Calibri" panose="020F0502020204030204" pitchFamily="34" charset="0"/>
            </a:endParaRPr>
          </a:p>
        </p:txBody>
      </p:sp>
      <p:sp>
        <p:nvSpPr>
          <p:cNvPr id="11" name="Text 9"/>
          <p:cNvSpPr/>
          <p:nvPr/>
        </p:nvSpPr>
        <p:spPr>
          <a:xfrm>
            <a:off x="457200" y="2734056"/>
            <a:ext cx="365760" cy="228600"/>
          </a:xfrm>
          <a:prstGeom prst="rect">
            <a:avLst/>
          </a:prstGeom>
          <a:noFill/>
          <a:ln/>
        </p:spPr>
        <p:txBody>
          <a:bodyPr wrap="square" rtlCol="0" anchor="ctr"/>
          <a:lstStyle/>
          <a:p>
            <a:pPr marL="0" indent="0">
              <a:buNone/>
            </a:pPr>
            <a:r>
              <a:rPr lang="en-US" sz="1300" b="1" dirty="0">
                <a:solidFill>
                  <a:srgbClr val="F0AC00"/>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914400" y="2734056"/>
            <a:ext cx="7315200" cy="228600"/>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Invest in people who bring strategic presence, not operational hustle</a:t>
            </a:r>
            <a:endParaRPr lang="en-US" sz="1200" dirty="0">
              <a:latin typeface="Calibri" panose="020F0502020204030204" pitchFamily="34" charset="0"/>
              <a:cs typeface="Calibri" panose="020F0502020204030204" pitchFamily="34" charset="0"/>
            </a:endParaRPr>
          </a:p>
        </p:txBody>
      </p:sp>
      <p:sp>
        <p:nvSpPr>
          <p:cNvPr id="13" name="Text 11"/>
          <p:cNvSpPr/>
          <p:nvPr/>
        </p:nvSpPr>
        <p:spPr>
          <a:xfrm>
            <a:off x="914400" y="2981269"/>
            <a:ext cx="7315200" cy="365760"/>
          </a:xfrm>
          <a:prstGeom prst="rect">
            <a:avLst/>
          </a:prstGeom>
          <a:noFill/>
          <a:ln/>
        </p:spPr>
        <p:txBody>
          <a:bodyPr wrap="square" rtlCol="0" anchor="ctr"/>
          <a:lstStyle/>
          <a:p>
            <a:pPr marL="0" indent="0" algn="l">
              <a:buNone/>
            </a:pPr>
            <a:r>
              <a:rPr lang="en-US" sz="1000" dirty="0">
                <a:solidFill>
                  <a:srgbClr val="333333"/>
                </a:solidFill>
                <a:latin typeface="Calibri" panose="020F0502020204030204" pitchFamily="34" charset="0"/>
                <a:ea typeface="Arial" pitchFamily="34" charset="-122"/>
                <a:cs typeface="Calibri" panose="020F0502020204030204" pitchFamily="34" charset="0"/>
              </a:rPr>
              <a:t>The future AKT consultant is onsite, reading the room, adapting activation in real time, not configuring surveys. Role-specific training, CMX™-measured adoption, and 2 dedicated AI architects who build the products that make this possible.</a:t>
            </a:r>
            <a:endParaRPr lang="en-US" sz="1000" dirty="0">
              <a:latin typeface="Calibri" panose="020F0502020204030204" pitchFamily="34" charset="0"/>
              <a:cs typeface="Calibri" panose="020F0502020204030204" pitchFamily="34" charset="0"/>
            </a:endParaRPr>
          </a:p>
        </p:txBody>
      </p:sp>
      <p:sp>
        <p:nvSpPr>
          <p:cNvPr id="14" name="Text 12"/>
          <p:cNvSpPr/>
          <p:nvPr/>
        </p:nvSpPr>
        <p:spPr>
          <a:xfrm>
            <a:off x="457200" y="3483864"/>
            <a:ext cx="365760" cy="228600"/>
          </a:xfrm>
          <a:prstGeom prst="rect">
            <a:avLst/>
          </a:prstGeom>
          <a:noFill/>
          <a:ln/>
        </p:spPr>
        <p:txBody>
          <a:bodyPr wrap="square" rtlCol="0" anchor="ctr"/>
          <a:lstStyle/>
          <a:p>
            <a:pPr marL="0" indent="0">
              <a:buNone/>
            </a:pPr>
            <a:r>
              <a:rPr lang="en-US" sz="1300" b="1" dirty="0">
                <a:solidFill>
                  <a:srgbClr val="F0AC00"/>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914400" y="3483864"/>
            <a:ext cx="7315200" cy="228600"/>
          </a:xfrm>
          <a:prstGeom prst="rect">
            <a:avLst/>
          </a:prstGeom>
          <a:noFill/>
          <a:ln/>
        </p:spPr>
        <p:txBody>
          <a:bodyPr wrap="square" rtlCol="0" anchor="ctr"/>
          <a:lstStyle/>
          <a:p>
            <a:pPr marL="0" indent="0" algn="l">
              <a:buNone/>
            </a:pPr>
            <a:r>
              <a:rPr lang="en-US" sz="1200" b="1" dirty="0">
                <a:solidFill>
                  <a:srgbClr val="000000"/>
                </a:solidFill>
                <a:latin typeface="Calibri" panose="020F0502020204030204" pitchFamily="34" charset="0"/>
                <a:ea typeface="Arial" pitchFamily="34" charset="-122"/>
                <a:cs typeface="Calibri" panose="020F0502020204030204" pitchFamily="34" charset="0"/>
              </a:rPr>
              <a:t>Govern AI use before scaling it</a:t>
            </a:r>
            <a:endParaRPr lang="en-US" sz="1200" dirty="0">
              <a:latin typeface="Calibri" panose="020F0502020204030204" pitchFamily="34" charset="0"/>
              <a:cs typeface="Calibri" panose="020F0502020204030204" pitchFamily="34" charset="0"/>
            </a:endParaRPr>
          </a:p>
        </p:txBody>
      </p:sp>
      <p:sp>
        <p:nvSpPr>
          <p:cNvPr id="16" name="Text 14"/>
          <p:cNvSpPr/>
          <p:nvPr/>
        </p:nvSpPr>
        <p:spPr>
          <a:xfrm>
            <a:off x="914400" y="3776472"/>
            <a:ext cx="7315200" cy="365760"/>
          </a:xfrm>
          <a:prstGeom prst="rect">
            <a:avLst/>
          </a:prstGeom>
          <a:noFill/>
          <a:ln/>
        </p:spPr>
        <p:txBody>
          <a:bodyPr wrap="square" rtlCol="0" anchor="ctr"/>
          <a:lstStyle/>
          <a:p>
            <a:pPr marL="0" indent="0" algn="l">
              <a:buNone/>
            </a:pPr>
            <a:r>
              <a:rPr lang="en-US" sz="1000" dirty="0">
                <a:solidFill>
                  <a:srgbClr val="333333"/>
                </a:solidFill>
                <a:latin typeface="Calibri" panose="020F0502020204030204" pitchFamily="34" charset="0"/>
                <a:ea typeface="Arial" pitchFamily="34" charset="-122"/>
                <a:cs typeface="Calibri" panose="020F0502020204030204" pitchFamily="34" charset="0"/>
              </a:rPr>
              <a:t>50 people using AI without a framework is a liability. The CoE corridor (Assess → Pilot → Approve → Adopt) and RED/AMBER/GREEN data classification must be in place from Day 1. This governance also becomes a sellable advisory offering as 87% of enterprise AI projects fail for exactly this reason.</a:t>
            </a:r>
            <a:endParaRPr lang="en-US" sz="1000" dirty="0">
              <a:latin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7296</Words>
  <Application>Microsoft Macintosh PowerPoint</Application>
  <PresentationFormat>Diavoorstelling (16:9)</PresentationFormat>
  <Paragraphs>634</Paragraphs>
  <Slides>29</Slides>
  <Notes>27</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29</vt:i4>
      </vt:variant>
    </vt:vector>
  </HeadingPairs>
  <TitlesOfParts>
    <vt:vector size="34" baseType="lpstr">
      <vt:lpstr>Arial</vt:lpstr>
      <vt:lpstr>Calibri</vt:lpstr>
      <vt:lpstr>Calibri Light</vt:lpstr>
      <vt:lpstr>Manrope</vt:lpstr>
      <vt:lpstr>Office Theme</vt:lpstr>
      <vt:lpstr>PowerPoint-presentatie</vt:lpstr>
      <vt:lpstr>RECAP: The deliverables: seven strategic answers</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AKT AI Workforce Initiative — Direction Input — April 2026</dc:title>
  <dc:subject>PptxGenJS Presentation</dc:subject>
  <dc:creator>Otto Vroegop / Kees</dc:creator>
  <cp:lastModifiedBy>Otto Vroegop</cp:lastModifiedBy>
  <cp:revision>6</cp:revision>
  <dcterms:created xsi:type="dcterms:W3CDTF">2026-04-12T17:31:43Z</dcterms:created>
  <dcterms:modified xsi:type="dcterms:W3CDTF">2026-04-13T08:44:51Z</dcterms:modified>
</cp:coreProperties>
</file>