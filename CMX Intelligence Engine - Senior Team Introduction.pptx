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A1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akt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CMX Intelligence Engine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Workshop Intelligence for Faster,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Higher-Quality Program Delivery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2286000" cy="36576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Team Introduction  |  February 2026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97280"/>
            <a:ext cx="1280160" cy="128016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560320"/>
            <a:ext cx="731520" cy="73152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743200"/>
            <a:ext cx="548640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12" name="Text 7"/>
          <p:cNvSpPr/>
          <p:nvPr/>
        </p:nvSpPr>
        <p:spPr>
          <a:xfrm>
            <a:off x="548640" y="47320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0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AKT Global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 Solved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CMX engagement starts the same way: consultants spend days manually gathering stakeholder input, re-typing briefing content, and building workshop decks from scratch. The same work, repeated for every client.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874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1874520" cy="54864"/>
          </a:xfrm>
          <a:prstGeom prst="rect">
            <a:avLst/>
          </a:prstGeom>
          <a:solidFill>
            <a:srgbClr val="CC33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40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3-5 days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briefing prep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workshop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2011680"/>
            <a:ext cx="1874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2011680"/>
            <a:ext cx="1874520" cy="54864"/>
          </a:xfrm>
          <a:prstGeom prst="rect">
            <a:avLst/>
          </a:prstGeom>
          <a:solidFill>
            <a:srgbClr val="CC3300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2240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re-created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 each 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1874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011680"/>
            <a:ext cx="1874520" cy="54864"/>
          </a:xfrm>
          <a:prstGeom prst="rect">
            <a:avLst/>
          </a:prstGeom>
          <a:solidFill>
            <a:srgbClr val="CC3300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240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0060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Pre-workshop intelligence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systematically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2011680"/>
            <a:ext cx="1874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2011680"/>
            <a:ext cx="1874520" cy="54864"/>
          </a:xfrm>
          <a:prstGeom prst="rect">
            <a:avLst/>
          </a:prstGeom>
          <a:solidFill>
            <a:srgbClr val="CC3300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240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5800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inconsistent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quality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solidFill>
            <a:srgbClr val="FEF0DB"/>
          </a:solidFill>
          <a:ln w="19050">
            <a:solidFill>
              <a:srgbClr val="F9A1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0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asked: What if every workshop came pre-loaded with stakeholder intelligence — before the first meeting even starts?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connected automation system that transforms how we prepare for and deliver CMX workshops.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606040" cy="3246120"/>
          </a:xfrm>
          <a:prstGeom prst="rect">
            <a:avLst/>
          </a:prstGeom>
          <a:solidFill>
            <a:srgbClr val="F7F5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2606040" cy="1005840"/>
          </a:xfrm>
          <a:prstGeom prst="rect">
            <a:avLst/>
          </a:prstGeom>
          <a:solidFill>
            <a:srgbClr val="2D201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162763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Pre-Workshop Questionnaires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Role-adaptive surveys sent to stakeholders before each workshop. 33 targeted questions per session, branching by Executive / Operational / Technical / Regional role.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1828800"/>
            <a:ext cx="109728" cy="1097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91840" y="1508760"/>
            <a:ext cx="2606040" cy="3246120"/>
          </a:xfrm>
          <a:prstGeom prst="rect">
            <a:avLst/>
          </a:prstGeom>
          <a:solidFill>
            <a:srgbClr val="F7F5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91840" y="1508760"/>
            <a:ext cx="2606040" cy="1005840"/>
          </a:xfrm>
          <a:prstGeom prst="rect">
            <a:avLst/>
          </a:prstGeom>
          <a:solidFill>
            <a:srgbClr val="E8911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60" y="162763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7472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347472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Engine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474720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survey exports and auto-analyzes consensus, divergence, risk signals, and ADKAR readiness across all 8 governance decisions.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1828800"/>
            <a:ext cx="109728" cy="10972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035040" y="1508760"/>
            <a:ext cx="2606040" cy="3246120"/>
          </a:xfrm>
          <a:prstGeom prst="rect">
            <a:avLst/>
          </a:prstGeom>
          <a:solidFill>
            <a:srgbClr val="F7F5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035040" y="1508760"/>
            <a:ext cx="2606040" cy="1005840"/>
          </a:xfrm>
          <a:prstGeom prst="rect">
            <a:avLst/>
          </a:prstGeom>
          <a:solidFill>
            <a:srgbClr val="468A4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460" y="1627632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1792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2000" dirty="0"/>
          </a:p>
        </p:txBody>
      </p:sp>
      <p:sp>
        <p:nvSpPr>
          <p:cNvPr id="23" name="Text 16"/>
          <p:cNvSpPr/>
          <p:nvPr/>
        </p:nvSpPr>
        <p:spPr>
          <a:xfrm>
            <a:off x="621792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Artifacts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6217920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produces a pre-populated PPTX deck, XLSX open points tracker, and HTML facilitator briefing — all seeded with real stakeholder data.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Workshop-to-Workshop Intelligence Cascade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workshop's outputs automatically seed the next workshop's inputs. Intelligence compounds across the program.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2344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A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1234440" cy="320040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72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965960"/>
            <a:ext cx="1088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233172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Q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56032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resp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91640" y="2194560"/>
            <a:ext cx="137160" cy="36576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0" y="1554480"/>
            <a:ext cx="12344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91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0" y="1554480"/>
            <a:ext cx="1234440" cy="320040"/>
          </a:xfrm>
          <a:prstGeom prst="rect">
            <a:avLst/>
          </a:prstGeom>
          <a:solidFill>
            <a:srgbClr val="E8911A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1572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01952" y="1965960"/>
            <a:ext cx="1088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01952" y="233172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Q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01952" y="256032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resp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63240" y="2194560"/>
            <a:ext cx="137160" cy="36576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0" y="1554480"/>
            <a:ext cx="12344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4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554480"/>
            <a:ext cx="1234440" cy="320040"/>
          </a:xfrm>
          <a:prstGeom prst="rect">
            <a:avLst/>
          </a:prstGeom>
          <a:solidFill>
            <a:srgbClr val="006462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1572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73552" y="1965960"/>
            <a:ext cx="1088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Survey Design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73552" y="233172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Q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73552" y="256032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resp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34840" y="2194560"/>
            <a:ext cx="137160" cy="36576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1554480"/>
            <a:ext cx="12344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468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554480"/>
            <a:ext cx="1234440" cy="320040"/>
          </a:xfrm>
          <a:prstGeom prst="rect">
            <a:avLst/>
          </a:prstGeom>
          <a:solidFill>
            <a:srgbClr val="468A4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1572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45152" y="1965960"/>
            <a:ext cx="1088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45152" y="233172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Q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45152" y="256032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resp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06440" y="2194560"/>
            <a:ext cx="137160" cy="36576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0" y="1554480"/>
            <a:ext cx="12344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43600" y="1554480"/>
            <a:ext cx="1234440" cy="320040"/>
          </a:xfrm>
          <a:prstGeom prst="rect">
            <a:avLst/>
          </a:prstGeom>
          <a:solidFill>
            <a:srgbClr val="2D2015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0" y="1572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016752" y="1965960"/>
            <a:ext cx="1088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E2E Process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16752" y="233172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decisions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178040" y="2194560"/>
            <a:ext cx="137160" cy="36576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0" y="1554480"/>
            <a:ext cx="12344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15200" y="1554480"/>
            <a:ext cx="1234440" cy="320040"/>
          </a:xfrm>
          <a:prstGeom prst="rect">
            <a:avLst/>
          </a:prstGeom>
          <a:solidFill>
            <a:srgbClr val="2D2015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0" y="1572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DW2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388352" y="1965960"/>
            <a:ext cx="1088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88352" y="233172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decisions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337560"/>
            <a:ext cx="8229600" cy="1463040"/>
          </a:xfrm>
          <a:prstGeom prst="rect">
            <a:avLst/>
          </a:prstGeom>
          <a:solidFill>
            <a:srgbClr val="FEF0D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40080" y="34290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WS1 →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280160" y="34290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model + roles feed into stakeholder mapping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" y="3685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WS2 →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280160" y="368503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Impacted groups + comms plan shape survey content design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0080" y="39410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WS3 →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280160" y="394106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selection + ADKAR logic guide platform configuration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" y="41970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WS4 →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280160" y="419709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architecture + metadata model enable decision workshops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" y="44531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DW1-2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280160" y="445312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decisions (SLAs, ticketing rules, intake fields) ready for build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2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Data — Intelligence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doesn't just count answers. It produces consultant-grade analysis that reads like a senior facilitator wrote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1463040"/>
          </a:xfrm>
          <a:prstGeom prst="rect">
            <a:avLst/>
          </a:prstGeom>
          <a:solidFill>
            <a:srgbClr val="3D302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673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Role-Weighted Consensus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answers weighted 1.5× on governance decisions. Technical answers weighted 1.5× on data decisions. Reflects real influence dynamics.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1508760"/>
            <a:ext cx="2606040" cy="1463040"/>
          </a:xfrm>
          <a:prstGeom prst="rect">
            <a:avLst/>
          </a:prstGeom>
          <a:solidFill>
            <a:srgbClr val="3D302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916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86200" y="1673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 Stage Mapping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74720" y="2103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decision mapped to Awareness, Desire, Knowledge, Ability, or Reinforcement stages. Identifies where the change journey is weakest.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26480" y="1508760"/>
            <a:ext cx="2606040" cy="1463040"/>
          </a:xfrm>
          <a:prstGeom prst="rect">
            <a:avLst/>
          </a:prstGeom>
          <a:solidFill>
            <a:srgbClr val="3D302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916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20840" y="1673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Detection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09360" y="2103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hidden tensions between role pairs: Executive vs Regional, Technical vs Operational. Pinpoints exactly where alignment work is needed.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3200400"/>
            <a:ext cx="2606040" cy="1463040"/>
          </a:xfrm>
          <a:prstGeom prst="rect">
            <a:avLst/>
          </a:prstGeom>
          <a:solidFill>
            <a:srgbClr val="3D302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832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3364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794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CMX-specific risk categories: Sponsorship, Fatigue, Capacity, Data, Alignment, Adoption. Not generic — methodology-native.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91840" y="3200400"/>
            <a:ext cx="2606040" cy="1463040"/>
          </a:xfrm>
          <a:prstGeom prst="rect">
            <a:avLst/>
          </a:prstGeom>
          <a:solidFill>
            <a:srgbClr val="3D302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38328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86200" y="3364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Playbooks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474720" y="3794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Decision-specific warm-up exercises, watch-outs, and alignment techniques. Built from real workshop delivery patterns.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126480" y="3200400"/>
            <a:ext cx="2606040" cy="1463040"/>
          </a:xfrm>
          <a:prstGeom prst="rect">
            <a:avLst/>
          </a:prstGeom>
          <a:solidFill>
            <a:srgbClr val="3D3028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38328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20840" y="3364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Impact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309360" y="3794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each WS1 decision ripples into WS2, WS3, and WS4. Helps prioritize where to spend workshop time.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Efficiency Impact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657600"/>
          </a:xfrm>
          <a:prstGeom prst="rect">
            <a:avLst/>
          </a:prstGeom>
          <a:solidFill>
            <a:srgbClr val="FFF5F5"/>
          </a:solidFill>
          <a:ln w="19050">
            <a:solidFill>
              <a:srgbClr val="CC33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3-5 days manual briefing preparation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039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Stakeholder input collected ad hoc via email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780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Workshop deck built from blank template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169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Open points tracked in personal notes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3558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Governance decisions not pre-socialized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Each consultant reinvents the process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3931920" cy="3657600"/>
          </a:xfrm>
          <a:prstGeom prst="rect">
            <a:avLst/>
          </a:prstGeom>
          <a:solidFill>
            <a:srgbClr val="F0FAF0"/>
          </a:solidFill>
          <a:ln w="19050">
            <a:solidFill>
              <a:srgbClr val="468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68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8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30 minutes: import data, run analysis, generate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39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8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Structured questionnaire with role-adaptive logic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4780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8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Deck pre-populated with real stakeholder 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9169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8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XLSX tracker auto-seeded with open items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3558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8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Consensus and divergence visible before Day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8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Repeatable process for every engagement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Quality It Produces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is pre-populated with real stakeholder intelligence — not placeholder content.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54864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Deck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548640" cy="228600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25+ slides with AKT branding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807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Per-decision response distribution charts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1912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Consensus badges and risk signals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5753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Stakeholder verbatim quotes embedded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959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Governance recommendations pre-written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14173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417320"/>
            <a:ext cx="2651760" cy="54864"/>
          </a:xfrm>
          <a:prstGeom prst="rect">
            <a:avLst/>
          </a:prstGeom>
          <a:solidFill>
            <a:srgbClr val="468A4B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Points Tracker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20440" y="2011680"/>
            <a:ext cx="548640" cy="228600"/>
          </a:xfrm>
          <a:prstGeom prst="rect">
            <a:avLst/>
          </a:prstGeom>
          <a:solidFill>
            <a:srgbClr val="468A4B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2011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2044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5-sheet workbook auto-generated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2807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 items extracted from survey text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31912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Decision log with consensus scores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20440" y="35753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Risk register with severity ratings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20440" y="3959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Governance cadence calendar template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14173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417320"/>
            <a:ext cx="2651760" cy="54864"/>
          </a:xfrm>
          <a:prstGeom prst="rect">
            <a:avLst/>
          </a:prstGeom>
          <a:solidFill>
            <a:srgbClr val="00646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Facilitator Briefing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0" y="2011680"/>
            <a:ext cx="548640" cy="228600"/>
          </a:xfrm>
          <a:prstGeom prst="rect">
            <a:avLst/>
          </a:prstGeom>
          <a:solidFill>
            <a:srgbClr val="006462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2011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Per-decision intelligence summaries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2807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Role divergence heatmap data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31912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Facilitator playbooks per decision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35753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Adjusted agenda recommendations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3959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Print-ready for workshop day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2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554480"/>
          </a:xfrm>
          <a:prstGeom prst="rect">
            <a:avLst/>
          </a:prstGeom>
          <a:solidFill>
            <a:srgbClr val="3D30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stages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7560" y="1097280"/>
            <a:ext cx="2606040" cy="1554480"/>
          </a:xfrm>
          <a:prstGeom prst="rect">
            <a:avLst/>
          </a:prstGeom>
          <a:solidFill>
            <a:srgbClr val="3D3028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280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520440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Pre-workshop questions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surveys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606040" cy="1554480"/>
          </a:xfrm>
          <a:prstGeom prst="rect">
            <a:avLst/>
          </a:prstGeom>
          <a:solidFill>
            <a:srgbClr val="3D3028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280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decisions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pre-populated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2606040" cy="1554480"/>
          </a:xfrm>
          <a:prstGeom prst="rect">
            <a:avLst/>
          </a:prstGeom>
          <a:solidFill>
            <a:srgbClr val="3D302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718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4,900+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intelligence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2788920"/>
            <a:ext cx="2606040" cy="1554480"/>
          </a:xfrm>
          <a:prstGeom prst="rect">
            <a:avLst/>
          </a:prstGeom>
          <a:solidFill>
            <a:srgbClr val="3D3028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29718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520440" y="3703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generated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click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788920"/>
            <a:ext cx="2606040" cy="1554480"/>
          </a:xfrm>
          <a:prstGeom prst="rect">
            <a:avLst/>
          </a:prstGeom>
          <a:solidFill>
            <a:srgbClr val="3D3028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9718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400800" y="3703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time reduction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E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(est. 3 days → 30 min)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complete pipeline with real Nextera Energy demo data: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rgbClr val="F9A1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0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Questionnaire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6184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12 pre-filled Nextera respondents. See role-adaptive questions across 8 blocks. Export CSV.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46720" y="1399032"/>
            <a:ext cx="640080" cy="274320"/>
          </a:xfrm>
          <a:prstGeom prst="rect">
            <a:avLst/>
          </a:prstGeom>
          <a:solidFill>
            <a:srgbClr val="FEF0DB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0" y="1399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9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F9A1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0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into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2585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CSV into the Intelligence Engine. Watch it parse 12 responses across 33 questions.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2039112"/>
            <a:ext cx="640080" cy="274320"/>
          </a:xfrm>
          <a:prstGeom prst="rect">
            <a:avLst/>
          </a:prstGeom>
          <a:solidFill>
            <a:srgbClr val="FEF0D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20391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9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651760"/>
            <a:ext cx="411480" cy="411480"/>
          </a:xfrm>
          <a:prstGeom prst="ellipse">
            <a:avLst/>
          </a:prstGeom>
          <a:solidFill>
            <a:srgbClr val="F9A13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0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Analysis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28986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consensus scores, risk signals, ADKAR mapping, and role divergence for all 8 decisions.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0" y="2679192"/>
            <a:ext cx="640080" cy="274320"/>
          </a:xfrm>
          <a:prstGeom prst="rect">
            <a:avLst/>
          </a:prstGeom>
          <a:solidFill>
            <a:srgbClr val="FEF0DB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26791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9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411480" cy="411480"/>
          </a:xfrm>
          <a:prstGeom prst="ellipse">
            <a:avLst/>
          </a:prstGeom>
          <a:solidFill>
            <a:srgbClr val="F9A13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0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Artifacts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35387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'Generate All' — download the PPTX deck, XLSX tracker, and HTML briefing pack.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46720" y="3319272"/>
            <a:ext cx="640080" cy="274320"/>
          </a:xfrm>
          <a:prstGeom prst="rect">
            <a:avLst/>
          </a:prstGeom>
          <a:solidFill>
            <a:srgbClr val="FEF0DB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0" y="33192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9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3931920"/>
            <a:ext cx="411480" cy="411480"/>
          </a:xfrm>
          <a:prstGeom prst="ellipse">
            <a:avLst/>
          </a:prstGeom>
          <a:solidFill>
            <a:srgbClr val="F9A13A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4300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0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Outputs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43000" y="41788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pre-populated deck. Walk through decision slides with real data charts and facilitator notes.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46720" y="3959352"/>
            <a:ext cx="640080" cy="274320"/>
          </a:xfrm>
          <a:prstGeom prst="rect">
            <a:avLst/>
          </a:prstGeom>
          <a:solidFill>
            <a:srgbClr val="FEF0DB"/>
          </a:solidFill>
          <a:ln/>
        </p:spPr>
      </p:sp>
      <p:sp>
        <p:nvSpPr>
          <p:cNvPr id="34" name="Text 32"/>
          <p:cNvSpPr/>
          <p:nvPr/>
        </p:nvSpPr>
        <p:spPr>
          <a:xfrm>
            <a:off x="8046720" y="39593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9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FEF0DB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6451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0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demo time: ~7 minutes  |  Total real-world prep time: ~30 minutes per engagement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22960" cy="365760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1051560"/>
            <a:ext cx="6949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11430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with Nextera Energy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15087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pipeline on the live GMTP engagement. Validate outputs with AKT facilitation team. Capture feedback.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822960" cy="365760"/>
          </a:xfrm>
          <a:prstGeom prst="rect">
            <a:avLst/>
          </a:prstGeom>
          <a:solidFill>
            <a:srgbClr val="00646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317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54480" y="2286000"/>
            <a:ext cx="6949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37360" y="23774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 to All Foundation Workshops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7360" y="27432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Intelligence Engine modules for WS2 (Stakeholders), WS3 (Survey Design), WS4 (Platform). Connect Decision Workshops.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822960" cy="365760"/>
          </a:xfrm>
          <a:prstGeom prst="rect">
            <a:avLst/>
          </a:prstGeom>
          <a:solidFill>
            <a:srgbClr val="2D201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66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54480" y="3520440"/>
            <a:ext cx="6949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737360" y="36118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Productize for All CMX Clients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39776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as standard AKT delivery tool. Train consultants. Reduce per-engagement setup from days to minutes across the portfolio.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2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A1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akt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E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if every workshop came pre-loaded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FE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stakeholder intelligence?"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286000" cy="36576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it does.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CMX Intelligence Engine  |  AKT Global  | 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7320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0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live demo  |  Confidential — AKT Global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CMX Intelligence Engine — Senior Team Introduction</dc:title>
  <dc:subject>PptxGenJS Presentation</dc:subject>
  <dc:creator>AKT Global</dc:creator>
  <cp:lastModifiedBy>AKT Global</cp:lastModifiedBy>
  <cp:revision>1</cp:revision>
  <dcterms:created xsi:type="dcterms:W3CDTF">2026-02-23T22:09:54Z</dcterms:created>
  <dcterms:modified xsi:type="dcterms:W3CDTF">2026-02-23T22:09:54Z</dcterms:modified>
</cp:coreProperties>
</file>